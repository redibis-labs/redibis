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92400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SYNTHETIC EGYPTIAN PII GOLDEN DATASET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All 14 Tables at a Glance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001000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Class-diagram overview showing table names, business descriptions, and domain color coding only. Columns are intentionally omitted here and detailed on the following table-specific slides.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78631" y="1074018"/>
            <a:ext cx="1326952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 customer and identity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300038" y="1236538"/>
            <a:ext cx="2060972" cy="514350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8619" y="13008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telco_customer_profile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378619" y="14373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customer master profile for CRM, billing, support, consent, and KYC workflows.</a:t>
            </a:r>
            <a:endParaRPr lang="en-US" sz="450" dirty="0"/>
          </a:p>
        </p:txBody>
      </p:sp>
      <p:sp>
        <p:nvSpPr>
          <p:cNvPr id="10" name="Shape 7"/>
          <p:cNvSpPr/>
          <p:nvPr/>
        </p:nvSpPr>
        <p:spPr>
          <a:xfrm>
            <a:off x="300038" y="1808038"/>
            <a:ext cx="2060972" cy="514350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8619" y="18723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telco_kyc_identity_document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378619" y="20088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Identity-document attributes captured during SIM registration and customer due diligence.</a:t>
            </a:r>
            <a:endParaRPr lang="en-US" sz="450" dirty="0"/>
          </a:p>
        </p:txBody>
      </p:sp>
      <p:sp>
        <p:nvSpPr>
          <p:cNvPr id="13" name="Shape 10"/>
          <p:cNvSpPr/>
          <p:nvPr/>
        </p:nvSpPr>
        <p:spPr>
          <a:xfrm>
            <a:off x="300038" y="2379538"/>
            <a:ext cx="2060972" cy="514350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8619" y="24438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telco_subscriber_sim_registry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378619" y="25803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and historical SIM subscription lifecycle records with network identifiers.</a:t>
            </a:r>
            <a:endParaRPr lang="en-US" sz="450" dirty="0"/>
          </a:p>
        </p:txBody>
      </p:sp>
      <p:sp>
        <p:nvSpPr>
          <p:cNvPr id="16" name="Shape 13"/>
          <p:cNvSpPr/>
          <p:nvPr/>
        </p:nvSpPr>
        <p:spPr>
          <a:xfrm>
            <a:off x="300038" y="2951038"/>
            <a:ext cx="2060972" cy="514350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8619" y="30153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telco_cdr_event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378619" y="31518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call, SMS, and data-session event records for CDR-style PII testing.</a:t>
            </a:r>
            <a:endParaRPr lang="en-US" sz="450" dirty="0"/>
          </a:p>
        </p:txBody>
      </p:sp>
      <p:sp>
        <p:nvSpPr>
          <p:cNvPr id="19" name="Text 16"/>
          <p:cNvSpPr/>
          <p:nvPr/>
        </p:nvSpPr>
        <p:spPr>
          <a:xfrm>
            <a:off x="2639616" y="1074018"/>
            <a:ext cx="113407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 billing and assets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2461022" y="1236538"/>
            <a:ext cx="2060972" cy="514350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39603" y="13008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telco_billing_invoice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2539603" y="14373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Billing-account and invoice records for postpaid, prepaid hybrid, and fixed services.</a:t>
            </a:r>
            <a:endParaRPr lang="en-US" sz="450" dirty="0"/>
          </a:p>
        </p:txBody>
      </p:sp>
      <p:sp>
        <p:nvSpPr>
          <p:cNvPr id="23" name="Shape 20"/>
          <p:cNvSpPr/>
          <p:nvPr/>
        </p:nvSpPr>
        <p:spPr>
          <a:xfrm>
            <a:off x="2461022" y="1808038"/>
            <a:ext cx="2060972" cy="514350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39603" y="18723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telco_device_and_cpe_inventory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2539603" y="20088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Handset, router, ONT, eSIM, and CPE identifiers associated with customers.</a:t>
            </a:r>
            <a:endParaRPr lang="en-US" sz="450" dirty="0"/>
          </a:p>
        </p:txBody>
      </p:sp>
      <p:sp>
        <p:nvSpPr>
          <p:cNvPr id="26" name="Shape 23"/>
          <p:cNvSpPr/>
          <p:nvPr/>
        </p:nvSpPr>
        <p:spPr>
          <a:xfrm>
            <a:off x="2461022" y="2379538"/>
            <a:ext cx="2060972" cy="514350"/>
          </a:xfrm>
          <a:prstGeom prst="rect">
            <a:avLst/>
          </a:prstGeom>
          <a:solidFill>
            <a:srgbClr val="FCE7F3"/>
          </a:solidFill>
          <a:ln w="9144">
            <a:solidFill>
              <a:srgbClr val="DB27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39603" y="24438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support_ticket_free_text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2539603" y="25803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ticket and interaction log with structured fields and free-text PII risk.</a:t>
            </a:r>
            <a:endParaRPr lang="en-US" sz="450" dirty="0"/>
          </a:p>
        </p:txBody>
      </p:sp>
      <p:sp>
        <p:nvSpPr>
          <p:cNvPr id="29" name="Shape 26"/>
          <p:cNvSpPr/>
          <p:nvPr/>
        </p:nvSpPr>
        <p:spPr>
          <a:xfrm>
            <a:off x="2461022" y="2951038"/>
            <a:ext cx="2060972" cy="514350"/>
          </a:xfrm>
          <a:prstGeom prst="rect">
            <a:avLst/>
          </a:prstGeom>
          <a:solidFill>
            <a:srgbClr val="F3F4F6"/>
          </a:solidFill>
          <a:ln w="9144">
            <a:solidFill>
              <a:srgbClr val="6B728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39603" y="30153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sensitive_customer_risk_profile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2539603" y="31518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risk and eligibility attributes designed for special-category PII evaluation.</a:t>
            </a:r>
            <a:endParaRPr lang="en-US" sz="450" dirty="0"/>
          </a:p>
        </p:txBody>
      </p:sp>
      <p:sp>
        <p:nvSpPr>
          <p:cNvPr id="32" name="Text 29"/>
          <p:cNvSpPr/>
          <p:nvPr/>
        </p:nvSpPr>
        <p:spPr>
          <a:xfrm>
            <a:off x="4800600" y="1074018"/>
            <a:ext cx="128230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E-commerce and marketplace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4622006" y="1236538"/>
            <a:ext cx="2060972" cy="514350"/>
          </a:xfrm>
          <a:prstGeom prst="rect">
            <a:avLst/>
          </a:prstGeom>
          <a:solidFill>
            <a:srgbClr val="DCFCE7"/>
          </a:solidFill>
          <a:ln w="9144">
            <a:solidFill>
              <a:srgbClr val="16A3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0588" y="13008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eshop_customer_account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4700588" y="14373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account records for Egyptian e-commerce, marketplace, and digital retail.</a:t>
            </a:r>
            <a:endParaRPr lang="en-US" sz="450" dirty="0"/>
          </a:p>
        </p:txBody>
      </p:sp>
      <p:sp>
        <p:nvSpPr>
          <p:cNvPr id="36" name="Shape 33"/>
          <p:cNvSpPr/>
          <p:nvPr/>
        </p:nvSpPr>
        <p:spPr>
          <a:xfrm>
            <a:off x="4622006" y="1808038"/>
            <a:ext cx="2060972" cy="514350"/>
          </a:xfrm>
          <a:prstGeom prst="rect">
            <a:avLst/>
          </a:prstGeom>
          <a:solidFill>
            <a:srgbClr val="DCFCE7"/>
          </a:solidFill>
          <a:ln w="9144">
            <a:solidFill>
              <a:srgbClr val="16A3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00588" y="18723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eshop_shipping_address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4700588" y="20088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address book with Egyptian address, contact, and geolocation fields.</a:t>
            </a:r>
            <a:endParaRPr lang="en-US" sz="450" dirty="0"/>
          </a:p>
        </p:txBody>
      </p:sp>
      <p:sp>
        <p:nvSpPr>
          <p:cNvPr id="39" name="Shape 36"/>
          <p:cNvSpPr/>
          <p:nvPr/>
        </p:nvSpPr>
        <p:spPr>
          <a:xfrm>
            <a:off x="4622006" y="2379538"/>
            <a:ext cx="2060972" cy="514350"/>
          </a:xfrm>
          <a:prstGeom prst="rect">
            <a:avLst/>
          </a:prstGeom>
          <a:solidFill>
            <a:srgbClr val="DCFCE7"/>
          </a:solidFill>
          <a:ln w="9144">
            <a:solidFill>
              <a:srgbClr val="16A34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00588" y="24438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eshop_order_header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4700588" y="25803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Order-level transaction header for customer, merchant, delivery, and payment links.</a:t>
            </a:r>
            <a:endParaRPr lang="en-US" sz="450" dirty="0"/>
          </a:p>
        </p:txBody>
      </p:sp>
      <p:sp>
        <p:nvSpPr>
          <p:cNvPr id="42" name="Shape 39"/>
          <p:cNvSpPr/>
          <p:nvPr/>
        </p:nvSpPr>
        <p:spPr>
          <a:xfrm>
            <a:off x="4622006" y="2951038"/>
            <a:ext cx="2060972" cy="514350"/>
          </a:xfrm>
          <a:prstGeom prst="rect">
            <a:avLst/>
          </a:prstGeom>
          <a:solidFill>
            <a:srgbClr val="DCFCE7"/>
          </a:solidFill>
          <a:ln w="9144">
            <a:solidFill>
              <a:srgbClr val="16A34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00588" y="30153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merchant_seller_registry</a:t>
            </a:r>
            <a:endParaRPr lang="en-US" sz="550" dirty="0"/>
          </a:p>
        </p:txBody>
      </p:sp>
      <p:sp>
        <p:nvSpPr>
          <p:cNvPr id="44" name="Text 41"/>
          <p:cNvSpPr/>
          <p:nvPr/>
        </p:nvSpPr>
        <p:spPr>
          <a:xfrm>
            <a:off x="4700588" y="31518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merchant and seller registry with business registration and payout details.</a:t>
            </a:r>
            <a:endParaRPr lang="en-US" sz="450" dirty="0"/>
          </a:p>
        </p:txBody>
      </p:sp>
      <p:sp>
        <p:nvSpPr>
          <p:cNvPr id="45" name="Text 42"/>
          <p:cNvSpPr/>
          <p:nvPr/>
        </p:nvSpPr>
        <p:spPr>
          <a:xfrm>
            <a:off x="6961584" y="1074018"/>
            <a:ext cx="92154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A580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Fintech payment rails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6782991" y="1236538"/>
            <a:ext cx="2060972" cy="514350"/>
          </a:xfrm>
          <a:prstGeom prst="rect">
            <a:avLst/>
          </a:prstGeom>
          <a:solidFill>
            <a:srgbClr val="FFEDD5"/>
          </a:solidFill>
          <a:ln w="9144">
            <a:solidFill>
              <a:srgbClr val="EA580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861572" y="13008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fintech_mobile_wallet_account</a:t>
            </a:r>
            <a:endParaRPr lang="en-US" sz="550" dirty="0"/>
          </a:p>
        </p:txBody>
      </p:sp>
      <p:sp>
        <p:nvSpPr>
          <p:cNvPr id="48" name="Text 45"/>
          <p:cNvSpPr/>
          <p:nvPr/>
        </p:nvSpPr>
        <p:spPr>
          <a:xfrm>
            <a:off x="6861572" y="14373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 mobile wallet account records with KYC, bank linkage, device, and SIM linkage.</a:t>
            </a:r>
            <a:endParaRPr lang="en-US" sz="450" dirty="0"/>
          </a:p>
        </p:txBody>
      </p:sp>
      <p:sp>
        <p:nvSpPr>
          <p:cNvPr id="49" name="Shape 46"/>
          <p:cNvSpPr/>
          <p:nvPr/>
        </p:nvSpPr>
        <p:spPr>
          <a:xfrm>
            <a:off x="6782991" y="1808038"/>
            <a:ext cx="2060972" cy="514350"/>
          </a:xfrm>
          <a:prstGeom prst="rect">
            <a:avLst/>
          </a:prstGeom>
          <a:solidFill>
            <a:srgbClr val="FFEDD5"/>
          </a:solidFill>
          <a:ln w="9144">
            <a:solidFill>
              <a:srgbClr val="EA580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861572" y="1872332"/>
            <a:ext cx="1910953" cy="9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fintech_payment_transaction</a:t>
            </a:r>
            <a:endParaRPr lang="en-US" sz="550" dirty="0"/>
          </a:p>
        </p:txBody>
      </p:sp>
      <p:sp>
        <p:nvSpPr>
          <p:cNvPr id="51" name="Text 48"/>
          <p:cNvSpPr/>
          <p:nvPr/>
        </p:nvSpPr>
        <p:spPr>
          <a:xfrm>
            <a:off x="6861572" y="2008817"/>
            <a:ext cx="191095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Wallet, card, IP, device, merchant, and channel fields for payment transaction testing.</a:t>
            </a:r>
            <a:endParaRPr lang="en-US" sz="450" dirty="0"/>
          </a:p>
        </p:txBody>
      </p:sp>
      <p:sp>
        <p:nvSpPr>
          <p:cNvPr id="52" name="Shape 49"/>
          <p:cNvSpPr/>
          <p:nvPr/>
        </p:nvSpPr>
        <p:spPr>
          <a:xfrm>
            <a:off x="300038" y="4603031"/>
            <a:ext cx="3109764" cy="371475"/>
          </a:xfrm>
          <a:prstGeom prst="rect">
            <a:avLst/>
          </a:prstGeom>
          <a:solidFill>
            <a:srgbClr val="FFFBEB"/>
          </a:solidFill>
          <a:ln w="9144">
            <a:solidFill>
              <a:srgbClr val="FCD34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71475" y="4660181"/>
            <a:ext cx="2966889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 relationship chain</a:t>
            </a:r>
            <a:endParaRPr lang="en-US" sz="500" dirty="0"/>
          </a:p>
        </p:txBody>
      </p:sp>
      <p:sp>
        <p:nvSpPr>
          <p:cNvPr id="54" name="Text 51"/>
          <p:cNvSpPr/>
          <p:nvPr/>
        </p:nvSpPr>
        <p:spPr>
          <a:xfrm>
            <a:off x="371475" y="4776267"/>
            <a:ext cx="296688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profile → KYC documents → SIM registry → CDR events, with billing invoices and device/CPE inventory linked back to customer or subscription identifiers.</a:t>
            </a:r>
            <a:endParaRPr lang="en-US" sz="450" dirty="0"/>
          </a:p>
        </p:txBody>
      </p:sp>
      <p:sp>
        <p:nvSpPr>
          <p:cNvPr id="55" name="Shape 52"/>
          <p:cNvSpPr/>
          <p:nvPr/>
        </p:nvSpPr>
        <p:spPr>
          <a:xfrm>
            <a:off x="3495526" y="4603031"/>
            <a:ext cx="2870560" cy="371475"/>
          </a:xfrm>
          <a:prstGeom prst="rect">
            <a:avLst/>
          </a:prstGeom>
          <a:solidFill>
            <a:srgbClr val="FFFBEB"/>
          </a:solidFill>
          <a:ln w="9144">
            <a:solidFill>
              <a:srgbClr val="FCD34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566964" y="4660181"/>
            <a:ext cx="2727685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Commerce relationship chain</a:t>
            </a:r>
            <a:endParaRPr lang="en-US" sz="500" dirty="0"/>
          </a:p>
        </p:txBody>
      </p:sp>
      <p:sp>
        <p:nvSpPr>
          <p:cNvPr id="57" name="Text 54"/>
          <p:cNvSpPr/>
          <p:nvPr/>
        </p:nvSpPr>
        <p:spPr>
          <a:xfrm>
            <a:off x="3566964" y="4776267"/>
            <a:ext cx="272768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account → shipping address and order header; merchant seller registry links to order headers through seller and marketplace identifiers.</a:t>
            </a:r>
            <a:endParaRPr lang="en-US" sz="450" dirty="0"/>
          </a:p>
        </p:txBody>
      </p:sp>
      <p:sp>
        <p:nvSpPr>
          <p:cNvPr id="58" name="Shape 55"/>
          <p:cNvSpPr/>
          <p:nvPr/>
        </p:nvSpPr>
        <p:spPr>
          <a:xfrm>
            <a:off x="6451811" y="4603031"/>
            <a:ext cx="2392152" cy="371475"/>
          </a:xfrm>
          <a:prstGeom prst="rect">
            <a:avLst/>
          </a:prstGeom>
          <a:solidFill>
            <a:srgbClr val="FFFBEB"/>
          </a:solidFill>
          <a:ln w="9144">
            <a:solidFill>
              <a:srgbClr val="FCD34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523248" y="4660181"/>
            <a:ext cx="2249277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Cross-domain relationships</a:t>
            </a:r>
            <a:endParaRPr lang="en-US" sz="500" dirty="0"/>
          </a:p>
        </p:txBody>
      </p:sp>
      <p:sp>
        <p:nvSpPr>
          <p:cNvPr id="60" name="Text 57"/>
          <p:cNvSpPr/>
          <p:nvPr/>
        </p:nvSpPr>
        <p:spPr>
          <a:xfrm>
            <a:off x="6523248" y="4776267"/>
            <a:ext cx="22492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4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and wallets connect to payment transactions; support and risk profiles can attach to telecom or e-commerce customers.</a:t>
            </a:r>
            <a:endParaRPr lang="en-US" sz="450" dirty="0"/>
          </a:p>
        </p:txBody>
      </p:sp>
      <p:sp>
        <p:nvSpPr>
          <p:cNvPr id="61" name="Text 58"/>
          <p:cNvSpPr/>
          <p:nvPr/>
        </p:nvSpPr>
        <p:spPr>
          <a:xfrm>
            <a:off x="300038" y="5038799"/>
            <a:ext cx="3400425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colors: Telecom blue, E-commerce green, Fintech orange, Support pink, Cross-domain gray.</a:t>
            </a:r>
            <a:endParaRPr lang="en-US" sz="500" dirty="0"/>
          </a:p>
        </p:txBody>
      </p:sp>
      <p:sp>
        <p:nvSpPr>
          <p:cNvPr id="62" name="Text 59"/>
          <p:cNvSpPr/>
          <p:nvPr/>
        </p:nvSpPr>
        <p:spPr>
          <a:xfrm>
            <a:off x="7811691" y="5038799"/>
            <a:ext cx="103227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columns on overview slide.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telco_customer_profile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543925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Telecom customer master profile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Core customer profile used by CRM, billing, support, marketing consent, and KYC workflows for Egyptian telecom operators. Granularity: one row per natural 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 or business customer account holder.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487561" cy="164306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48756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844748" y="1009724"/>
            <a:ext cx="576858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4748" y="1009724"/>
            <a:ext cx="57685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11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478756" y="1009724"/>
            <a:ext cx="325041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78756" y="1009724"/>
            <a:ext cx="32504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9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1860947" y="1009724"/>
            <a:ext cx="508992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60947" y="1009724"/>
            <a:ext cx="508992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7615"/>
            <a:ext cx="1280517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7615"/>
            <a:ext cx="1280517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7615"/>
            <a:ext cx="110976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7615"/>
            <a:ext cx="110976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761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761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761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761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7615"/>
            <a:ext cx="213419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7615"/>
            <a:ext cx="213419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7615"/>
            <a:ext cx="3158626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7615"/>
            <a:ext cx="3158626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420685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56404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450" dirty="0"/>
          </a:p>
        </p:txBody>
      </p:sp>
      <p:sp>
        <p:nvSpPr>
          <p:cNvPr id="28" name="Shape 25"/>
          <p:cNvSpPr/>
          <p:nvPr/>
        </p:nvSpPr>
        <p:spPr>
          <a:xfrm>
            <a:off x="1584127" y="1420685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47474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30" name="Text 27"/>
          <p:cNvSpPr/>
          <p:nvPr/>
        </p:nvSpPr>
        <p:spPr>
          <a:xfrm>
            <a:off x="1626989" y="1530576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31" name="Shape 28"/>
          <p:cNvSpPr/>
          <p:nvPr/>
        </p:nvSpPr>
        <p:spPr>
          <a:xfrm>
            <a:off x="2693891" y="1420685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42068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33" name="Shape 30"/>
          <p:cNvSpPr/>
          <p:nvPr/>
        </p:nvSpPr>
        <p:spPr>
          <a:xfrm>
            <a:off x="3120730" y="1420685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42068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50" dirty="0"/>
          </a:p>
        </p:txBody>
      </p:sp>
      <p:sp>
        <p:nvSpPr>
          <p:cNvPr id="35" name="Shape 32"/>
          <p:cNvSpPr/>
          <p:nvPr/>
        </p:nvSpPr>
        <p:spPr>
          <a:xfrm>
            <a:off x="3547570" y="1420685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49260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49260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38" name="Text 35"/>
          <p:cNvSpPr/>
          <p:nvPr/>
        </p:nvSpPr>
        <p:spPr>
          <a:xfrm>
            <a:off x="3733307" y="1447474"/>
            <a:ext cx="455414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CUSTOMER_ID</a:t>
            </a:r>
            <a:endParaRPr lang="en-US" sz="450" dirty="0"/>
          </a:p>
        </p:txBody>
      </p:sp>
      <p:sp>
        <p:nvSpPr>
          <p:cNvPr id="39" name="Text 36"/>
          <p:cNvSpPr/>
          <p:nvPr/>
        </p:nvSpPr>
        <p:spPr>
          <a:xfrm>
            <a:off x="4206580" y="1447474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40" name="Shape 37"/>
          <p:cNvSpPr/>
          <p:nvPr/>
        </p:nvSpPr>
        <p:spPr>
          <a:xfrm>
            <a:off x="5681765" y="1420685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81765" y="1420685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customer key used across CRM and billing.</a:t>
            </a:r>
            <a:endParaRPr lang="en-US" sz="450" dirty="0"/>
          </a:p>
        </p:txBody>
      </p:sp>
      <p:sp>
        <p:nvSpPr>
          <p:cNvPr id="42" name="Shape 39"/>
          <p:cNvSpPr/>
          <p:nvPr/>
        </p:nvSpPr>
        <p:spPr>
          <a:xfrm>
            <a:off x="303609" y="1633324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6472" y="1669042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full_name_en</a:t>
            </a:r>
            <a:endParaRPr lang="en-US" sz="450" dirty="0"/>
          </a:p>
        </p:txBody>
      </p:sp>
      <p:sp>
        <p:nvSpPr>
          <p:cNvPr id="44" name="Shape 41"/>
          <p:cNvSpPr/>
          <p:nvPr/>
        </p:nvSpPr>
        <p:spPr>
          <a:xfrm>
            <a:off x="1584127" y="1633324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26989" y="1656541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46" name="Text 43"/>
          <p:cNvSpPr/>
          <p:nvPr/>
        </p:nvSpPr>
        <p:spPr>
          <a:xfrm>
            <a:off x="1626989" y="1739643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VARCHAR(160)</a:t>
            </a:r>
            <a:endParaRPr lang="en-US" sz="450" dirty="0"/>
          </a:p>
        </p:txBody>
      </p:sp>
      <p:sp>
        <p:nvSpPr>
          <p:cNvPr id="47" name="Shape 44"/>
          <p:cNvSpPr/>
          <p:nvPr/>
        </p:nvSpPr>
        <p:spPr>
          <a:xfrm>
            <a:off x="2693891" y="1629752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693891" y="1629752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49" name="Shape 46"/>
          <p:cNvSpPr/>
          <p:nvPr/>
        </p:nvSpPr>
        <p:spPr>
          <a:xfrm>
            <a:off x="3547570" y="1629752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594004" y="1658327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1" name="Text 48"/>
          <p:cNvSpPr/>
          <p:nvPr/>
        </p:nvSpPr>
        <p:spPr>
          <a:xfrm>
            <a:off x="3594004" y="1658327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2" name="Text 49"/>
          <p:cNvSpPr/>
          <p:nvPr/>
        </p:nvSpPr>
        <p:spPr>
          <a:xfrm>
            <a:off x="3736879" y="1656541"/>
            <a:ext cx="25717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PERSON</a:t>
            </a:r>
            <a:endParaRPr lang="en-US" sz="450" dirty="0"/>
          </a:p>
        </p:txBody>
      </p:sp>
      <p:sp>
        <p:nvSpPr>
          <p:cNvPr id="53" name="Text 50"/>
          <p:cNvSpPr/>
          <p:nvPr/>
        </p:nvSpPr>
        <p:spPr>
          <a:xfrm>
            <a:off x="4011913" y="1656541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54" name="Shape 51"/>
          <p:cNvSpPr/>
          <p:nvPr/>
        </p:nvSpPr>
        <p:spPr>
          <a:xfrm>
            <a:off x="5681765" y="1629752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81765" y="1629752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name written in Latin characters.</a:t>
            </a:r>
            <a:endParaRPr lang="en-US" sz="450" dirty="0"/>
          </a:p>
        </p:txBody>
      </p:sp>
      <p:sp>
        <p:nvSpPr>
          <p:cNvPr id="56" name="Shape 53"/>
          <p:cNvSpPr/>
          <p:nvPr/>
        </p:nvSpPr>
        <p:spPr>
          <a:xfrm>
            <a:off x="303609" y="1845962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46472" y="1881680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full_name_ar</a:t>
            </a:r>
            <a:endParaRPr lang="en-US" sz="450" dirty="0"/>
          </a:p>
        </p:txBody>
      </p:sp>
      <p:sp>
        <p:nvSpPr>
          <p:cNvPr id="58" name="Shape 55"/>
          <p:cNvSpPr/>
          <p:nvPr/>
        </p:nvSpPr>
        <p:spPr>
          <a:xfrm>
            <a:off x="1584127" y="1845962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626989" y="1869179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60" name="Text 57"/>
          <p:cNvSpPr/>
          <p:nvPr/>
        </p:nvSpPr>
        <p:spPr>
          <a:xfrm>
            <a:off x="1626989" y="1952281"/>
            <a:ext cx="4902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NVARCHAR(160)</a:t>
            </a:r>
            <a:endParaRPr lang="en-US" sz="450" dirty="0"/>
          </a:p>
        </p:txBody>
      </p:sp>
      <p:sp>
        <p:nvSpPr>
          <p:cNvPr id="61" name="Shape 58"/>
          <p:cNvSpPr/>
          <p:nvPr/>
        </p:nvSpPr>
        <p:spPr>
          <a:xfrm>
            <a:off x="2693891" y="1842390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693891" y="1842390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63" name="Shape 60"/>
          <p:cNvSpPr/>
          <p:nvPr/>
        </p:nvSpPr>
        <p:spPr>
          <a:xfrm>
            <a:off x="3547570" y="1842390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594004" y="1870965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5" name="Text 62"/>
          <p:cNvSpPr/>
          <p:nvPr/>
        </p:nvSpPr>
        <p:spPr>
          <a:xfrm>
            <a:off x="3594004" y="1870965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6" name="Text 63"/>
          <p:cNvSpPr/>
          <p:nvPr/>
        </p:nvSpPr>
        <p:spPr>
          <a:xfrm>
            <a:off x="3736879" y="1869179"/>
            <a:ext cx="25717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PERSON</a:t>
            </a:r>
            <a:endParaRPr lang="en-US" sz="450" dirty="0"/>
          </a:p>
        </p:txBody>
      </p:sp>
      <p:sp>
        <p:nvSpPr>
          <p:cNvPr id="67" name="Text 64"/>
          <p:cNvSpPr/>
          <p:nvPr/>
        </p:nvSpPr>
        <p:spPr>
          <a:xfrm>
            <a:off x="4011913" y="1869179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68" name="Shape 65"/>
          <p:cNvSpPr/>
          <p:nvPr/>
        </p:nvSpPr>
        <p:spPr>
          <a:xfrm>
            <a:off x="5681765" y="1842390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81765" y="1842390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name written in Arabic characters.</a:t>
            </a:r>
            <a:endParaRPr lang="en-US" sz="450" dirty="0"/>
          </a:p>
        </p:txBody>
      </p:sp>
      <p:sp>
        <p:nvSpPr>
          <p:cNvPr id="70" name="Shape 67"/>
          <p:cNvSpPr/>
          <p:nvPr/>
        </p:nvSpPr>
        <p:spPr>
          <a:xfrm>
            <a:off x="303609" y="2058600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46472" y="2094319"/>
            <a:ext cx="5279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primary_mobile</a:t>
            </a:r>
            <a:endParaRPr lang="en-US" sz="450" dirty="0"/>
          </a:p>
        </p:txBody>
      </p:sp>
      <p:sp>
        <p:nvSpPr>
          <p:cNvPr id="72" name="Shape 69"/>
          <p:cNvSpPr/>
          <p:nvPr/>
        </p:nvSpPr>
        <p:spPr>
          <a:xfrm>
            <a:off x="1584127" y="2058600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626989" y="2081817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74" name="Text 71"/>
          <p:cNvSpPr/>
          <p:nvPr/>
        </p:nvSpPr>
        <p:spPr>
          <a:xfrm>
            <a:off x="1626989" y="2164919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50" dirty="0"/>
          </a:p>
        </p:txBody>
      </p:sp>
      <p:sp>
        <p:nvSpPr>
          <p:cNvPr id="75" name="Shape 72"/>
          <p:cNvSpPr/>
          <p:nvPr/>
        </p:nvSpPr>
        <p:spPr>
          <a:xfrm>
            <a:off x="2693891" y="2055028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693891" y="2055028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77" name="Shape 74"/>
          <p:cNvSpPr/>
          <p:nvPr/>
        </p:nvSpPr>
        <p:spPr>
          <a:xfrm>
            <a:off x="3547570" y="2055028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594004" y="2083603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9" name="Text 76"/>
          <p:cNvSpPr/>
          <p:nvPr/>
        </p:nvSpPr>
        <p:spPr>
          <a:xfrm>
            <a:off x="3594004" y="2083603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80" name="Text 77"/>
          <p:cNvSpPr/>
          <p:nvPr/>
        </p:nvSpPr>
        <p:spPr>
          <a:xfrm>
            <a:off x="3736879" y="2081817"/>
            <a:ext cx="60007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EGYPTIAN_MOBILE</a:t>
            </a:r>
            <a:endParaRPr lang="en-US" sz="450" dirty="0"/>
          </a:p>
        </p:txBody>
      </p:sp>
      <p:sp>
        <p:nvSpPr>
          <p:cNvPr id="81" name="Text 78"/>
          <p:cNvSpPr/>
          <p:nvPr/>
        </p:nvSpPr>
        <p:spPr>
          <a:xfrm>
            <a:off x="4354813" y="2081817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82" name="Shape 79"/>
          <p:cNvSpPr/>
          <p:nvPr/>
        </p:nvSpPr>
        <p:spPr>
          <a:xfrm>
            <a:off x="5681765" y="2055028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681765" y="2055028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contact number, normally normalized to E.164.</a:t>
            </a:r>
            <a:endParaRPr lang="en-US" sz="450" dirty="0"/>
          </a:p>
        </p:txBody>
      </p:sp>
      <p:sp>
        <p:nvSpPr>
          <p:cNvPr id="84" name="Shape 81"/>
          <p:cNvSpPr/>
          <p:nvPr/>
        </p:nvSpPr>
        <p:spPr>
          <a:xfrm>
            <a:off x="303609" y="2271238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46472" y="2306957"/>
            <a:ext cx="56569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alternate_phone</a:t>
            </a:r>
            <a:endParaRPr lang="en-US" sz="450" dirty="0"/>
          </a:p>
        </p:txBody>
      </p:sp>
      <p:sp>
        <p:nvSpPr>
          <p:cNvPr id="86" name="Shape 83"/>
          <p:cNvSpPr/>
          <p:nvPr/>
        </p:nvSpPr>
        <p:spPr>
          <a:xfrm>
            <a:off x="1584127" y="2271238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626989" y="2294455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88" name="Text 85"/>
          <p:cNvSpPr/>
          <p:nvPr/>
        </p:nvSpPr>
        <p:spPr>
          <a:xfrm>
            <a:off x="1626989" y="2377557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50" dirty="0"/>
          </a:p>
        </p:txBody>
      </p:sp>
      <p:sp>
        <p:nvSpPr>
          <p:cNvPr id="89" name="Shape 86"/>
          <p:cNvSpPr/>
          <p:nvPr/>
        </p:nvSpPr>
        <p:spPr>
          <a:xfrm>
            <a:off x="2693891" y="2267666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693891" y="2267666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91" name="Shape 88"/>
          <p:cNvSpPr/>
          <p:nvPr/>
        </p:nvSpPr>
        <p:spPr>
          <a:xfrm>
            <a:off x="3547570" y="2267666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594004" y="2296241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3" name="Text 90"/>
          <p:cNvSpPr/>
          <p:nvPr/>
        </p:nvSpPr>
        <p:spPr>
          <a:xfrm>
            <a:off x="3594004" y="2296241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4" name="Text 91"/>
          <p:cNvSpPr/>
          <p:nvPr/>
        </p:nvSpPr>
        <p:spPr>
          <a:xfrm>
            <a:off x="3736879" y="2294455"/>
            <a:ext cx="526852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PHONE_NUMBER</a:t>
            </a:r>
            <a:endParaRPr lang="en-US" sz="450" dirty="0"/>
          </a:p>
        </p:txBody>
      </p:sp>
      <p:sp>
        <p:nvSpPr>
          <p:cNvPr id="95" name="Text 92"/>
          <p:cNvSpPr/>
          <p:nvPr/>
        </p:nvSpPr>
        <p:spPr>
          <a:xfrm>
            <a:off x="4281590" y="2294455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96" name="Shape 93"/>
          <p:cNvSpPr/>
          <p:nvPr/>
        </p:nvSpPr>
        <p:spPr>
          <a:xfrm>
            <a:off x="5681765" y="2267666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681765" y="2267666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mobile or landline number.</a:t>
            </a:r>
            <a:endParaRPr lang="en-US" sz="450" dirty="0"/>
          </a:p>
        </p:txBody>
      </p:sp>
      <p:sp>
        <p:nvSpPr>
          <p:cNvPr id="98" name="Shape 95"/>
          <p:cNvSpPr/>
          <p:nvPr/>
        </p:nvSpPr>
        <p:spPr>
          <a:xfrm>
            <a:off x="303609" y="2483876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46472" y="2519595"/>
            <a:ext cx="4902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email_address</a:t>
            </a:r>
            <a:endParaRPr lang="en-US" sz="450" dirty="0"/>
          </a:p>
        </p:txBody>
      </p:sp>
      <p:sp>
        <p:nvSpPr>
          <p:cNvPr id="100" name="Shape 97"/>
          <p:cNvSpPr/>
          <p:nvPr/>
        </p:nvSpPr>
        <p:spPr>
          <a:xfrm>
            <a:off x="1584127" y="2483876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626989" y="2507093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02" name="Text 99"/>
          <p:cNvSpPr/>
          <p:nvPr/>
        </p:nvSpPr>
        <p:spPr>
          <a:xfrm>
            <a:off x="1626989" y="2590195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VARCHAR(254)</a:t>
            </a:r>
            <a:endParaRPr lang="en-US" sz="450" dirty="0"/>
          </a:p>
        </p:txBody>
      </p:sp>
      <p:sp>
        <p:nvSpPr>
          <p:cNvPr id="103" name="Shape 100"/>
          <p:cNvSpPr/>
          <p:nvPr/>
        </p:nvSpPr>
        <p:spPr>
          <a:xfrm>
            <a:off x="2693891" y="2480304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2693891" y="2480304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05" name="Shape 102"/>
          <p:cNvSpPr/>
          <p:nvPr/>
        </p:nvSpPr>
        <p:spPr>
          <a:xfrm>
            <a:off x="3547570" y="2480304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594004" y="2508879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7" name="Text 104"/>
          <p:cNvSpPr/>
          <p:nvPr/>
        </p:nvSpPr>
        <p:spPr>
          <a:xfrm>
            <a:off x="3594004" y="2508879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8" name="Text 105"/>
          <p:cNvSpPr/>
          <p:nvPr/>
        </p:nvSpPr>
        <p:spPr>
          <a:xfrm>
            <a:off x="3736879" y="2507093"/>
            <a:ext cx="526852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EMAIL_ADDRESS</a:t>
            </a:r>
            <a:endParaRPr lang="en-US" sz="450" dirty="0"/>
          </a:p>
        </p:txBody>
      </p:sp>
      <p:sp>
        <p:nvSpPr>
          <p:cNvPr id="109" name="Text 106"/>
          <p:cNvSpPr/>
          <p:nvPr/>
        </p:nvSpPr>
        <p:spPr>
          <a:xfrm>
            <a:off x="4281590" y="2507093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110" name="Shape 107"/>
          <p:cNvSpPr/>
          <p:nvPr/>
        </p:nvSpPr>
        <p:spPr>
          <a:xfrm>
            <a:off x="5681765" y="2480304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681765" y="2480304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email used for notifications and account recovery.</a:t>
            </a:r>
            <a:endParaRPr lang="en-US" sz="450" dirty="0"/>
          </a:p>
        </p:txBody>
      </p:sp>
      <p:sp>
        <p:nvSpPr>
          <p:cNvPr id="112" name="Shape 109"/>
          <p:cNvSpPr/>
          <p:nvPr/>
        </p:nvSpPr>
        <p:spPr>
          <a:xfrm>
            <a:off x="303609" y="2696514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46472" y="2732233"/>
            <a:ext cx="4902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date_of_birth</a:t>
            </a:r>
            <a:endParaRPr lang="en-US" sz="450" dirty="0"/>
          </a:p>
        </p:txBody>
      </p:sp>
      <p:sp>
        <p:nvSpPr>
          <p:cNvPr id="114" name="Shape 111"/>
          <p:cNvSpPr/>
          <p:nvPr/>
        </p:nvSpPr>
        <p:spPr>
          <a:xfrm>
            <a:off x="1584127" y="2696514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1626989" y="2719732"/>
            <a:ext cx="13394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450" dirty="0"/>
          </a:p>
        </p:txBody>
      </p:sp>
      <p:sp>
        <p:nvSpPr>
          <p:cNvPr id="116" name="Text 113"/>
          <p:cNvSpPr/>
          <p:nvPr/>
        </p:nvSpPr>
        <p:spPr>
          <a:xfrm>
            <a:off x="1626989" y="2802834"/>
            <a:ext cx="15085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450" dirty="0"/>
          </a:p>
        </p:txBody>
      </p:sp>
      <p:sp>
        <p:nvSpPr>
          <p:cNvPr id="117" name="Shape 114"/>
          <p:cNvSpPr/>
          <p:nvPr/>
        </p:nvSpPr>
        <p:spPr>
          <a:xfrm>
            <a:off x="2693891" y="2692943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2693891" y="2692943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19" name="Shape 116"/>
          <p:cNvSpPr/>
          <p:nvPr/>
        </p:nvSpPr>
        <p:spPr>
          <a:xfrm>
            <a:off x="3547570" y="2692943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3594004" y="2721518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1" name="Text 118"/>
          <p:cNvSpPr/>
          <p:nvPr/>
        </p:nvSpPr>
        <p:spPr>
          <a:xfrm>
            <a:off x="3594004" y="2721518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2" name="Text 119"/>
          <p:cNvSpPr/>
          <p:nvPr/>
        </p:nvSpPr>
        <p:spPr>
          <a:xfrm>
            <a:off x="3736879" y="2719732"/>
            <a:ext cx="49827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DATE_OF_BIRTH</a:t>
            </a:r>
            <a:endParaRPr lang="en-US" sz="450" dirty="0"/>
          </a:p>
        </p:txBody>
      </p:sp>
      <p:sp>
        <p:nvSpPr>
          <p:cNvPr id="123" name="Text 120"/>
          <p:cNvSpPr/>
          <p:nvPr/>
        </p:nvSpPr>
        <p:spPr>
          <a:xfrm>
            <a:off x="4253015" y="2719732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124" name="Shape 121"/>
          <p:cNvSpPr/>
          <p:nvPr/>
        </p:nvSpPr>
        <p:spPr>
          <a:xfrm>
            <a:off x="5681765" y="2692943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5681765" y="2692943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birth date.</a:t>
            </a:r>
            <a:endParaRPr lang="en-US" sz="450" dirty="0"/>
          </a:p>
        </p:txBody>
      </p:sp>
      <p:sp>
        <p:nvSpPr>
          <p:cNvPr id="126" name="Shape 123"/>
          <p:cNvSpPr/>
          <p:nvPr/>
        </p:nvSpPr>
        <p:spPr>
          <a:xfrm>
            <a:off x="303609" y="2909153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346472" y="2944871"/>
            <a:ext cx="22628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</a:t>
            </a:r>
            <a:endParaRPr lang="en-US" sz="450" dirty="0"/>
          </a:p>
        </p:txBody>
      </p:sp>
      <p:sp>
        <p:nvSpPr>
          <p:cNvPr id="128" name="Shape 125"/>
          <p:cNvSpPr/>
          <p:nvPr/>
        </p:nvSpPr>
        <p:spPr>
          <a:xfrm>
            <a:off x="1584127" y="2909153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626989" y="2932370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30" name="Text 127"/>
          <p:cNvSpPr/>
          <p:nvPr/>
        </p:nvSpPr>
        <p:spPr>
          <a:xfrm>
            <a:off x="1626989" y="3015472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50" dirty="0"/>
          </a:p>
        </p:txBody>
      </p:sp>
      <p:sp>
        <p:nvSpPr>
          <p:cNvPr id="131" name="Shape 128"/>
          <p:cNvSpPr/>
          <p:nvPr/>
        </p:nvSpPr>
        <p:spPr>
          <a:xfrm>
            <a:off x="2693891" y="2905581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2693891" y="2905581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33" name="Shape 130"/>
          <p:cNvSpPr/>
          <p:nvPr/>
        </p:nvSpPr>
        <p:spPr>
          <a:xfrm>
            <a:off x="3547570" y="2905581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3594004" y="2934156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5" name="Text 132"/>
          <p:cNvSpPr/>
          <p:nvPr/>
        </p:nvSpPr>
        <p:spPr>
          <a:xfrm>
            <a:off x="3594004" y="2934156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6" name="Text 133"/>
          <p:cNvSpPr/>
          <p:nvPr/>
        </p:nvSpPr>
        <p:spPr>
          <a:xfrm>
            <a:off x="3736879" y="2932370"/>
            <a:ext cx="63400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GENDER_INDICATOR</a:t>
            </a:r>
            <a:endParaRPr lang="en-US" sz="450" dirty="0"/>
          </a:p>
        </p:txBody>
      </p:sp>
      <p:sp>
        <p:nvSpPr>
          <p:cNvPr id="137" name="Text 134"/>
          <p:cNvSpPr/>
          <p:nvPr/>
        </p:nvSpPr>
        <p:spPr>
          <a:xfrm>
            <a:off x="4388746" y="2932370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138" name="Shape 135"/>
          <p:cNvSpPr/>
          <p:nvPr/>
        </p:nvSpPr>
        <p:spPr>
          <a:xfrm>
            <a:off x="5681765" y="2905581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5681765" y="2905581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gender as collected in CRM/KYC.</a:t>
            </a:r>
            <a:endParaRPr lang="en-US" sz="450" dirty="0"/>
          </a:p>
        </p:txBody>
      </p:sp>
      <p:sp>
        <p:nvSpPr>
          <p:cNvPr id="140" name="Shape 137"/>
          <p:cNvSpPr/>
          <p:nvPr/>
        </p:nvSpPr>
        <p:spPr>
          <a:xfrm>
            <a:off x="303609" y="3121791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346472" y="3157510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nationality</a:t>
            </a:r>
            <a:endParaRPr lang="en-US" sz="450" dirty="0"/>
          </a:p>
        </p:txBody>
      </p:sp>
      <p:sp>
        <p:nvSpPr>
          <p:cNvPr id="142" name="Shape 139"/>
          <p:cNvSpPr/>
          <p:nvPr/>
        </p:nvSpPr>
        <p:spPr>
          <a:xfrm>
            <a:off x="1584127" y="3121791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626989" y="3145008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44" name="Text 141"/>
          <p:cNvSpPr/>
          <p:nvPr/>
        </p:nvSpPr>
        <p:spPr>
          <a:xfrm>
            <a:off x="1626989" y="3228110"/>
            <a:ext cx="26398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CHAR(3)</a:t>
            </a:r>
            <a:endParaRPr lang="en-US" sz="450" dirty="0"/>
          </a:p>
        </p:txBody>
      </p:sp>
      <p:sp>
        <p:nvSpPr>
          <p:cNvPr id="145" name="Shape 142"/>
          <p:cNvSpPr/>
          <p:nvPr/>
        </p:nvSpPr>
        <p:spPr>
          <a:xfrm>
            <a:off x="2693891" y="3118219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2693891" y="3118219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47" name="Shape 144"/>
          <p:cNvSpPr/>
          <p:nvPr/>
        </p:nvSpPr>
        <p:spPr>
          <a:xfrm>
            <a:off x="3547570" y="3118219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594004" y="3146794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9" name="Text 146"/>
          <p:cNvSpPr/>
          <p:nvPr/>
        </p:nvSpPr>
        <p:spPr>
          <a:xfrm>
            <a:off x="3594004" y="3146794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50" name="Text 147"/>
          <p:cNvSpPr/>
          <p:nvPr/>
        </p:nvSpPr>
        <p:spPr>
          <a:xfrm>
            <a:off x="3736879" y="3145008"/>
            <a:ext cx="130373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NRP</a:t>
            </a:r>
            <a:endParaRPr lang="en-US" sz="450" dirty="0"/>
          </a:p>
        </p:txBody>
      </p:sp>
      <p:sp>
        <p:nvSpPr>
          <p:cNvPr id="151" name="Text 148"/>
          <p:cNvSpPr/>
          <p:nvPr/>
        </p:nvSpPr>
        <p:spPr>
          <a:xfrm>
            <a:off x="3885112" y="3145008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152" name="Shape 149"/>
          <p:cNvSpPr/>
          <p:nvPr/>
        </p:nvSpPr>
        <p:spPr>
          <a:xfrm>
            <a:off x="5681765" y="3118219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5681765" y="3118219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alpha-3 nationality code.</a:t>
            </a:r>
            <a:endParaRPr lang="en-US" sz="450" dirty="0"/>
          </a:p>
        </p:txBody>
      </p:sp>
      <p:sp>
        <p:nvSpPr>
          <p:cNvPr id="154" name="Shape 151"/>
          <p:cNvSpPr/>
          <p:nvPr/>
        </p:nvSpPr>
        <p:spPr>
          <a:xfrm>
            <a:off x="303609" y="3334429"/>
            <a:ext cx="1280517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346472" y="3370148"/>
            <a:ext cx="82968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marketing_consent_flag</a:t>
            </a:r>
            <a:endParaRPr lang="en-US" sz="450" dirty="0"/>
          </a:p>
        </p:txBody>
      </p:sp>
      <p:sp>
        <p:nvSpPr>
          <p:cNvPr id="156" name="Shape 153"/>
          <p:cNvSpPr/>
          <p:nvPr/>
        </p:nvSpPr>
        <p:spPr>
          <a:xfrm>
            <a:off x="1584127" y="3334429"/>
            <a:ext cx="1109765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1626989" y="3357646"/>
            <a:ext cx="241102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</a:t>
            </a:r>
            <a:endParaRPr lang="en-US" sz="450" dirty="0"/>
          </a:p>
        </p:txBody>
      </p:sp>
      <p:sp>
        <p:nvSpPr>
          <p:cNvPr id="158" name="Text 155"/>
          <p:cNvSpPr/>
          <p:nvPr/>
        </p:nvSpPr>
        <p:spPr>
          <a:xfrm>
            <a:off x="1626989" y="3440748"/>
            <a:ext cx="26398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450" dirty="0"/>
          </a:p>
        </p:txBody>
      </p:sp>
      <p:sp>
        <p:nvSpPr>
          <p:cNvPr id="159" name="Shape 156"/>
          <p:cNvSpPr/>
          <p:nvPr/>
        </p:nvSpPr>
        <p:spPr>
          <a:xfrm>
            <a:off x="2693891" y="3330857"/>
            <a:ext cx="426839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2693891" y="3330857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61" name="Shape 158"/>
          <p:cNvSpPr/>
          <p:nvPr/>
        </p:nvSpPr>
        <p:spPr>
          <a:xfrm>
            <a:off x="3547570" y="3330857"/>
            <a:ext cx="2134195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3594004" y="3359432"/>
            <a:ext cx="273248" cy="78581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3" name="Text 160"/>
          <p:cNvSpPr/>
          <p:nvPr/>
        </p:nvSpPr>
        <p:spPr>
          <a:xfrm>
            <a:off x="3594004" y="3359432"/>
            <a:ext cx="273248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64" name="Shape 161"/>
          <p:cNvSpPr/>
          <p:nvPr/>
        </p:nvSpPr>
        <p:spPr>
          <a:xfrm>
            <a:off x="5681765" y="3330857"/>
            <a:ext cx="3158626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5681765" y="3330857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Indicates whether customer opted in to promotional communication.</a:t>
            </a:r>
            <a:endParaRPr lang="en-US" sz="450" dirty="0"/>
          </a:p>
        </p:txBody>
      </p:sp>
      <p:sp>
        <p:nvSpPr>
          <p:cNvPr id="166" name="Shape 163"/>
          <p:cNvSpPr/>
          <p:nvPr/>
        </p:nvSpPr>
        <p:spPr>
          <a:xfrm>
            <a:off x="303609" y="3547067"/>
            <a:ext cx="1280517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342900" y="3582786"/>
            <a:ext cx="3771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450" dirty="0"/>
          </a:p>
        </p:txBody>
      </p:sp>
      <p:sp>
        <p:nvSpPr>
          <p:cNvPr id="168" name="Shape 165"/>
          <p:cNvSpPr/>
          <p:nvPr/>
        </p:nvSpPr>
        <p:spPr>
          <a:xfrm>
            <a:off x="1581085" y="3547067"/>
            <a:ext cx="1110239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623947" y="3570284"/>
            <a:ext cx="31611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</a:t>
            </a:r>
            <a:endParaRPr lang="en-US" sz="450" dirty="0"/>
          </a:p>
        </p:txBody>
      </p:sp>
      <p:sp>
        <p:nvSpPr>
          <p:cNvPr id="170" name="Text 167"/>
          <p:cNvSpPr/>
          <p:nvPr/>
        </p:nvSpPr>
        <p:spPr>
          <a:xfrm>
            <a:off x="1623947" y="3653386"/>
            <a:ext cx="33941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450" dirty="0"/>
          </a:p>
        </p:txBody>
      </p:sp>
      <p:sp>
        <p:nvSpPr>
          <p:cNvPr id="171" name="Shape 168"/>
          <p:cNvSpPr/>
          <p:nvPr/>
        </p:nvSpPr>
        <p:spPr>
          <a:xfrm>
            <a:off x="2691324" y="3543495"/>
            <a:ext cx="427006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2691324" y="3543495"/>
            <a:ext cx="427006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73" name="Shape 170"/>
          <p:cNvSpPr/>
          <p:nvPr/>
        </p:nvSpPr>
        <p:spPr>
          <a:xfrm>
            <a:off x="3545337" y="3543495"/>
            <a:ext cx="2135088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3591771" y="3572070"/>
            <a:ext cx="273248" cy="78581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5" name="Text 172"/>
          <p:cNvSpPr/>
          <p:nvPr/>
        </p:nvSpPr>
        <p:spPr>
          <a:xfrm>
            <a:off x="3591771" y="3572070"/>
            <a:ext cx="273248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76" name="Shape 173"/>
          <p:cNvSpPr/>
          <p:nvPr/>
        </p:nvSpPr>
        <p:spPr>
          <a:xfrm>
            <a:off x="5680425" y="3543495"/>
            <a:ext cx="3159965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5680425" y="3543495"/>
            <a:ext cx="3159965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creation timestamp.</a:t>
            </a:r>
            <a:endParaRPr lang="en-US" sz="450" dirty="0"/>
          </a:p>
        </p:txBody>
      </p:sp>
      <p:sp>
        <p:nvSpPr>
          <p:cNvPr id="178" name="Text 175"/>
          <p:cNvSpPr/>
          <p:nvPr/>
        </p:nvSpPr>
        <p:spPr>
          <a:xfrm>
            <a:off x="300038" y="3845430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79" name="Text 176"/>
          <p:cNvSpPr/>
          <p:nvPr/>
        </p:nvSpPr>
        <p:spPr>
          <a:xfrm>
            <a:off x="7688461" y="3845430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telco_kyc_identity_document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543925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Telecom KYC identity document registry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Stores identity-document attributes captured during SIM registration, account opening, or customer due diligence. Granularity: one row per identity 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submitted by a customer.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487561" cy="164306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48756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844748" y="1009724"/>
            <a:ext cx="596503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4748" y="1009724"/>
            <a:ext cx="596503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10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498402" y="1009724"/>
            <a:ext cx="325041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98402" y="1009724"/>
            <a:ext cx="32504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8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1880592" y="1009724"/>
            <a:ext cx="508992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80592" y="1009724"/>
            <a:ext cx="508992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7615"/>
            <a:ext cx="1280517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7615"/>
            <a:ext cx="1280517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7615"/>
            <a:ext cx="110976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7615"/>
            <a:ext cx="110976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761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761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761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761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7615"/>
            <a:ext cx="213419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7615"/>
            <a:ext cx="213419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7615"/>
            <a:ext cx="3158626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7615"/>
            <a:ext cx="3158626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420685"/>
            <a:ext cx="1280517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56404"/>
            <a:ext cx="56569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kyc_document_id</a:t>
            </a:r>
            <a:endParaRPr lang="en-US" sz="450" dirty="0"/>
          </a:p>
        </p:txBody>
      </p:sp>
      <p:sp>
        <p:nvSpPr>
          <p:cNvPr id="28" name="Shape 25"/>
          <p:cNvSpPr/>
          <p:nvPr/>
        </p:nvSpPr>
        <p:spPr>
          <a:xfrm>
            <a:off x="1584127" y="1420685"/>
            <a:ext cx="1109765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47474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30" name="Text 27"/>
          <p:cNvSpPr/>
          <p:nvPr/>
        </p:nvSpPr>
        <p:spPr>
          <a:xfrm>
            <a:off x="1626989" y="1530576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31" name="Shape 28"/>
          <p:cNvSpPr/>
          <p:nvPr/>
        </p:nvSpPr>
        <p:spPr>
          <a:xfrm>
            <a:off x="2693891" y="1420685"/>
            <a:ext cx="426839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42068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33" name="Shape 30"/>
          <p:cNvSpPr/>
          <p:nvPr/>
        </p:nvSpPr>
        <p:spPr>
          <a:xfrm>
            <a:off x="3120730" y="1420685"/>
            <a:ext cx="426839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42068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50" dirty="0"/>
          </a:p>
        </p:txBody>
      </p:sp>
      <p:sp>
        <p:nvSpPr>
          <p:cNvPr id="35" name="Shape 32"/>
          <p:cNvSpPr/>
          <p:nvPr/>
        </p:nvSpPr>
        <p:spPr>
          <a:xfrm>
            <a:off x="3547570" y="1420685"/>
            <a:ext cx="2134195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49260"/>
            <a:ext cx="273248" cy="78581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49260"/>
            <a:ext cx="273248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38" name="Shape 35"/>
          <p:cNvSpPr/>
          <p:nvPr/>
        </p:nvSpPr>
        <p:spPr>
          <a:xfrm>
            <a:off x="5681765" y="1420685"/>
            <a:ext cx="3158626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81765" y="1420685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KYC document key.</a:t>
            </a:r>
            <a:endParaRPr lang="en-US" sz="450" dirty="0"/>
          </a:p>
        </p:txBody>
      </p:sp>
      <p:sp>
        <p:nvSpPr>
          <p:cNvPr id="40" name="Shape 37"/>
          <p:cNvSpPr/>
          <p:nvPr/>
        </p:nvSpPr>
        <p:spPr>
          <a:xfrm>
            <a:off x="303609" y="1633324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46472" y="1669042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450" dirty="0"/>
          </a:p>
        </p:txBody>
      </p:sp>
      <p:sp>
        <p:nvSpPr>
          <p:cNvPr id="42" name="Shape 39"/>
          <p:cNvSpPr/>
          <p:nvPr/>
        </p:nvSpPr>
        <p:spPr>
          <a:xfrm>
            <a:off x="1584127" y="1633324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26989" y="1656541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44" name="Text 41"/>
          <p:cNvSpPr/>
          <p:nvPr/>
        </p:nvSpPr>
        <p:spPr>
          <a:xfrm>
            <a:off x="1626989" y="1739643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45" name="Shape 42"/>
          <p:cNvSpPr/>
          <p:nvPr/>
        </p:nvSpPr>
        <p:spPr>
          <a:xfrm>
            <a:off x="2693891" y="1629752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693891" y="1629752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47" name="Shape 44"/>
          <p:cNvSpPr/>
          <p:nvPr/>
        </p:nvSpPr>
        <p:spPr>
          <a:xfrm>
            <a:off x="3547570" y="1629752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594004" y="1658327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9" name="Text 46"/>
          <p:cNvSpPr/>
          <p:nvPr/>
        </p:nvSpPr>
        <p:spPr>
          <a:xfrm>
            <a:off x="3594004" y="1658327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0" name="Text 47"/>
          <p:cNvSpPr/>
          <p:nvPr/>
        </p:nvSpPr>
        <p:spPr>
          <a:xfrm>
            <a:off x="3736879" y="1656541"/>
            <a:ext cx="455414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CUSTOMER_ID</a:t>
            </a:r>
            <a:endParaRPr lang="en-US" sz="450" dirty="0"/>
          </a:p>
        </p:txBody>
      </p:sp>
      <p:sp>
        <p:nvSpPr>
          <p:cNvPr id="51" name="Text 48"/>
          <p:cNvSpPr/>
          <p:nvPr/>
        </p:nvSpPr>
        <p:spPr>
          <a:xfrm>
            <a:off x="4210152" y="1656541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52" name="Shape 49"/>
          <p:cNvSpPr/>
          <p:nvPr/>
        </p:nvSpPr>
        <p:spPr>
          <a:xfrm>
            <a:off x="5681765" y="1629752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81765" y="1629752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Foreign key to telecom customer profile.</a:t>
            </a:r>
            <a:endParaRPr lang="en-US" sz="450" dirty="0"/>
          </a:p>
        </p:txBody>
      </p:sp>
      <p:sp>
        <p:nvSpPr>
          <p:cNvPr id="54" name="Shape 51"/>
          <p:cNvSpPr/>
          <p:nvPr/>
        </p:nvSpPr>
        <p:spPr>
          <a:xfrm>
            <a:off x="303609" y="1845962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46472" y="1881680"/>
            <a:ext cx="5279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eg_national_id</a:t>
            </a:r>
            <a:endParaRPr lang="en-US" sz="450" dirty="0"/>
          </a:p>
        </p:txBody>
      </p:sp>
      <p:sp>
        <p:nvSpPr>
          <p:cNvPr id="56" name="Shape 53"/>
          <p:cNvSpPr/>
          <p:nvPr/>
        </p:nvSpPr>
        <p:spPr>
          <a:xfrm>
            <a:off x="1584127" y="1845962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626989" y="1869179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58" name="Text 55"/>
          <p:cNvSpPr/>
          <p:nvPr/>
        </p:nvSpPr>
        <p:spPr>
          <a:xfrm>
            <a:off x="1626989" y="1952281"/>
            <a:ext cx="30171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CHAR(14)</a:t>
            </a:r>
            <a:endParaRPr lang="en-US" sz="450" dirty="0"/>
          </a:p>
        </p:txBody>
      </p:sp>
      <p:sp>
        <p:nvSpPr>
          <p:cNvPr id="59" name="Shape 56"/>
          <p:cNvSpPr/>
          <p:nvPr/>
        </p:nvSpPr>
        <p:spPr>
          <a:xfrm>
            <a:off x="2693891" y="1842390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693891" y="1842390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61" name="Shape 58"/>
          <p:cNvSpPr/>
          <p:nvPr/>
        </p:nvSpPr>
        <p:spPr>
          <a:xfrm>
            <a:off x="3547570" y="1842390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594004" y="1870965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3" name="Text 60"/>
          <p:cNvSpPr/>
          <p:nvPr/>
        </p:nvSpPr>
        <p:spPr>
          <a:xfrm>
            <a:off x="3594004" y="1870965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4" name="Text 61"/>
          <p:cNvSpPr/>
          <p:nvPr/>
        </p:nvSpPr>
        <p:spPr>
          <a:xfrm>
            <a:off x="3736879" y="1869179"/>
            <a:ext cx="54292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EG_NATIONAL_ID</a:t>
            </a:r>
            <a:endParaRPr lang="en-US" sz="450" dirty="0"/>
          </a:p>
        </p:txBody>
      </p:sp>
      <p:sp>
        <p:nvSpPr>
          <p:cNvPr id="65" name="Text 62"/>
          <p:cNvSpPr/>
          <p:nvPr/>
        </p:nvSpPr>
        <p:spPr>
          <a:xfrm>
            <a:off x="4297663" y="1869179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66" name="Shape 63"/>
          <p:cNvSpPr/>
          <p:nvPr/>
        </p:nvSpPr>
        <p:spPr>
          <a:xfrm>
            <a:off x="5681765" y="1842390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681765" y="1842390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14-digit Egyptian National ID number.</a:t>
            </a:r>
            <a:endParaRPr lang="en-US" sz="450" dirty="0"/>
          </a:p>
        </p:txBody>
      </p:sp>
      <p:sp>
        <p:nvSpPr>
          <p:cNvPr id="68" name="Shape 65"/>
          <p:cNvSpPr/>
          <p:nvPr/>
        </p:nvSpPr>
        <p:spPr>
          <a:xfrm>
            <a:off x="303609" y="2058600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46472" y="2094319"/>
            <a:ext cx="56569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passport_number</a:t>
            </a:r>
            <a:endParaRPr lang="en-US" sz="450" dirty="0"/>
          </a:p>
        </p:txBody>
      </p:sp>
      <p:sp>
        <p:nvSpPr>
          <p:cNvPr id="70" name="Shape 67"/>
          <p:cNvSpPr/>
          <p:nvPr/>
        </p:nvSpPr>
        <p:spPr>
          <a:xfrm>
            <a:off x="1584127" y="2058600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626989" y="2081817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72" name="Text 69"/>
          <p:cNvSpPr/>
          <p:nvPr/>
        </p:nvSpPr>
        <p:spPr>
          <a:xfrm>
            <a:off x="1626989" y="2164919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50" dirty="0"/>
          </a:p>
        </p:txBody>
      </p:sp>
      <p:sp>
        <p:nvSpPr>
          <p:cNvPr id="73" name="Shape 70"/>
          <p:cNvSpPr/>
          <p:nvPr/>
        </p:nvSpPr>
        <p:spPr>
          <a:xfrm>
            <a:off x="2693891" y="2055028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693891" y="2055028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75" name="Shape 72"/>
          <p:cNvSpPr/>
          <p:nvPr/>
        </p:nvSpPr>
        <p:spPr>
          <a:xfrm>
            <a:off x="3547570" y="2055028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594004" y="2083603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7" name="Text 74"/>
          <p:cNvSpPr/>
          <p:nvPr/>
        </p:nvSpPr>
        <p:spPr>
          <a:xfrm>
            <a:off x="3594004" y="2083603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78" name="Text 75"/>
          <p:cNvSpPr/>
          <p:nvPr/>
        </p:nvSpPr>
        <p:spPr>
          <a:xfrm>
            <a:off x="3736879" y="2081817"/>
            <a:ext cx="45362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EG_PASSPORT</a:t>
            </a:r>
            <a:endParaRPr lang="en-US" sz="450" dirty="0"/>
          </a:p>
        </p:txBody>
      </p:sp>
      <p:sp>
        <p:nvSpPr>
          <p:cNvPr id="79" name="Text 76"/>
          <p:cNvSpPr/>
          <p:nvPr/>
        </p:nvSpPr>
        <p:spPr>
          <a:xfrm>
            <a:off x="4208366" y="2081817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80" name="Shape 77"/>
          <p:cNvSpPr/>
          <p:nvPr/>
        </p:nvSpPr>
        <p:spPr>
          <a:xfrm>
            <a:off x="5681765" y="2055028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681765" y="2055028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Passport number for Egyptian or non-Egyptian customers.</a:t>
            </a:r>
            <a:endParaRPr lang="en-US" sz="450" dirty="0"/>
          </a:p>
        </p:txBody>
      </p:sp>
      <p:sp>
        <p:nvSpPr>
          <p:cNvPr id="82" name="Shape 79"/>
          <p:cNvSpPr/>
          <p:nvPr/>
        </p:nvSpPr>
        <p:spPr>
          <a:xfrm>
            <a:off x="303609" y="2271238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46472" y="2306957"/>
            <a:ext cx="86738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residency_permit_number</a:t>
            </a:r>
            <a:endParaRPr lang="en-US" sz="450" dirty="0"/>
          </a:p>
        </p:txBody>
      </p:sp>
      <p:sp>
        <p:nvSpPr>
          <p:cNvPr id="84" name="Shape 81"/>
          <p:cNvSpPr/>
          <p:nvPr/>
        </p:nvSpPr>
        <p:spPr>
          <a:xfrm>
            <a:off x="1584127" y="2271238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626989" y="2294455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86" name="Text 83"/>
          <p:cNvSpPr/>
          <p:nvPr/>
        </p:nvSpPr>
        <p:spPr>
          <a:xfrm>
            <a:off x="1626989" y="2377557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VARCHAR(30)</a:t>
            </a:r>
            <a:endParaRPr lang="en-US" sz="450" dirty="0"/>
          </a:p>
        </p:txBody>
      </p:sp>
      <p:sp>
        <p:nvSpPr>
          <p:cNvPr id="87" name="Shape 84"/>
          <p:cNvSpPr/>
          <p:nvPr/>
        </p:nvSpPr>
        <p:spPr>
          <a:xfrm>
            <a:off x="2693891" y="2267666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693891" y="2267666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89" name="Shape 86"/>
          <p:cNvSpPr/>
          <p:nvPr/>
        </p:nvSpPr>
        <p:spPr>
          <a:xfrm>
            <a:off x="3547570" y="2267666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94004" y="2296241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1" name="Text 88"/>
          <p:cNvSpPr/>
          <p:nvPr/>
        </p:nvSpPr>
        <p:spPr>
          <a:xfrm>
            <a:off x="3594004" y="2296241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2" name="Text 89"/>
          <p:cNvSpPr/>
          <p:nvPr/>
        </p:nvSpPr>
        <p:spPr>
          <a:xfrm>
            <a:off x="3736879" y="2294455"/>
            <a:ext cx="74830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EG_RESIDENCY_PERMIT</a:t>
            </a:r>
            <a:endParaRPr lang="en-US" sz="450" dirty="0"/>
          </a:p>
        </p:txBody>
      </p:sp>
      <p:sp>
        <p:nvSpPr>
          <p:cNvPr id="93" name="Text 90"/>
          <p:cNvSpPr/>
          <p:nvPr/>
        </p:nvSpPr>
        <p:spPr>
          <a:xfrm>
            <a:off x="4503046" y="2294455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94" name="Shape 91"/>
          <p:cNvSpPr/>
          <p:nvPr/>
        </p:nvSpPr>
        <p:spPr>
          <a:xfrm>
            <a:off x="5681765" y="2267666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681765" y="2267666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 number for non-Egyptian residents.</a:t>
            </a:r>
            <a:endParaRPr lang="en-US" sz="450" dirty="0"/>
          </a:p>
        </p:txBody>
      </p:sp>
      <p:sp>
        <p:nvSpPr>
          <p:cNvPr id="96" name="Shape 93"/>
          <p:cNvSpPr/>
          <p:nvPr/>
        </p:nvSpPr>
        <p:spPr>
          <a:xfrm>
            <a:off x="303609" y="2483876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46472" y="2519595"/>
            <a:ext cx="79195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driver_license_number</a:t>
            </a:r>
            <a:endParaRPr lang="en-US" sz="450" dirty="0"/>
          </a:p>
        </p:txBody>
      </p:sp>
      <p:sp>
        <p:nvSpPr>
          <p:cNvPr id="98" name="Shape 95"/>
          <p:cNvSpPr/>
          <p:nvPr/>
        </p:nvSpPr>
        <p:spPr>
          <a:xfrm>
            <a:off x="1584127" y="2483876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626989" y="2507093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00" name="Text 97"/>
          <p:cNvSpPr/>
          <p:nvPr/>
        </p:nvSpPr>
        <p:spPr>
          <a:xfrm>
            <a:off x="1626989" y="2590195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VARCHAR(30)</a:t>
            </a:r>
            <a:endParaRPr lang="en-US" sz="450" dirty="0"/>
          </a:p>
        </p:txBody>
      </p:sp>
      <p:sp>
        <p:nvSpPr>
          <p:cNvPr id="101" name="Shape 98"/>
          <p:cNvSpPr/>
          <p:nvPr/>
        </p:nvSpPr>
        <p:spPr>
          <a:xfrm>
            <a:off x="2693891" y="2480304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693891" y="2480304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03" name="Shape 100"/>
          <p:cNvSpPr/>
          <p:nvPr/>
        </p:nvSpPr>
        <p:spPr>
          <a:xfrm>
            <a:off x="3547570" y="2480304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594004" y="2508879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5" name="Text 102"/>
          <p:cNvSpPr/>
          <p:nvPr/>
        </p:nvSpPr>
        <p:spPr>
          <a:xfrm>
            <a:off x="3594004" y="2508879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6" name="Text 103"/>
          <p:cNvSpPr/>
          <p:nvPr/>
        </p:nvSpPr>
        <p:spPr>
          <a:xfrm>
            <a:off x="3736879" y="2507093"/>
            <a:ext cx="6429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EG_DRIVER_LICENSE</a:t>
            </a:r>
            <a:endParaRPr lang="en-US" sz="450" dirty="0"/>
          </a:p>
        </p:txBody>
      </p:sp>
      <p:sp>
        <p:nvSpPr>
          <p:cNvPr id="107" name="Text 104"/>
          <p:cNvSpPr/>
          <p:nvPr/>
        </p:nvSpPr>
        <p:spPr>
          <a:xfrm>
            <a:off x="4397676" y="2507093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108" name="Shape 105"/>
          <p:cNvSpPr/>
          <p:nvPr/>
        </p:nvSpPr>
        <p:spPr>
          <a:xfrm>
            <a:off x="5681765" y="2480304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681765" y="2480304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Egyptian driver license or equivalent supporting ID.</a:t>
            </a:r>
            <a:endParaRPr lang="en-US" sz="450" dirty="0"/>
          </a:p>
        </p:txBody>
      </p:sp>
      <p:sp>
        <p:nvSpPr>
          <p:cNvPr id="110" name="Shape 107"/>
          <p:cNvSpPr/>
          <p:nvPr/>
        </p:nvSpPr>
        <p:spPr>
          <a:xfrm>
            <a:off x="303609" y="2696514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346472" y="2732233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military_id</a:t>
            </a:r>
            <a:endParaRPr lang="en-US" sz="450" dirty="0"/>
          </a:p>
        </p:txBody>
      </p:sp>
      <p:sp>
        <p:nvSpPr>
          <p:cNvPr id="112" name="Shape 109"/>
          <p:cNvSpPr/>
          <p:nvPr/>
        </p:nvSpPr>
        <p:spPr>
          <a:xfrm>
            <a:off x="1584127" y="2696514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626989" y="2719732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14" name="Text 111"/>
          <p:cNvSpPr/>
          <p:nvPr/>
        </p:nvSpPr>
        <p:spPr>
          <a:xfrm>
            <a:off x="1626989" y="2802834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VARCHAR(30)</a:t>
            </a:r>
            <a:endParaRPr lang="en-US" sz="450" dirty="0"/>
          </a:p>
        </p:txBody>
      </p:sp>
      <p:sp>
        <p:nvSpPr>
          <p:cNvPr id="115" name="Shape 112"/>
          <p:cNvSpPr/>
          <p:nvPr/>
        </p:nvSpPr>
        <p:spPr>
          <a:xfrm>
            <a:off x="2693891" y="2692943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2693891" y="2692943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17" name="Shape 114"/>
          <p:cNvSpPr/>
          <p:nvPr/>
        </p:nvSpPr>
        <p:spPr>
          <a:xfrm>
            <a:off x="3547570" y="2692943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594004" y="2721518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9" name="Text 116"/>
          <p:cNvSpPr/>
          <p:nvPr/>
        </p:nvSpPr>
        <p:spPr>
          <a:xfrm>
            <a:off x="3594004" y="2721518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0" name="Text 117"/>
          <p:cNvSpPr/>
          <p:nvPr/>
        </p:nvSpPr>
        <p:spPr>
          <a:xfrm>
            <a:off x="3736879" y="2719732"/>
            <a:ext cx="512564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EG_MILITARY_ID</a:t>
            </a:r>
            <a:endParaRPr lang="en-US" sz="450" dirty="0"/>
          </a:p>
        </p:txBody>
      </p:sp>
      <p:sp>
        <p:nvSpPr>
          <p:cNvPr id="121" name="Text 118"/>
          <p:cNvSpPr/>
          <p:nvPr/>
        </p:nvSpPr>
        <p:spPr>
          <a:xfrm>
            <a:off x="4267302" y="2719732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122" name="Shape 119"/>
          <p:cNvSpPr/>
          <p:nvPr/>
        </p:nvSpPr>
        <p:spPr>
          <a:xfrm>
            <a:off x="5681765" y="2692943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5681765" y="2692943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Military identity number where applicable.</a:t>
            </a:r>
            <a:endParaRPr lang="en-US" sz="450" dirty="0"/>
          </a:p>
        </p:txBody>
      </p:sp>
      <p:sp>
        <p:nvSpPr>
          <p:cNvPr id="124" name="Shape 121"/>
          <p:cNvSpPr/>
          <p:nvPr/>
        </p:nvSpPr>
        <p:spPr>
          <a:xfrm>
            <a:off x="303609" y="2909153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46472" y="2944871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syndicate_id</a:t>
            </a:r>
            <a:endParaRPr lang="en-US" sz="450" dirty="0"/>
          </a:p>
        </p:txBody>
      </p:sp>
      <p:sp>
        <p:nvSpPr>
          <p:cNvPr id="126" name="Shape 123"/>
          <p:cNvSpPr/>
          <p:nvPr/>
        </p:nvSpPr>
        <p:spPr>
          <a:xfrm>
            <a:off x="1584127" y="2909153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1626989" y="2932370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28" name="Text 125"/>
          <p:cNvSpPr/>
          <p:nvPr/>
        </p:nvSpPr>
        <p:spPr>
          <a:xfrm>
            <a:off x="1626989" y="3015472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VARCHAR(40)</a:t>
            </a:r>
            <a:endParaRPr lang="en-US" sz="450" dirty="0"/>
          </a:p>
        </p:txBody>
      </p:sp>
      <p:sp>
        <p:nvSpPr>
          <p:cNvPr id="129" name="Shape 126"/>
          <p:cNvSpPr/>
          <p:nvPr/>
        </p:nvSpPr>
        <p:spPr>
          <a:xfrm>
            <a:off x="2693891" y="2905581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2693891" y="2905581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31" name="Shape 128"/>
          <p:cNvSpPr/>
          <p:nvPr/>
        </p:nvSpPr>
        <p:spPr>
          <a:xfrm>
            <a:off x="3547570" y="2905581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3594004" y="2934156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3" name="Text 130"/>
          <p:cNvSpPr/>
          <p:nvPr/>
        </p:nvSpPr>
        <p:spPr>
          <a:xfrm>
            <a:off x="3594004" y="2934156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4" name="Text 131"/>
          <p:cNvSpPr/>
          <p:nvPr/>
        </p:nvSpPr>
        <p:spPr>
          <a:xfrm>
            <a:off x="3736879" y="2932370"/>
            <a:ext cx="575072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EG_SYNDICATE_ID</a:t>
            </a:r>
            <a:endParaRPr lang="en-US" sz="450" dirty="0"/>
          </a:p>
        </p:txBody>
      </p:sp>
      <p:sp>
        <p:nvSpPr>
          <p:cNvPr id="135" name="Text 132"/>
          <p:cNvSpPr/>
          <p:nvPr/>
        </p:nvSpPr>
        <p:spPr>
          <a:xfrm>
            <a:off x="4329810" y="2932370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136" name="Shape 133"/>
          <p:cNvSpPr/>
          <p:nvPr/>
        </p:nvSpPr>
        <p:spPr>
          <a:xfrm>
            <a:off x="5681765" y="2905581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5681765" y="2905581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association card number such as doctors or engineers syndicate.</a:t>
            </a:r>
            <a:endParaRPr lang="en-US" sz="450" dirty="0"/>
          </a:p>
        </p:txBody>
      </p:sp>
      <p:sp>
        <p:nvSpPr>
          <p:cNvPr id="138" name="Shape 135"/>
          <p:cNvSpPr/>
          <p:nvPr/>
        </p:nvSpPr>
        <p:spPr>
          <a:xfrm>
            <a:off x="303609" y="3121791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46472" y="3157510"/>
            <a:ext cx="67882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document_image_ref</a:t>
            </a:r>
            <a:endParaRPr lang="en-US" sz="450" dirty="0"/>
          </a:p>
        </p:txBody>
      </p:sp>
      <p:sp>
        <p:nvSpPr>
          <p:cNvPr id="140" name="Shape 137"/>
          <p:cNvSpPr/>
          <p:nvPr/>
        </p:nvSpPr>
        <p:spPr>
          <a:xfrm>
            <a:off x="1584127" y="3121791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626989" y="3145008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42" name="Text 139"/>
          <p:cNvSpPr/>
          <p:nvPr/>
        </p:nvSpPr>
        <p:spPr>
          <a:xfrm>
            <a:off x="1626989" y="3228110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VARCHAR(256)</a:t>
            </a:r>
            <a:endParaRPr lang="en-US" sz="450" dirty="0"/>
          </a:p>
        </p:txBody>
      </p:sp>
      <p:sp>
        <p:nvSpPr>
          <p:cNvPr id="143" name="Shape 140"/>
          <p:cNvSpPr/>
          <p:nvPr/>
        </p:nvSpPr>
        <p:spPr>
          <a:xfrm>
            <a:off x="2693891" y="3118219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2693891" y="3118219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45" name="Shape 142"/>
          <p:cNvSpPr/>
          <p:nvPr/>
        </p:nvSpPr>
        <p:spPr>
          <a:xfrm>
            <a:off x="3547570" y="3118219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3594004" y="3146794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7" name="Text 144"/>
          <p:cNvSpPr/>
          <p:nvPr/>
        </p:nvSpPr>
        <p:spPr>
          <a:xfrm>
            <a:off x="3594004" y="3146794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48" name="Text 145"/>
          <p:cNvSpPr/>
          <p:nvPr/>
        </p:nvSpPr>
        <p:spPr>
          <a:xfrm>
            <a:off x="3736879" y="3145008"/>
            <a:ext cx="55185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BIOMETRIC_DATA</a:t>
            </a:r>
            <a:endParaRPr lang="en-US" sz="450" dirty="0"/>
          </a:p>
        </p:txBody>
      </p:sp>
      <p:sp>
        <p:nvSpPr>
          <p:cNvPr id="149" name="Text 146"/>
          <p:cNvSpPr/>
          <p:nvPr/>
        </p:nvSpPr>
        <p:spPr>
          <a:xfrm>
            <a:off x="4306593" y="3145008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150" name="Shape 147"/>
          <p:cNvSpPr/>
          <p:nvPr/>
        </p:nvSpPr>
        <p:spPr>
          <a:xfrm>
            <a:off x="5681765" y="3118219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5681765" y="3118219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Object-store reference to scanned identity image; do not store raw image in test data.</a:t>
            </a:r>
            <a:endParaRPr lang="en-US" sz="450" dirty="0"/>
          </a:p>
        </p:txBody>
      </p:sp>
      <p:sp>
        <p:nvSpPr>
          <p:cNvPr id="152" name="Shape 149"/>
          <p:cNvSpPr/>
          <p:nvPr/>
        </p:nvSpPr>
        <p:spPr>
          <a:xfrm>
            <a:off x="303609" y="3334429"/>
            <a:ext cx="1280517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42900" y="3370148"/>
            <a:ext cx="56569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kyc_verified_at</a:t>
            </a:r>
            <a:endParaRPr lang="en-US" sz="450" dirty="0"/>
          </a:p>
        </p:txBody>
      </p:sp>
      <p:sp>
        <p:nvSpPr>
          <p:cNvPr id="154" name="Shape 151"/>
          <p:cNvSpPr/>
          <p:nvPr/>
        </p:nvSpPr>
        <p:spPr>
          <a:xfrm>
            <a:off x="1581085" y="3334429"/>
            <a:ext cx="1110239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623947" y="3357646"/>
            <a:ext cx="31611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</a:t>
            </a:r>
            <a:endParaRPr lang="en-US" sz="450" dirty="0"/>
          </a:p>
        </p:txBody>
      </p:sp>
      <p:sp>
        <p:nvSpPr>
          <p:cNvPr id="156" name="Text 153"/>
          <p:cNvSpPr/>
          <p:nvPr/>
        </p:nvSpPr>
        <p:spPr>
          <a:xfrm>
            <a:off x="1623947" y="3440748"/>
            <a:ext cx="33941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450" dirty="0"/>
          </a:p>
        </p:txBody>
      </p:sp>
      <p:sp>
        <p:nvSpPr>
          <p:cNvPr id="157" name="Shape 154"/>
          <p:cNvSpPr/>
          <p:nvPr/>
        </p:nvSpPr>
        <p:spPr>
          <a:xfrm>
            <a:off x="2691324" y="3330857"/>
            <a:ext cx="427006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2691324" y="3330857"/>
            <a:ext cx="427006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59" name="Shape 156"/>
          <p:cNvSpPr/>
          <p:nvPr/>
        </p:nvSpPr>
        <p:spPr>
          <a:xfrm>
            <a:off x="3545337" y="3330857"/>
            <a:ext cx="2135088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3591771" y="3359432"/>
            <a:ext cx="273248" cy="78581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1" name="Text 158"/>
          <p:cNvSpPr/>
          <p:nvPr/>
        </p:nvSpPr>
        <p:spPr>
          <a:xfrm>
            <a:off x="3591771" y="3359432"/>
            <a:ext cx="273248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62" name="Shape 159"/>
          <p:cNvSpPr/>
          <p:nvPr/>
        </p:nvSpPr>
        <p:spPr>
          <a:xfrm>
            <a:off x="5680425" y="3330857"/>
            <a:ext cx="3159965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5680425" y="3330857"/>
            <a:ext cx="3159965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when KYC verification completed.</a:t>
            </a:r>
            <a:endParaRPr lang="en-US" sz="450" dirty="0"/>
          </a:p>
        </p:txBody>
      </p:sp>
      <p:sp>
        <p:nvSpPr>
          <p:cNvPr id="164" name="Text 161"/>
          <p:cNvSpPr/>
          <p:nvPr/>
        </p:nvSpPr>
        <p:spPr>
          <a:xfrm>
            <a:off x="300038" y="3632792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65" name="Text 162"/>
          <p:cNvSpPr/>
          <p:nvPr/>
        </p:nvSpPr>
        <p:spPr>
          <a:xfrm>
            <a:off x="7688461" y="3632792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telco_subscriber_sim_registry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429625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Subscriber and SIM registry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Represents active and historical SIM subscriptions, including Egyptian MSISDN, IMSI, ICCID, and operator-specific identifiers. Granularity: one row per SIM 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lifecycle instance.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487561" cy="164306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48756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844748" y="1009724"/>
            <a:ext cx="596503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4748" y="1009724"/>
            <a:ext cx="596503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10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498402" y="1009724"/>
            <a:ext cx="319683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98402" y="1009724"/>
            <a:ext cx="319683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7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1875234" y="1009724"/>
            <a:ext cx="510778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5234" y="1009724"/>
            <a:ext cx="51077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7615"/>
            <a:ext cx="1280517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7615"/>
            <a:ext cx="1280517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7615"/>
            <a:ext cx="110976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7615"/>
            <a:ext cx="110976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761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761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761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761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7615"/>
            <a:ext cx="213419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7615"/>
            <a:ext cx="213419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7615"/>
            <a:ext cx="3158626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7615"/>
            <a:ext cx="3158626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420685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56404"/>
            <a:ext cx="56569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subscription_id</a:t>
            </a:r>
            <a:endParaRPr lang="en-US" sz="450" dirty="0"/>
          </a:p>
        </p:txBody>
      </p:sp>
      <p:sp>
        <p:nvSpPr>
          <p:cNvPr id="28" name="Shape 25"/>
          <p:cNvSpPr/>
          <p:nvPr/>
        </p:nvSpPr>
        <p:spPr>
          <a:xfrm>
            <a:off x="1584127" y="1420685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47474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30" name="Text 27"/>
          <p:cNvSpPr/>
          <p:nvPr/>
        </p:nvSpPr>
        <p:spPr>
          <a:xfrm>
            <a:off x="1626989" y="1530576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31" name="Shape 28"/>
          <p:cNvSpPr/>
          <p:nvPr/>
        </p:nvSpPr>
        <p:spPr>
          <a:xfrm>
            <a:off x="2693891" y="1420685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42068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33" name="Shape 30"/>
          <p:cNvSpPr/>
          <p:nvPr/>
        </p:nvSpPr>
        <p:spPr>
          <a:xfrm>
            <a:off x="3120730" y="1420685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42068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50" dirty="0"/>
          </a:p>
        </p:txBody>
      </p:sp>
      <p:sp>
        <p:nvSpPr>
          <p:cNvPr id="35" name="Shape 32"/>
          <p:cNvSpPr/>
          <p:nvPr/>
        </p:nvSpPr>
        <p:spPr>
          <a:xfrm>
            <a:off x="3547570" y="1420685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49260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49260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38" name="Text 35"/>
          <p:cNvSpPr/>
          <p:nvPr/>
        </p:nvSpPr>
        <p:spPr>
          <a:xfrm>
            <a:off x="3733307" y="1447474"/>
            <a:ext cx="48934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SUBSCRIBER_ID</a:t>
            </a:r>
            <a:endParaRPr lang="en-US" sz="450" dirty="0"/>
          </a:p>
        </p:txBody>
      </p:sp>
      <p:sp>
        <p:nvSpPr>
          <p:cNvPr id="39" name="Text 36"/>
          <p:cNvSpPr/>
          <p:nvPr/>
        </p:nvSpPr>
        <p:spPr>
          <a:xfrm>
            <a:off x="4240513" y="1447474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40" name="Shape 37"/>
          <p:cNvSpPr/>
          <p:nvPr/>
        </p:nvSpPr>
        <p:spPr>
          <a:xfrm>
            <a:off x="5681765" y="1420685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81765" y="1420685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subscription key.</a:t>
            </a:r>
            <a:endParaRPr lang="en-US" sz="450" dirty="0"/>
          </a:p>
        </p:txBody>
      </p:sp>
      <p:sp>
        <p:nvSpPr>
          <p:cNvPr id="42" name="Shape 39"/>
          <p:cNvSpPr/>
          <p:nvPr/>
        </p:nvSpPr>
        <p:spPr>
          <a:xfrm>
            <a:off x="303609" y="1633324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6472" y="1669042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450" dirty="0"/>
          </a:p>
        </p:txBody>
      </p:sp>
      <p:sp>
        <p:nvSpPr>
          <p:cNvPr id="44" name="Shape 41"/>
          <p:cNvSpPr/>
          <p:nvPr/>
        </p:nvSpPr>
        <p:spPr>
          <a:xfrm>
            <a:off x="1584127" y="1633324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26989" y="1656541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46" name="Text 43"/>
          <p:cNvSpPr/>
          <p:nvPr/>
        </p:nvSpPr>
        <p:spPr>
          <a:xfrm>
            <a:off x="1626989" y="1739643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47" name="Shape 44"/>
          <p:cNvSpPr/>
          <p:nvPr/>
        </p:nvSpPr>
        <p:spPr>
          <a:xfrm>
            <a:off x="2693891" y="1629752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693891" y="1629752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49" name="Shape 46"/>
          <p:cNvSpPr/>
          <p:nvPr/>
        </p:nvSpPr>
        <p:spPr>
          <a:xfrm>
            <a:off x="3547570" y="1629752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594004" y="1658327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1" name="Text 48"/>
          <p:cNvSpPr/>
          <p:nvPr/>
        </p:nvSpPr>
        <p:spPr>
          <a:xfrm>
            <a:off x="3594004" y="1658327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2" name="Text 49"/>
          <p:cNvSpPr/>
          <p:nvPr/>
        </p:nvSpPr>
        <p:spPr>
          <a:xfrm>
            <a:off x="3736879" y="1656541"/>
            <a:ext cx="455414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CUSTOMER_ID</a:t>
            </a:r>
            <a:endParaRPr lang="en-US" sz="450" dirty="0"/>
          </a:p>
        </p:txBody>
      </p:sp>
      <p:sp>
        <p:nvSpPr>
          <p:cNvPr id="53" name="Text 50"/>
          <p:cNvSpPr/>
          <p:nvPr/>
        </p:nvSpPr>
        <p:spPr>
          <a:xfrm>
            <a:off x="4210152" y="1656541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54" name="Shape 51"/>
          <p:cNvSpPr/>
          <p:nvPr/>
        </p:nvSpPr>
        <p:spPr>
          <a:xfrm>
            <a:off x="5681765" y="1629752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81765" y="1629752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owning or using the subscription.</a:t>
            </a:r>
            <a:endParaRPr lang="en-US" sz="450" dirty="0"/>
          </a:p>
        </p:txBody>
      </p:sp>
      <p:sp>
        <p:nvSpPr>
          <p:cNvPr id="56" name="Shape 53"/>
          <p:cNvSpPr/>
          <p:nvPr/>
        </p:nvSpPr>
        <p:spPr>
          <a:xfrm>
            <a:off x="303609" y="1845962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46472" y="1881680"/>
            <a:ext cx="22628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msisdn</a:t>
            </a:r>
            <a:endParaRPr lang="en-US" sz="450" dirty="0"/>
          </a:p>
        </p:txBody>
      </p:sp>
      <p:sp>
        <p:nvSpPr>
          <p:cNvPr id="58" name="Shape 55"/>
          <p:cNvSpPr/>
          <p:nvPr/>
        </p:nvSpPr>
        <p:spPr>
          <a:xfrm>
            <a:off x="1584127" y="1845962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626989" y="1869179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60" name="Text 57"/>
          <p:cNvSpPr/>
          <p:nvPr/>
        </p:nvSpPr>
        <p:spPr>
          <a:xfrm>
            <a:off x="1626989" y="1952281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50" dirty="0"/>
          </a:p>
        </p:txBody>
      </p:sp>
      <p:sp>
        <p:nvSpPr>
          <p:cNvPr id="61" name="Shape 58"/>
          <p:cNvSpPr/>
          <p:nvPr/>
        </p:nvSpPr>
        <p:spPr>
          <a:xfrm>
            <a:off x="2693891" y="1842390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693891" y="1842390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63" name="Shape 60"/>
          <p:cNvSpPr/>
          <p:nvPr/>
        </p:nvSpPr>
        <p:spPr>
          <a:xfrm>
            <a:off x="3547570" y="1842390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594004" y="1870965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5" name="Text 62"/>
          <p:cNvSpPr/>
          <p:nvPr/>
        </p:nvSpPr>
        <p:spPr>
          <a:xfrm>
            <a:off x="3594004" y="1870965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6" name="Text 63"/>
          <p:cNvSpPr/>
          <p:nvPr/>
        </p:nvSpPr>
        <p:spPr>
          <a:xfrm>
            <a:off x="3736879" y="1869179"/>
            <a:ext cx="25181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MSISDN</a:t>
            </a:r>
            <a:endParaRPr lang="en-US" sz="450" dirty="0"/>
          </a:p>
        </p:txBody>
      </p:sp>
      <p:sp>
        <p:nvSpPr>
          <p:cNvPr id="67" name="Text 64"/>
          <p:cNvSpPr/>
          <p:nvPr/>
        </p:nvSpPr>
        <p:spPr>
          <a:xfrm>
            <a:off x="4006555" y="1869179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68" name="Shape 65"/>
          <p:cNvSpPr/>
          <p:nvPr/>
        </p:nvSpPr>
        <p:spPr>
          <a:xfrm>
            <a:off x="5681765" y="1842390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81765" y="1842390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Customer-facing mobile number in Egyptian or E.164 format.</a:t>
            </a:r>
            <a:endParaRPr lang="en-US" sz="450" dirty="0"/>
          </a:p>
        </p:txBody>
      </p:sp>
      <p:sp>
        <p:nvSpPr>
          <p:cNvPr id="70" name="Shape 67"/>
          <p:cNvSpPr/>
          <p:nvPr/>
        </p:nvSpPr>
        <p:spPr>
          <a:xfrm>
            <a:off x="303609" y="2058600"/>
            <a:ext cx="1280517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46472" y="2094319"/>
            <a:ext cx="90510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operator_original_prefix</a:t>
            </a:r>
            <a:endParaRPr lang="en-US" sz="450" dirty="0"/>
          </a:p>
        </p:txBody>
      </p:sp>
      <p:sp>
        <p:nvSpPr>
          <p:cNvPr id="72" name="Shape 69"/>
          <p:cNvSpPr/>
          <p:nvPr/>
        </p:nvSpPr>
        <p:spPr>
          <a:xfrm>
            <a:off x="1584127" y="2058600"/>
            <a:ext cx="1109765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626989" y="2081817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74" name="Text 71"/>
          <p:cNvSpPr/>
          <p:nvPr/>
        </p:nvSpPr>
        <p:spPr>
          <a:xfrm>
            <a:off x="1626989" y="2164919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VARCHAR(30)</a:t>
            </a:r>
            <a:endParaRPr lang="en-US" sz="450" dirty="0"/>
          </a:p>
        </p:txBody>
      </p:sp>
      <p:sp>
        <p:nvSpPr>
          <p:cNvPr id="75" name="Shape 72"/>
          <p:cNvSpPr/>
          <p:nvPr/>
        </p:nvSpPr>
        <p:spPr>
          <a:xfrm>
            <a:off x="2693891" y="2055028"/>
            <a:ext cx="426839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693891" y="2055028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77" name="Shape 74"/>
          <p:cNvSpPr/>
          <p:nvPr/>
        </p:nvSpPr>
        <p:spPr>
          <a:xfrm>
            <a:off x="3547570" y="2055028"/>
            <a:ext cx="2134195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594004" y="2083603"/>
            <a:ext cx="273248" cy="78581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9" name="Text 76"/>
          <p:cNvSpPr/>
          <p:nvPr/>
        </p:nvSpPr>
        <p:spPr>
          <a:xfrm>
            <a:off x="3594004" y="2083603"/>
            <a:ext cx="273248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80" name="Shape 77"/>
          <p:cNvSpPr/>
          <p:nvPr/>
        </p:nvSpPr>
        <p:spPr>
          <a:xfrm>
            <a:off x="5681765" y="2055028"/>
            <a:ext cx="3158626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681765" y="2055028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 inferred from original Egyptian prefix; MNP may change actual operator.</a:t>
            </a:r>
            <a:endParaRPr lang="en-US" sz="450" dirty="0"/>
          </a:p>
        </p:txBody>
      </p:sp>
      <p:sp>
        <p:nvSpPr>
          <p:cNvPr id="82" name="Shape 79"/>
          <p:cNvSpPr/>
          <p:nvPr/>
        </p:nvSpPr>
        <p:spPr>
          <a:xfrm>
            <a:off x="303609" y="2271238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46472" y="2306957"/>
            <a:ext cx="15085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</a:t>
            </a:r>
            <a:endParaRPr lang="en-US" sz="450" dirty="0"/>
          </a:p>
        </p:txBody>
      </p:sp>
      <p:sp>
        <p:nvSpPr>
          <p:cNvPr id="84" name="Shape 81"/>
          <p:cNvSpPr/>
          <p:nvPr/>
        </p:nvSpPr>
        <p:spPr>
          <a:xfrm>
            <a:off x="1584127" y="2271238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626989" y="2294455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86" name="Text 83"/>
          <p:cNvSpPr/>
          <p:nvPr/>
        </p:nvSpPr>
        <p:spPr>
          <a:xfrm>
            <a:off x="1626989" y="2377557"/>
            <a:ext cx="30171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CHAR(15)</a:t>
            </a:r>
            <a:endParaRPr lang="en-US" sz="450" dirty="0"/>
          </a:p>
        </p:txBody>
      </p:sp>
      <p:sp>
        <p:nvSpPr>
          <p:cNvPr id="87" name="Shape 84"/>
          <p:cNvSpPr/>
          <p:nvPr/>
        </p:nvSpPr>
        <p:spPr>
          <a:xfrm>
            <a:off x="2693891" y="2267666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693891" y="2267666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89" name="Shape 86"/>
          <p:cNvSpPr/>
          <p:nvPr/>
        </p:nvSpPr>
        <p:spPr>
          <a:xfrm>
            <a:off x="3547570" y="2267666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94004" y="2296241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1" name="Text 88"/>
          <p:cNvSpPr/>
          <p:nvPr/>
        </p:nvSpPr>
        <p:spPr>
          <a:xfrm>
            <a:off x="3594004" y="2296241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2" name="Text 89"/>
          <p:cNvSpPr/>
          <p:nvPr/>
        </p:nvSpPr>
        <p:spPr>
          <a:xfrm>
            <a:off x="3736879" y="2294455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IMSI</a:t>
            </a:r>
            <a:endParaRPr lang="en-US" sz="450" dirty="0"/>
          </a:p>
        </p:txBody>
      </p:sp>
      <p:sp>
        <p:nvSpPr>
          <p:cNvPr id="93" name="Text 90"/>
          <p:cNvSpPr/>
          <p:nvPr/>
        </p:nvSpPr>
        <p:spPr>
          <a:xfrm>
            <a:off x="3890470" y="2294455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94" name="Shape 91"/>
          <p:cNvSpPr/>
          <p:nvPr/>
        </p:nvSpPr>
        <p:spPr>
          <a:xfrm>
            <a:off x="5681765" y="2267666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681765" y="2267666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subscriber identity used in mobile networks.</a:t>
            </a:r>
            <a:endParaRPr lang="en-US" sz="450" dirty="0"/>
          </a:p>
        </p:txBody>
      </p:sp>
      <p:sp>
        <p:nvSpPr>
          <p:cNvPr id="96" name="Shape 93"/>
          <p:cNvSpPr/>
          <p:nvPr/>
        </p:nvSpPr>
        <p:spPr>
          <a:xfrm>
            <a:off x="303609" y="2483876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46472" y="2519595"/>
            <a:ext cx="18858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</a:t>
            </a:r>
            <a:endParaRPr lang="en-US" sz="450" dirty="0"/>
          </a:p>
        </p:txBody>
      </p:sp>
      <p:sp>
        <p:nvSpPr>
          <p:cNvPr id="98" name="Shape 95"/>
          <p:cNvSpPr/>
          <p:nvPr/>
        </p:nvSpPr>
        <p:spPr>
          <a:xfrm>
            <a:off x="1584127" y="2483876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626989" y="2507093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00" name="Text 97"/>
          <p:cNvSpPr/>
          <p:nvPr/>
        </p:nvSpPr>
        <p:spPr>
          <a:xfrm>
            <a:off x="1626989" y="2590195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VARCHAR(22)</a:t>
            </a:r>
            <a:endParaRPr lang="en-US" sz="450" dirty="0"/>
          </a:p>
        </p:txBody>
      </p:sp>
      <p:sp>
        <p:nvSpPr>
          <p:cNvPr id="101" name="Shape 98"/>
          <p:cNvSpPr/>
          <p:nvPr/>
        </p:nvSpPr>
        <p:spPr>
          <a:xfrm>
            <a:off x="2693891" y="2480304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693891" y="2480304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103" name="Shape 100"/>
          <p:cNvSpPr/>
          <p:nvPr/>
        </p:nvSpPr>
        <p:spPr>
          <a:xfrm>
            <a:off x="3547570" y="2480304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594004" y="2508879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5" name="Text 102"/>
          <p:cNvSpPr/>
          <p:nvPr/>
        </p:nvSpPr>
        <p:spPr>
          <a:xfrm>
            <a:off x="3594004" y="2508879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6" name="Text 103"/>
          <p:cNvSpPr/>
          <p:nvPr/>
        </p:nvSpPr>
        <p:spPr>
          <a:xfrm>
            <a:off x="3736879" y="2507093"/>
            <a:ext cx="173236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ICCID</a:t>
            </a:r>
            <a:endParaRPr lang="en-US" sz="450" dirty="0"/>
          </a:p>
        </p:txBody>
      </p:sp>
      <p:sp>
        <p:nvSpPr>
          <p:cNvPr id="107" name="Text 104"/>
          <p:cNvSpPr/>
          <p:nvPr/>
        </p:nvSpPr>
        <p:spPr>
          <a:xfrm>
            <a:off x="3927974" y="2507093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108" name="Shape 105"/>
          <p:cNvSpPr/>
          <p:nvPr/>
        </p:nvSpPr>
        <p:spPr>
          <a:xfrm>
            <a:off x="5681765" y="2480304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681765" y="2480304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card serial number.</a:t>
            </a:r>
            <a:endParaRPr lang="en-US" sz="450" dirty="0"/>
          </a:p>
        </p:txBody>
      </p:sp>
      <p:sp>
        <p:nvSpPr>
          <p:cNvPr id="110" name="Shape 107"/>
          <p:cNvSpPr/>
          <p:nvPr/>
        </p:nvSpPr>
        <p:spPr>
          <a:xfrm>
            <a:off x="303609" y="2696514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346472" y="2732233"/>
            <a:ext cx="26398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sim_pin</a:t>
            </a:r>
            <a:endParaRPr lang="en-US" sz="450" dirty="0"/>
          </a:p>
        </p:txBody>
      </p:sp>
      <p:sp>
        <p:nvSpPr>
          <p:cNvPr id="112" name="Shape 109"/>
          <p:cNvSpPr/>
          <p:nvPr/>
        </p:nvSpPr>
        <p:spPr>
          <a:xfrm>
            <a:off x="1584127" y="2696514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626989" y="2719732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14" name="Text 111"/>
          <p:cNvSpPr/>
          <p:nvPr/>
        </p:nvSpPr>
        <p:spPr>
          <a:xfrm>
            <a:off x="1626989" y="2802834"/>
            <a:ext cx="3771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VARCHAR(8)</a:t>
            </a:r>
            <a:endParaRPr lang="en-US" sz="450" dirty="0"/>
          </a:p>
        </p:txBody>
      </p:sp>
      <p:sp>
        <p:nvSpPr>
          <p:cNvPr id="115" name="Shape 112"/>
          <p:cNvSpPr/>
          <p:nvPr/>
        </p:nvSpPr>
        <p:spPr>
          <a:xfrm>
            <a:off x="2693891" y="2692943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2693891" y="2692943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17" name="Shape 114"/>
          <p:cNvSpPr/>
          <p:nvPr/>
        </p:nvSpPr>
        <p:spPr>
          <a:xfrm>
            <a:off x="3547570" y="2692943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594004" y="2721518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9" name="Text 116"/>
          <p:cNvSpPr/>
          <p:nvPr/>
        </p:nvSpPr>
        <p:spPr>
          <a:xfrm>
            <a:off x="3594004" y="2721518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0" name="Text 117"/>
          <p:cNvSpPr/>
          <p:nvPr/>
        </p:nvSpPr>
        <p:spPr>
          <a:xfrm>
            <a:off x="3736879" y="2719732"/>
            <a:ext cx="46255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PIN_CODE_SIM</a:t>
            </a:r>
            <a:endParaRPr lang="en-US" sz="450" dirty="0"/>
          </a:p>
        </p:txBody>
      </p:sp>
      <p:sp>
        <p:nvSpPr>
          <p:cNvPr id="121" name="Text 118"/>
          <p:cNvSpPr/>
          <p:nvPr/>
        </p:nvSpPr>
        <p:spPr>
          <a:xfrm>
            <a:off x="4217296" y="2719732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122" name="Shape 119"/>
          <p:cNvSpPr/>
          <p:nvPr/>
        </p:nvSpPr>
        <p:spPr>
          <a:xfrm>
            <a:off x="5681765" y="2692943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5681765" y="2692943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PIN if captured in operational support context; should normally not be stored.</a:t>
            </a:r>
            <a:endParaRPr lang="en-US" sz="450" dirty="0"/>
          </a:p>
        </p:txBody>
      </p:sp>
      <p:sp>
        <p:nvSpPr>
          <p:cNvPr id="124" name="Shape 121"/>
          <p:cNvSpPr/>
          <p:nvPr/>
        </p:nvSpPr>
        <p:spPr>
          <a:xfrm>
            <a:off x="303609" y="2909153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46472" y="2944871"/>
            <a:ext cx="30171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puk_code</a:t>
            </a:r>
            <a:endParaRPr lang="en-US" sz="450" dirty="0"/>
          </a:p>
        </p:txBody>
      </p:sp>
      <p:sp>
        <p:nvSpPr>
          <p:cNvPr id="126" name="Shape 123"/>
          <p:cNvSpPr/>
          <p:nvPr/>
        </p:nvSpPr>
        <p:spPr>
          <a:xfrm>
            <a:off x="1584127" y="2909153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1626989" y="2932370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28" name="Text 125"/>
          <p:cNvSpPr/>
          <p:nvPr/>
        </p:nvSpPr>
        <p:spPr>
          <a:xfrm>
            <a:off x="1626989" y="3015472"/>
            <a:ext cx="26398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CHAR(8)</a:t>
            </a:r>
            <a:endParaRPr lang="en-US" sz="450" dirty="0"/>
          </a:p>
        </p:txBody>
      </p:sp>
      <p:sp>
        <p:nvSpPr>
          <p:cNvPr id="129" name="Shape 126"/>
          <p:cNvSpPr/>
          <p:nvPr/>
        </p:nvSpPr>
        <p:spPr>
          <a:xfrm>
            <a:off x="2693891" y="2905581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2693891" y="2905581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31" name="Shape 128"/>
          <p:cNvSpPr/>
          <p:nvPr/>
        </p:nvSpPr>
        <p:spPr>
          <a:xfrm>
            <a:off x="3547570" y="2905581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3594004" y="2934156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3" name="Text 130"/>
          <p:cNvSpPr/>
          <p:nvPr/>
        </p:nvSpPr>
        <p:spPr>
          <a:xfrm>
            <a:off x="3594004" y="2934156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4" name="Text 131"/>
          <p:cNvSpPr/>
          <p:nvPr/>
        </p:nvSpPr>
        <p:spPr>
          <a:xfrm>
            <a:off x="3736879" y="2932370"/>
            <a:ext cx="33932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PUK_CODE</a:t>
            </a:r>
            <a:endParaRPr lang="en-US" sz="450" dirty="0"/>
          </a:p>
        </p:txBody>
      </p:sp>
      <p:sp>
        <p:nvSpPr>
          <p:cNvPr id="135" name="Text 132"/>
          <p:cNvSpPr/>
          <p:nvPr/>
        </p:nvSpPr>
        <p:spPr>
          <a:xfrm>
            <a:off x="4094066" y="2932370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136" name="Shape 133"/>
          <p:cNvSpPr/>
          <p:nvPr/>
        </p:nvSpPr>
        <p:spPr>
          <a:xfrm>
            <a:off x="5681765" y="2905581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5681765" y="2905581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 Unlock Key.</a:t>
            </a:r>
            <a:endParaRPr lang="en-US" sz="450" dirty="0"/>
          </a:p>
        </p:txBody>
      </p:sp>
      <p:sp>
        <p:nvSpPr>
          <p:cNvPr id="138" name="Shape 135"/>
          <p:cNvSpPr/>
          <p:nvPr/>
        </p:nvSpPr>
        <p:spPr>
          <a:xfrm>
            <a:off x="303609" y="3121791"/>
            <a:ext cx="1280517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46472" y="3157510"/>
            <a:ext cx="56569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activation_date</a:t>
            </a:r>
            <a:endParaRPr lang="en-US" sz="450" dirty="0"/>
          </a:p>
        </p:txBody>
      </p:sp>
      <p:sp>
        <p:nvSpPr>
          <p:cNvPr id="140" name="Shape 137"/>
          <p:cNvSpPr/>
          <p:nvPr/>
        </p:nvSpPr>
        <p:spPr>
          <a:xfrm>
            <a:off x="1584127" y="3121791"/>
            <a:ext cx="1109765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626989" y="3145008"/>
            <a:ext cx="13394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450" dirty="0"/>
          </a:p>
        </p:txBody>
      </p:sp>
      <p:sp>
        <p:nvSpPr>
          <p:cNvPr id="142" name="Text 139"/>
          <p:cNvSpPr/>
          <p:nvPr/>
        </p:nvSpPr>
        <p:spPr>
          <a:xfrm>
            <a:off x="1626989" y="3228110"/>
            <a:ext cx="15085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450" dirty="0"/>
          </a:p>
        </p:txBody>
      </p:sp>
      <p:sp>
        <p:nvSpPr>
          <p:cNvPr id="143" name="Shape 140"/>
          <p:cNvSpPr/>
          <p:nvPr/>
        </p:nvSpPr>
        <p:spPr>
          <a:xfrm>
            <a:off x="2693891" y="3118219"/>
            <a:ext cx="426839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2693891" y="3118219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45" name="Shape 142"/>
          <p:cNvSpPr/>
          <p:nvPr/>
        </p:nvSpPr>
        <p:spPr>
          <a:xfrm>
            <a:off x="3547570" y="3118219"/>
            <a:ext cx="2134195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3594004" y="3146794"/>
            <a:ext cx="273248" cy="78581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7" name="Text 144"/>
          <p:cNvSpPr/>
          <p:nvPr/>
        </p:nvSpPr>
        <p:spPr>
          <a:xfrm>
            <a:off x="3594004" y="3146794"/>
            <a:ext cx="273248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48" name="Shape 145"/>
          <p:cNvSpPr/>
          <p:nvPr/>
        </p:nvSpPr>
        <p:spPr>
          <a:xfrm>
            <a:off x="5681765" y="3118219"/>
            <a:ext cx="3158626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5681765" y="3118219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activation date.</a:t>
            </a:r>
            <a:endParaRPr lang="en-US" sz="450" dirty="0"/>
          </a:p>
        </p:txBody>
      </p:sp>
      <p:sp>
        <p:nvSpPr>
          <p:cNvPr id="150" name="Shape 147"/>
          <p:cNvSpPr/>
          <p:nvPr/>
        </p:nvSpPr>
        <p:spPr>
          <a:xfrm>
            <a:off x="303609" y="3334429"/>
            <a:ext cx="1280517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342900" y="3370148"/>
            <a:ext cx="22628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450" dirty="0"/>
          </a:p>
        </p:txBody>
      </p:sp>
      <p:sp>
        <p:nvSpPr>
          <p:cNvPr id="152" name="Shape 149"/>
          <p:cNvSpPr/>
          <p:nvPr/>
        </p:nvSpPr>
        <p:spPr>
          <a:xfrm>
            <a:off x="1581085" y="3334429"/>
            <a:ext cx="1110239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1623947" y="3357646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54" name="Text 151"/>
          <p:cNvSpPr/>
          <p:nvPr/>
        </p:nvSpPr>
        <p:spPr>
          <a:xfrm>
            <a:off x="1623947" y="3440748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50" dirty="0"/>
          </a:p>
        </p:txBody>
      </p:sp>
      <p:sp>
        <p:nvSpPr>
          <p:cNvPr id="155" name="Shape 152"/>
          <p:cNvSpPr/>
          <p:nvPr/>
        </p:nvSpPr>
        <p:spPr>
          <a:xfrm>
            <a:off x="2691324" y="3330857"/>
            <a:ext cx="427006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2691324" y="3330857"/>
            <a:ext cx="427006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57" name="Shape 154"/>
          <p:cNvSpPr/>
          <p:nvPr/>
        </p:nvSpPr>
        <p:spPr>
          <a:xfrm>
            <a:off x="3545337" y="3330857"/>
            <a:ext cx="2135088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591771" y="3359432"/>
            <a:ext cx="273248" cy="78581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59" name="Text 156"/>
          <p:cNvSpPr/>
          <p:nvPr/>
        </p:nvSpPr>
        <p:spPr>
          <a:xfrm>
            <a:off x="3591771" y="3359432"/>
            <a:ext cx="273248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60" name="Shape 157"/>
          <p:cNvSpPr/>
          <p:nvPr/>
        </p:nvSpPr>
        <p:spPr>
          <a:xfrm>
            <a:off x="5680425" y="3330857"/>
            <a:ext cx="3159965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5680425" y="3330857"/>
            <a:ext cx="3159965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Active, suspended, terminated, or ported.</a:t>
            </a:r>
            <a:endParaRPr lang="en-US" sz="450" dirty="0"/>
          </a:p>
        </p:txBody>
      </p:sp>
      <p:sp>
        <p:nvSpPr>
          <p:cNvPr id="162" name="Text 159"/>
          <p:cNvSpPr/>
          <p:nvPr/>
        </p:nvSpPr>
        <p:spPr>
          <a:xfrm>
            <a:off x="300038" y="3632792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63" name="Text 160"/>
          <p:cNvSpPr/>
          <p:nvPr/>
        </p:nvSpPr>
        <p:spPr>
          <a:xfrm>
            <a:off x="7688461" y="3632792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telco_device_and_cpe_inventory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286750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device and CPE inventory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Tracks handset, router, ONT, and eSIM/device identifiers associated with subscribers and fixed broadband customers. Granularity: one row per 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customer-associated device or CPE asset.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487561" cy="164306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48756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844748" y="1009724"/>
            <a:ext cx="596503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4748" y="1009724"/>
            <a:ext cx="596503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10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498402" y="1009724"/>
            <a:ext cx="325041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98402" y="1009724"/>
            <a:ext cx="32504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9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1880592" y="1009724"/>
            <a:ext cx="492919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80592" y="1009724"/>
            <a:ext cx="492919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7615"/>
            <a:ext cx="1280517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7615"/>
            <a:ext cx="1280517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7615"/>
            <a:ext cx="110976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7615"/>
            <a:ext cx="110976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761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761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761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761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7615"/>
            <a:ext cx="213419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7615"/>
            <a:ext cx="213419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7615"/>
            <a:ext cx="3158626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7615"/>
            <a:ext cx="3158626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420685"/>
            <a:ext cx="1280517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56404"/>
            <a:ext cx="56569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device_asset_id</a:t>
            </a:r>
            <a:endParaRPr lang="en-US" sz="450" dirty="0"/>
          </a:p>
        </p:txBody>
      </p:sp>
      <p:sp>
        <p:nvSpPr>
          <p:cNvPr id="28" name="Shape 25"/>
          <p:cNvSpPr/>
          <p:nvPr/>
        </p:nvSpPr>
        <p:spPr>
          <a:xfrm>
            <a:off x="1584127" y="1420685"/>
            <a:ext cx="1109765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47474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30" name="Text 27"/>
          <p:cNvSpPr/>
          <p:nvPr/>
        </p:nvSpPr>
        <p:spPr>
          <a:xfrm>
            <a:off x="1626989" y="1530576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31" name="Shape 28"/>
          <p:cNvSpPr/>
          <p:nvPr/>
        </p:nvSpPr>
        <p:spPr>
          <a:xfrm>
            <a:off x="2693891" y="1420685"/>
            <a:ext cx="426839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42068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33" name="Shape 30"/>
          <p:cNvSpPr/>
          <p:nvPr/>
        </p:nvSpPr>
        <p:spPr>
          <a:xfrm>
            <a:off x="3120730" y="1420685"/>
            <a:ext cx="426839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42068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50" dirty="0"/>
          </a:p>
        </p:txBody>
      </p:sp>
      <p:sp>
        <p:nvSpPr>
          <p:cNvPr id="35" name="Shape 32"/>
          <p:cNvSpPr/>
          <p:nvPr/>
        </p:nvSpPr>
        <p:spPr>
          <a:xfrm>
            <a:off x="3547570" y="1420685"/>
            <a:ext cx="2134195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49260"/>
            <a:ext cx="273248" cy="78581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49260"/>
            <a:ext cx="273248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38" name="Shape 35"/>
          <p:cNvSpPr/>
          <p:nvPr/>
        </p:nvSpPr>
        <p:spPr>
          <a:xfrm>
            <a:off x="5681765" y="1420685"/>
            <a:ext cx="3158626" cy="21621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81765" y="1420685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asset key.</a:t>
            </a:r>
            <a:endParaRPr lang="en-US" sz="450" dirty="0"/>
          </a:p>
        </p:txBody>
      </p:sp>
      <p:sp>
        <p:nvSpPr>
          <p:cNvPr id="40" name="Shape 37"/>
          <p:cNvSpPr/>
          <p:nvPr/>
        </p:nvSpPr>
        <p:spPr>
          <a:xfrm>
            <a:off x="303609" y="1633324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46472" y="1669042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450" dirty="0"/>
          </a:p>
        </p:txBody>
      </p:sp>
      <p:sp>
        <p:nvSpPr>
          <p:cNvPr id="42" name="Shape 39"/>
          <p:cNvSpPr/>
          <p:nvPr/>
        </p:nvSpPr>
        <p:spPr>
          <a:xfrm>
            <a:off x="1584127" y="1633324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26989" y="1656541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44" name="Text 41"/>
          <p:cNvSpPr/>
          <p:nvPr/>
        </p:nvSpPr>
        <p:spPr>
          <a:xfrm>
            <a:off x="1626989" y="1739643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45" name="Shape 42"/>
          <p:cNvSpPr/>
          <p:nvPr/>
        </p:nvSpPr>
        <p:spPr>
          <a:xfrm>
            <a:off x="2693891" y="1629752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693891" y="1629752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47" name="Shape 44"/>
          <p:cNvSpPr/>
          <p:nvPr/>
        </p:nvSpPr>
        <p:spPr>
          <a:xfrm>
            <a:off x="3547570" y="1629752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594004" y="1658327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9" name="Text 46"/>
          <p:cNvSpPr/>
          <p:nvPr/>
        </p:nvSpPr>
        <p:spPr>
          <a:xfrm>
            <a:off x="3594004" y="1658327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0" name="Text 47"/>
          <p:cNvSpPr/>
          <p:nvPr/>
        </p:nvSpPr>
        <p:spPr>
          <a:xfrm>
            <a:off x="3736879" y="1656541"/>
            <a:ext cx="455414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CUSTOMER_ID</a:t>
            </a:r>
            <a:endParaRPr lang="en-US" sz="450" dirty="0"/>
          </a:p>
        </p:txBody>
      </p:sp>
      <p:sp>
        <p:nvSpPr>
          <p:cNvPr id="51" name="Text 48"/>
          <p:cNvSpPr/>
          <p:nvPr/>
        </p:nvSpPr>
        <p:spPr>
          <a:xfrm>
            <a:off x="4210152" y="1656541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52" name="Shape 49"/>
          <p:cNvSpPr/>
          <p:nvPr/>
        </p:nvSpPr>
        <p:spPr>
          <a:xfrm>
            <a:off x="5681765" y="1629752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81765" y="1629752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linked to the device.</a:t>
            </a:r>
            <a:endParaRPr lang="en-US" sz="450" dirty="0"/>
          </a:p>
        </p:txBody>
      </p:sp>
      <p:sp>
        <p:nvSpPr>
          <p:cNvPr id="54" name="Shape 51"/>
          <p:cNvSpPr/>
          <p:nvPr/>
        </p:nvSpPr>
        <p:spPr>
          <a:xfrm>
            <a:off x="303609" y="1845962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46472" y="1881680"/>
            <a:ext cx="56569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subscription_id</a:t>
            </a:r>
            <a:endParaRPr lang="en-US" sz="450" dirty="0"/>
          </a:p>
        </p:txBody>
      </p:sp>
      <p:sp>
        <p:nvSpPr>
          <p:cNvPr id="56" name="Shape 53"/>
          <p:cNvSpPr/>
          <p:nvPr/>
        </p:nvSpPr>
        <p:spPr>
          <a:xfrm>
            <a:off x="1584127" y="1845962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626989" y="1869179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58" name="Text 55"/>
          <p:cNvSpPr/>
          <p:nvPr/>
        </p:nvSpPr>
        <p:spPr>
          <a:xfrm>
            <a:off x="1626989" y="1952281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59" name="Shape 56"/>
          <p:cNvSpPr/>
          <p:nvPr/>
        </p:nvSpPr>
        <p:spPr>
          <a:xfrm>
            <a:off x="2693891" y="1842390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693891" y="1842390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61" name="Shape 58"/>
          <p:cNvSpPr/>
          <p:nvPr/>
        </p:nvSpPr>
        <p:spPr>
          <a:xfrm>
            <a:off x="3547570" y="1842390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594004" y="1870965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3" name="Text 60"/>
          <p:cNvSpPr/>
          <p:nvPr/>
        </p:nvSpPr>
        <p:spPr>
          <a:xfrm>
            <a:off x="3594004" y="1870965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4" name="Text 61"/>
          <p:cNvSpPr/>
          <p:nvPr/>
        </p:nvSpPr>
        <p:spPr>
          <a:xfrm>
            <a:off x="3736879" y="1869179"/>
            <a:ext cx="48934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SUBSCRIBER_ID</a:t>
            </a:r>
            <a:endParaRPr lang="en-US" sz="450" dirty="0"/>
          </a:p>
        </p:txBody>
      </p:sp>
      <p:sp>
        <p:nvSpPr>
          <p:cNvPr id="65" name="Text 62"/>
          <p:cNvSpPr/>
          <p:nvPr/>
        </p:nvSpPr>
        <p:spPr>
          <a:xfrm>
            <a:off x="4244085" y="1869179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66" name="Shape 63"/>
          <p:cNvSpPr/>
          <p:nvPr/>
        </p:nvSpPr>
        <p:spPr>
          <a:xfrm>
            <a:off x="5681765" y="1842390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681765" y="1842390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linked to the device.</a:t>
            </a:r>
            <a:endParaRPr lang="en-US" sz="450" dirty="0"/>
          </a:p>
        </p:txBody>
      </p:sp>
      <p:sp>
        <p:nvSpPr>
          <p:cNvPr id="68" name="Shape 65"/>
          <p:cNvSpPr/>
          <p:nvPr/>
        </p:nvSpPr>
        <p:spPr>
          <a:xfrm>
            <a:off x="303609" y="2058600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46472" y="2094319"/>
            <a:ext cx="15085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imei</a:t>
            </a:r>
            <a:endParaRPr lang="en-US" sz="450" dirty="0"/>
          </a:p>
        </p:txBody>
      </p:sp>
      <p:sp>
        <p:nvSpPr>
          <p:cNvPr id="70" name="Shape 67"/>
          <p:cNvSpPr/>
          <p:nvPr/>
        </p:nvSpPr>
        <p:spPr>
          <a:xfrm>
            <a:off x="1584127" y="2058600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626989" y="2081817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72" name="Text 69"/>
          <p:cNvSpPr/>
          <p:nvPr/>
        </p:nvSpPr>
        <p:spPr>
          <a:xfrm>
            <a:off x="1626989" y="2164919"/>
            <a:ext cx="30171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CHAR(15)</a:t>
            </a:r>
            <a:endParaRPr lang="en-US" sz="450" dirty="0"/>
          </a:p>
        </p:txBody>
      </p:sp>
      <p:sp>
        <p:nvSpPr>
          <p:cNvPr id="73" name="Shape 70"/>
          <p:cNvSpPr/>
          <p:nvPr/>
        </p:nvSpPr>
        <p:spPr>
          <a:xfrm>
            <a:off x="2693891" y="2055028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693891" y="2055028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75" name="Shape 72"/>
          <p:cNvSpPr/>
          <p:nvPr/>
        </p:nvSpPr>
        <p:spPr>
          <a:xfrm>
            <a:off x="3547570" y="2055028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594004" y="2083603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7" name="Text 74"/>
          <p:cNvSpPr/>
          <p:nvPr/>
        </p:nvSpPr>
        <p:spPr>
          <a:xfrm>
            <a:off x="3594004" y="2083603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78" name="Text 75"/>
          <p:cNvSpPr/>
          <p:nvPr/>
        </p:nvSpPr>
        <p:spPr>
          <a:xfrm>
            <a:off x="3736879" y="2081817"/>
            <a:ext cx="132159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IMEI</a:t>
            </a:r>
            <a:endParaRPr lang="en-US" sz="450" dirty="0"/>
          </a:p>
        </p:txBody>
      </p:sp>
      <p:sp>
        <p:nvSpPr>
          <p:cNvPr id="79" name="Text 76"/>
          <p:cNvSpPr/>
          <p:nvPr/>
        </p:nvSpPr>
        <p:spPr>
          <a:xfrm>
            <a:off x="3886898" y="2081817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80" name="Shape 77"/>
          <p:cNvSpPr/>
          <p:nvPr/>
        </p:nvSpPr>
        <p:spPr>
          <a:xfrm>
            <a:off x="5681765" y="2055028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681765" y="2055028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equipment identifier; validate with Luhn where possible.</a:t>
            </a:r>
            <a:endParaRPr lang="en-US" sz="450" dirty="0"/>
          </a:p>
        </p:txBody>
      </p:sp>
      <p:sp>
        <p:nvSpPr>
          <p:cNvPr id="82" name="Shape 79"/>
          <p:cNvSpPr/>
          <p:nvPr/>
        </p:nvSpPr>
        <p:spPr>
          <a:xfrm>
            <a:off x="303609" y="2271238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46472" y="2306957"/>
            <a:ext cx="22628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imeisv</a:t>
            </a:r>
            <a:endParaRPr lang="en-US" sz="450" dirty="0"/>
          </a:p>
        </p:txBody>
      </p:sp>
      <p:sp>
        <p:nvSpPr>
          <p:cNvPr id="84" name="Shape 81"/>
          <p:cNvSpPr/>
          <p:nvPr/>
        </p:nvSpPr>
        <p:spPr>
          <a:xfrm>
            <a:off x="1584127" y="2271238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626989" y="2294455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86" name="Text 83"/>
          <p:cNvSpPr/>
          <p:nvPr/>
        </p:nvSpPr>
        <p:spPr>
          <a:xfrm>
            <a:off x="1626989" y="2377557"/>
            <a:ext cx="30171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CHAR(16)</a:t>
            </a:r>
            <a:endParaRPr lang="en-US" sz="450" dirty="0"/>
          </a:p>
        </p:txBody>
      </p:sp>
      <p:sp>
        <p:nvSpPr>
          <p:cNvPr id="87" name="Shape 84"/>
          <p:cNvSpPr/>
          <p:nvPr/>
        </p:nvSpPr>
        <p:spPr>
          <a:xfrm>
            <a:off x="2693891" y="2267666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693891" y="2267666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89" name="Shape 86"/>
          <p:cNvSpPr/>
          <p:nvPr/>
        </p:nvSpPr>
        <p:spPr>
          <a:xfrm>
            <a:off x="3547570" y="2267666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94004" y="2296241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1" name="Text 88"/>
          <p:cNvSpPr/>
          <p:nvPr/>
        </p:nvSpPr>
        <p:spPr>
          <a:xfrm>
            <a:off x="3594004" y="2296241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2" name="Text 89"/>
          <p:cNvSpPr/>
          <p:nvPr/>
        </p:nvSpPr>
        <p:spPr>
          <a:xfrm>
            <a:off x="3736879" y="2294455"/>
            <a:ext cx="221456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IMEISV</a:t>
            </a:r>
            <a:endParaRPr lang="en-US" sz="450" dirty="0"/>
          </a:p>
        </p:txBody>
      </p:sp>
      <p:sp>
        <p:nvSpPr>
          <p:cNvPr id="93" name="Text 90"/>
          <p:cNvSpPr/>
          <p:nvPr/>
        </p:nvSpPr>
        <p:spPr>
          <a:xfrm>
            <a:off x="3976195" y="2294455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94" name="Shape 91"/>
          <p:cNvSpPr/>
          <p:nvPr/>
        </p:nvSpPr>
        <p:spPr>
          <a:xfrm>
            <a:off x="5681765" y="2267666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681765" y="2267666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IMEI plus software version.</a:t>
            </a:r>
            <a:endParaRPr lang="en-US" sz="450" dirty="0"/>
          </a:p>
        </p:txBody>
      </p:sp>
      <p:sp>
        <p:nvSpPr>
          <p:cNvPr id="96" name="Shape 93"/>
          <p:cNvSpPr/>
          <p:nvPr/>
        </p:nvSpPr>
        <p:spPr>
          <a:xfrm>
            <a:off x="303609" y="2483876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46472" y="2519595"/>
            <a:ext cx="60339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embedded_sim_eid</a:t>
            </a:r>
            <a:endParaRPr lang="en-US" sz="450" dirty="0"/>
          </a:p>
        </p:txBody>
      </p:sp>
      <p:sp>
        <p:nvSpPr>
          <p:cNvPr id="98" name="Shape 95"/>
          <p:cNvSpPr/>
          <p:nvPr/>
        </p:nvSpPr>
        <p:spPr>
          <a:xfrm>
            <a:off x="1584127" y="2483876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626989" y="2507093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00" name="Text 97"/>
          <p:cNvSpPr/>
          <p:nvPr/>
        </p:nvSpPr>
        <p:spPr>
          <a:xfrm>
            <a:off x="1626989" y="2590195"/>
            <a:ext cx="30171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CHAR(32)</a:t>
            </a:r>
            <a:endParaRPr lang="en-US" sz="450" dirty="0"/>
          </a:p>
        </p:txBody>
      </p:sp>
      <p:sp>
        <p:nvSpPr>
          <p:cNvPr id="101" name="Shape 98"/>
          <p:cNvSpPr/>
          <p:nvPr/>
        </p:nvSpPr>
        <p:spPr>
          <a:xfrm>
            <a:off x="2693891" y="2480304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693891" y="2480304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03" name="Shape 100"/>
          <p:cNvSpPr/>
          <p:nvPr/>
        </p:nvSpPr>
        <p:spPr>
          <a:xfrm>
            <a:off x="3547570" y="2480304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594004" y="2508879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5" name="Text 102"/>
          <p:cNvSpPr/>
          <p:nvPr/>
        </p:nvSpPr>
        <p:spPr>
          <a:xfrm>
            <a:off x="3594004" y="2508879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6" name="Text 103"/>
          <p:cNvSpPr/>
          <p:nvPr/>
        </p:nvSpPr>
        <p:spPr>
          <a:xfrm>
            <a:off x="3736879" y="2507093"/>
            <a:ext cx="626864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EMBEDDED_SIM_EID</a:t>
            </a:r>
            <a:endParaRPr lang="en-US" sz="450" dirty="0"/>
          </a:p>
        </p:txBody>
      </p:sp>
      <p:sp>
        <p:nvSpPr>
          <p:cNvPr id="107" name="Text 104"/>
          <p:cNvSpPr/>
          <p:nvPr/>
        </p:nvSpPr>
        <p:spPr>
          <a:xfrm>
            <a:off x="4381602" y="2507093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108" name="Shape 105"/>
          <p:cNvSpPr/>
          <p:nvPr/>
        </p:nvSpPr>
        <p:spPr>
          <a:xfrm>
            <a:off x="5681765" y="2480304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681765" y="2480304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SIM identifier.</a:t>
            </a:r>
            <a:endParaRPr lang="en-US" sz="450" dirty="0"/>
          </a:p>
        </p:txBody>
      </p:sp>
      <p:sp>
        <p:nvSpPr>
          <p:cNvPr id="110" name="Shape 107"/>
          <p:cNvSpPr/>
          <p:nvPr/>
        </p:nvSpPr>
        <p:spPr>
          <a:xfrm>
            <a:off x="303609" y="2696514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346472" y="2732233"/>
            <a:ext cx="4902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router_serial</a:t>
            </a:r>
            <a:endParaRPr lang="en-US" sz="450" dirty="0"/>
          </a:p>
        </p:txBody>
      </p:sp>
      <p:sp>
        <p:nvSpPr>
          <p:cNvPr id="112" name="Shape 109"/>
          <p:cNvSpPr/>
          <p:nvPr/>
        </p:nvSpPr>
        <p:spPr>
          <a:xfrm>
            <a:off x="1584127" y="2696514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626989" y="2719732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14" name="Text 111"/>
          <p:cNvSpPr/>
          <p:nvPr/>
        </p:nvSpPr>
        <p:spPr>
          <a:xfrm>
            <a:off x="1626989" y="2802834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VARCHAR(30)</a:t>
            </a:r>
            <a:endParaRPr lang="en-US" sz="450" dirty="0"/>
          </a:p>
        </p:txBody>
      </p:sp>
      <p:sp>
        <p:nvSpPr>
          <p:cNvPr id="115" name="Shape 112"/>
          <p:cNvSpPr/>
          <p:nvPr/>
        </p:nvSpPr>
        <p:spPr>
          <a:xfrm>
            <a:off x="2693891" y="2692943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2693891" y="2692943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17" name="Shape 114"/>
          <p:cNvSpPr/>
          <p:nvPr/>
        </p:nvSpPr>
        <p:spPr>
          <a:xfrm>
            <a:off x="3547570" y="2692943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594004" y="2721518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9" name="Text 116"/>
          <p:cNvSpPr/>
          <p:nvPr/>
        </p:nvSpPr>
        <p:spPr>
          <a:xfrm>
            <a:off x="3594004" y="2721518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0" name="Text 117"/>
          <p:cNvSpPr/>
          <p:nvPr/>
        </p:nvSpPr>
        <p:spPr>
          <a:xfrm>
            <a:off x="3736879" y="2719732"/>
            <a:ext cx="912614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ROUTER_SERIAL_ALPHANUM</a:t>
            </a:r>
            <a:endParaRPr lang="en-US" sz="450" dirty="0"/>
          </a:p>
        </p:txBody>
      </p:sp>
      <p:sp>
        <p:nvSpPr>
          <p:cNvPr id="121" name="Text 118"/>
          <p:cNvSpPr/>
          <p:nvPr/>
        </p:nvSpPr>
        <p:spPr>
          <a:xfrm>
            <a:off x="4667352" y="2719732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122" name="Shape 119"/>
          <p:cNvSpPr/>
          <p:nvPr/>
        </p:nvSpPr>
        <p:spPr>
          <a:xfrm>
            <a:off x="5681765" y="2692943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5681765" y="2692943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premises router serial number.</a:t>
            </a:r>
            <a:endParaRPr lang="en-US" sz="450" dirty="0"/>
          </a:p>
        </p:txBody>
      </p:sp>
      <p:sp>
        <p:nvSpPr>
          <p:cNvPr id="124" name="Shape 121"/>
          <p:cNvSpPr/>
          <p:nvPr/>
        </p:nvSpPr>
        <p:spPr>
          <a:xfrm>
            <a:off x="303609" y="2909153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46472" y="2944871"/>
            <a:ext cx="3771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ont_serial</a:t>
            </a:r>
            <a:endParaRPr lang="en-US" sz="450" dirty="0"/>
          </a:p>
        </p:txBody>
      </p:sp>
      <p:sp>
        <p:nvSpPr>
          <p:cNvPr id="126" name="Shape 123"/>
          <p:cNvSpPr/>
          <p:nvPr/>
        </p:nvSpPr>
        <p:spPr>
          <a:xfrm>
            <a:off x="1584127" y="2909153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1626989" y="2932370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28" name="Text 125"/>
          <p:cNvSpPr/>
          <p:nvPr/>
        </p:nvSpPr>
        <p:spPr>
          <a:xfrm>
            <a:off x="1626989" y="3015472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50" dirty="0"/>
          </a:p>
        </p:txBody>
      </p:sp>
      <p:sp>
        <p:nvSpPr>
          <p:cNvPr id="129" name="Shape 126"/>
          <p:cNvSpPr/>
          <p:nvPr/>
        </p:nvSpPr>
        <p:spPr>
          <a:xfrm>
            <a:off x="2693891" y="2905581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2693891" y="2905581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31" name="Shape 128"/>
          <p:cNvSpPr/>
          <p:nvPr/>
        </p:nvSpPr>
        <p:spPr>
          <a:xfrm>
            <a:off x="3547570" y="2905581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3594004" y="2934156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3" name="Text 130"/>
          <p:cNvSpPr/>
          <p:nvPr/>
        </p:nvSpPr>
        <p:spPr>
          <a:xfrm>
            <a:off x="3594004" y="2934156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4" name="Text 131"/>
          <p:cNvSpPr/>
          <p:nvPr/>
        </p:nvSpPr>
        <p:spPr>
          <a:xfrm>
            <a:off x="3736879" y="2932370"/>
            <a:ext cx="38754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ONT_SERIAL</a:t>
            </a:r>
            <a:endParaRPr lang="en-US" sz="450" dirty="0"/>
          </a:p>
        </p:txBody>
      </p:sp>
      <p:sp>
        <p:nvSpPr>
          <p:cNvPr id="135" name="Text 132"/>
          <p:cNvSpPr/>
          <p:nvPr/>
        </p:nvSpPr>
        <p:spPr>
          <a:xfrm>
            <a:off x="4142287" y="2932370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136" name="Shape 133"/>
          <p:cNvSpPr/>
          <p:nvPr/>
        </p:nvSpPr>
        <p:spPr>
          <a:xfrm>
            <a:off x="5681765" y="2905581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5681765" y="2905581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GPON ONT serial number.</a:t>
            </a:r>
            <a:endParaRPr lang="en-US" sz="450" dirty="0"/>
          </a:p>
        </p:txBody>
      </p:sp>
      <p:sp>
        <p:nvSpPr>
          <p:cNvPr id="138" name="Shape 135"/>
          <p:cNvSpPr/>
          <p:nvPr/>
        </p:nvSpPr>
        <p:spPr>
          <a:xfrm>
            <a:off x="303609" y="3121791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46472" y="3157510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mac_address</a:t>
            </a:r>
            <a:endParaRPr lang="en-US" sz="450" dirty="0"/>
          </a:p>
        </p:txBody>
      </p:sp>
      <p:sp>
        <p:nvSpPr>
          <p:cNvPr id="140" name="Shape 137"/>
          <p:cNvSpPr/>
          <p:nvPr/>
        </p:nvSpPr>
        <p:spPr>
          <a:xfrm>
            <a:off x="1584127" y="3121791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626989" y="3145008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42" name="Text 139"/>
          <p:cNvSpPr/>
          <p:nvPr/>
        </p:nvSpPr>
        <p:spPr>
          <a:xfrm>
            <a:off x="1626989" y="3228110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VARCHAR(17)</a:t>
            </a:r>
            <a:endParaRPr lang="en-US" sz="450" dirty="0"/>
          </a:p>
        </p:txBody>
      </p:sp>
      <p:sp>
        <p:nvSpPr>
          <p:cNvPr id="143" name="Shape 140"/>
          <p:cNvSpPr/>
          <p:nvPr/>
        </p:nvSpPr>
        <p:spPr>
          <a:xfrm>
            <a:off x="2693891" y="3118219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2693891" y="3118219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45" name="Shape 142"/>
          <p:cNvSpPr/>
          <p:nvPr/>
        </p:nvSpPr>
        <p:spPr>
          <a:xfrm>
            <a:off x="3547570" y="3118219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3594004" y="3146794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7" name="Text 144"/>
          <p:cNvSpPr/>
          <p:nvPr/>
        </p:nvSpPr>
        <p:spPr>
          <a:xfrm>
            <a:off x="3594004" y="3146794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48" name="Text 145"/>
          <p:cNvSpPr/>
          <p:nvPr/>
        </p:nvSpPr>
        <p:spPr>
          <a:xfrm>
            <a:off x="3736879" y="3145008"/>
            <a:ext cx="47684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MAC_ADDRESS</a:t>
            </a:r>
            <a:endParaRPr lang="en-US" sz="450" dirty="0"/>
          </a:p>
        </p:txBody>
      </p:sp>
      <p:sp>
        <p:nvSpPr>
          <p:cNvPr id="149" name="Text 146"/>
          <p:cNvSpPr/>
          <p:nvPr/>
        </p:nvSpPr>
        <p:spPr>
          <a:xfrm>
            <a:off x="4231584" y="3145008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150" name="Shape 147"/>
          <p:cNvSpPr/>
          <p:nvPr/>
        </p:nvSpPr>
        <p:spPr>
          <a:xfrm>
            <a:off x="5681765" y="3118219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5681765" y="3118219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MAC address.</a:t>
            </a:r>
            <a:endParaRPr lang="en-US" sz="450" dirty="0"/>
          </a:p>
        </p:txBody>
      </p:sp>
      <p:sp>
        <p:nvSpPr>
          <p:cNvPr id="152" name="Shape 149"/>
          <p:cNvSpPr/>
          <p:nvPr/>
        </p:nvSpPr>
        <p:spPr>
          <a:xfrm>
            <a:off x="303609" y="3334429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42900" y="3370148"/>
            <a:ext cx="86738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installation_address_id</a:t>
            </a:r>
            <a:endParaRPr lang="en-US" sz="450" dirty="0"/>
          </a:p>
        </p:txBody>
      </p:sp>
      <p:sp>
        <p:nvSpPr>
          <p:cNvPr id="154" name="Shape 151"/>
          <p:cNvSpPr/>
          <p:nvPr/>
        </p:nvSpPr>
        <p:spPr>
          <a:xfrm>
            <a:off x="1581085" y="3334429"/>
            <a:ext cx="1110239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623947" y="3357646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56" name="Text 153"/>
          <p:cNvSpPr/>
          <p:nvPr/>
        </p:nvSpPr>
        <p:spPr>
          <a:xfrm>
            <a:off x="1623947" y="3440748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157" name="Shape 154"/>
          <p:cNvSpPr/>
          <p:nvPr/>
        </p:nvSpPr>
        <p:spPr>
          <a:xfrm>
            <a:off x="2691324" y="3330857"/>
            <a:ext cx="427006" cy="21263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2691324" y="3330857"/>
            <a:ext cx="427006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59" name="Shape 156"/>
          <p:cNvSpPr/>
          <p:nvPr/>
        </p:nvSpPr>
        <p:spPr>
          <a:xfrm>
            <a:off x="3545337" y="3330857"/>
            <a:ext cx="2135088" cy="21263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3591771" y="3359432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1" name="Text 158"/>
          <p:cNvSpPr/>
          <p:nvPr/>
        </p:nvSpPr>
        <p:spPr>
          <a:xfrm>
            <a:off x="3591771" y="3359432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62" name="Text 159"/>
          <p:cNvSpPr/>
          <p:nvPr/>
        </p:nvSpPr>
        <p:spPr>
          <a:xfrm>
            <a:off x="3734646" y="3357646"/>
            <a:ext cx="65722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LOCATION_ADDRESS</a:t>
            </a:r>
            <a:endParaRPr lang="en-US" sz="450" dirty="0"/>
          </a:p>
        </p:txBody>
      </p:sp>
      <p:sp>
        <p:nvSpPr>
          <p:cNvPr id="163" name="Text 160"/>
          <p:cNvSpPr/>
          <p:nvPr/>
        </p:nvSpPr>
        <p:spPr>
          <a:xfrm>
            <a:off x="4409731" y="3357646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164" name="Shape 161"/>
          <p:cNvSpPr/>
          <p:nvPr/>
        </p:nvSpPr>
        <p:spPr>
          <a:xfrm>
            <a:off x="5680425" y="3330857"/>
            <a:ext cx="3159965" cy="21263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5680425" y="3330857"/>
            <a:ext cx="3159965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to fixed-service installation address.</a:t>
            </a:r>
            <a:endParaRPr lang="en-US" sz="450" dirty="0"/>
          </a:p>
        </p:txBody>
      </p:sp>
      <p:sp>
        <p:nvSpPr>
          <p:cNvPr id="166" name="Text 163"/>
          <p:cNvSpPr/>
          <p:nvPr/>
        </p:nvSpPr>
        <p:spPr>
          <a:xfrm>
            <a:off x="300038" y="3632792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67" name="Text 164"/>
          <p:cNvSpPr/>
          <p:nvPr/>
        </p:nvSpPr>
        <p:spPr>
          <a:xfrm>
            <a:off x="7688461" y="3632792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telco_cdr_event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286750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Call detail record event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Synthetic call/SMS/data event table for testing PII detection in CDR-style transactional datasets. Granularity: one row per call, SMS, or data session event.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884374"/>
            <a:ext cx="487561" cy="164306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884374"/>
            <a:ext cx="48756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844748" y="884374"/>
            <a:ext cx="594717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4748" y="884374"/>
            <a:ext cx="594717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13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496616" y="884374"/>
            <a:ext cx="357188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96616" y="884374"/>
            <a:ext cx="35718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12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1910953" y="884374"/>
            <a:ext cx="492919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10953" y="884374"/>
            <a:ext cx="492919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145121"/>
            <a:ext cx="1280517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145121"/>
            <a:ext cx="1280517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145121"/>
            <a:ext cx="1109765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145121"/>
            <a:ext cx="1109765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145121"/>
            <a:ext cx="426839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145121"/>
            <a:ext cx="426839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145121"/>
            <a:ext cx="426839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145121"/>
            <a:ext cx="426839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145121"/>
            <a:ext cx="2134195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145121"/>
            <a:ext cx="2134195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145121"/>
            <a:ext cx="3158626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145121"/>
            <a:ext cx="3158626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268546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297121"/>
            <a:ext cx="44020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cdr_record_id</a:t>
            </a:r>
            <a:endParaRPr lang="en-US" sz="400" dirty="0"/>
          </a:p>
        </p:txBody>
      </p:sp>
      <p:sp>
        <p:nvSpPr>
          <p:cNvPr id="28" name="Shape 25"/>
          <p:cNvSpPr/>
          <p:nvPr/>
        </p:nvSpPr>
        <p:spPr>
          <a:xfrm>
            <a:off x="1584127" y="1268546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286405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30" name="Text 27"/>
          <p:cNvSpPr/>
          <p:nvPr/>
        </p:nvSpPr>
        <p:spPr>
          <a:xfrm>
            <a:off x="1626989" y="1362559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VARCHAR(40)</a:t>
            </a:r>
            <a:endParaRPr lang="en-US" sz="400" dirty="0"/>
          </a:p>
        </p:txBody>
      </p:sp>
      <p:sp>
        <p:nvSpPr>
          <p:cNvPr id="31" name="Shape 28"/>
          <p:cNvSpPr/>
          <p:nvPr/>
        </p:nvSpPr>
        <p:spPr>
          <a:xfrm>
            <a:off x="2693891" y="1268546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268546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33" name="Shape 30"/>
          <p:cNvSpPr/>
          <p:nvPr/>
        </p:nvSpPr>
        <p:spPr>
          <a:xfrm>
            <a:off x="3120730" y="1268546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268546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00" dirty="0"/>
          </a:p>
        </p:txBody>
      </p:sp>
      <p:sp>
        <p:nvSpPr>
          <p:cNvPr id="35" name="Shape 32"/>
          <p:cNvSpPr/>
          <p:nvPr/>
        </p:nvSpPr>
        <p:spPr>
          <a:xfrm>
            <a:off x="3547570" y="1268546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284619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284619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38" name="Text 35"/>
          <p:cNvSpPr/>
          <p:nvPr/>
        </p:nvSpPr>
        <p:spPr>
          <a:xfrm>
            <a:off x="3726163" y="1286405"/>
            <a:ext cx="469702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CDR_RECORD_ID</a:t>
            </a:r>
            <a:endParaRPr lang="en-US" sz="400" dirty="0"/>
          </a:p>
        </p:txBody>
      </p:sp>
      <p:sp>
        <p:nvSpPr>
          <p:cNvPr id="39" name="Text 36"/>
          <p:cNvSpPr/>
          <p:nvPr/>
        </p:nvSpPr>
        <p:spPr>
          <a:xfrm>
            <a:off x="4211938" y="1286405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40" name="Shape 37"/>
          <p:cNvSpPr/>
          <p:nvPr/>
        </p:nvSpPr>
        <p:spPr>
          <a:xfrm>
            <a:off x="5681765" y="1268546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81765" y="1268546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event identifier from mediation or billing.</a:t>
            </a:r>
            <a:endParaRPr lang="en-US" sz="400" dirty="0"/>
          </a:p>
        </p:txBody>
      </p:sp>
      <p:sp>
        <p:nvSpPr>
          <p:cNvPr id="42" name="Shape 39"/>
          <p:cNvSpPr/>
          <p:nvPr/>
        </p:nvSpPr>
        <p:spPr>
          <a:xfrm>
            <a:off x="303609" y="1449428"/>
            <a:ext cx="1280517" cy="18802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6472" y="1478003"/>
            <a:ext cx="507904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event_timestamp</a:t>
            </a:r>
            <a:endParaRPr lang="en-US" sz="400" dirty="0"/>
          </a:p>
        </p:txBody>
      </p:sp>
      <p:sp>
        <p:nvSpPr>
          <p:cNvPr id="44" name="Shape 41"/>
          <p:cNvSpPr/>
          <p:nvPr/>
        </p:nvSpPr>
        <p:spPr>
          <a:xfrm>
            <a:off x="1584127" y="1449428"/>
            <a:ext cx="1109765" cy="18802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26989" y="1463715"/>
            <a:ext cx="278606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</a:t>
            </a:r>
            <a:endParaRPr lang="en-US" sz="400" dirty="0"/>
          </a:p>
        </p:txBody>
      </p:sp>
      <p:sp>
        <p:nvSpPr>
          <p:cNvPr id="46" name="Text 43"/>
          <p:cNvSpPr/>
          <p:nvPr/>
        </p:nvSpPr>
        <p:spPr>
          <a:xfrm>
            <a:off x="1626989" y="1539869"/>
            <a:ext cx="304753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400" dirty="0"/>
          </a:p>
        </p:txBody>
      </p:sp>
      <p:sp>
        <p:nvSpPr>
          <p:cNvPr id="47" name="Shape 44"/>
          <p:cNvSpPr/>
          <p:nvPr/>
        </p:nvSpPr>
        <p:spPr>
          <a:xfrm>
            <a:off x="2693891" y="1445856"/>
            <a:ext cx="426839" cy="184454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693891" y="1445856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49" name="Shape 46"/>
          <p:cNvSpPr/>
          <p:nvPr/>
        </p:nvSpPr>
        <p:spPr>
          <a:xfrm>
            <a:off x="3547570" y="1445856"/>
            <a:ext cx="2134195" cy="184454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594004" y="1461929"/>
            <a:ext cx="264319" cy="76795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1" name="Text 48"/>
          <p:cNvSpPr/>
          <p:nvPr/>
        </p:nvSpPr>
        <p:spPr>
          <a:xfrm>
            <a:off x="3594004" y="1461929"/>
            <a:ext cx="264319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52" name="Shape 49"/>
          <p:cNvSpPr/>
          <p:nvPr/>
        </p:nvSpPr>
        <p:spPr>
          <a:xfrm>
            <a:off x="5681765" y="1445856"/>
            <a:ext cx="3158626" cy="184454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81765" y="1445856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timestamp for the event.</a:t>
            </a:r>
            <a:endParaRPr lang="en-US" sz="400" dirty="0"/>
          </a:p>
        </p:txBody>
      </p:sp>
      <p:sp>
        <p:nvSpPr>
          <p:cNvPr id="54" name="Shape 51"/>
          <p:cNvSpPr/>
          <p:nvPr/>
        </p:nvSpPr>
        <p:spPr>
          <a:xfrm>
            <a:off x="303609" y="1630310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46472" y="1658885"/>
            <a:ext cx="474055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a_party_msisdn</a:t>
            </a:r>
            <a:endParaRPr lang="en-US" sz="400" dirty="0"/>
          </a:p>
        </p:txBody>
      </p:sp>
      <p:sp>
        <p:nvSpPr>
          <p:cNvPr id="56" name="Shape 53"/>
          <p:cNvSpPr/>
          <p:nvPr/>
        </p:nvSpPr>
        <p:spPr>
          <a:xfrm>
            <a:off x="1584127" y="1630310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626989" y="1644597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58" name="Text 55"/>
          <p:cNvSpPr/>
          <p:nvPr/>
        </p:nvSpPr>
        <p:spPr>
          <a:xfrm>
            <a:off x="1626989" y="1720751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00" dirty="0"/>
          </a:p>
        </p:txBody>
      </p:sp>
      <p:sp>
        <p:nvSpPr>
          <p:cNvPr id="59" name="Shape 56"/>
          <p:cNvSpPr/>
          <p:nvPr/>
        </p:nvSpPr>
        <p:spPr>
          <a:xfrm>
            <a:off x="2693891" y="1626738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693891" y="1626738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61" name="Shape 58"/>
          <p:cNvSpPr/>
          <p:nvPr/>
        </p:nvSpPr>
        <p:spPr>
          <a:xfrm>
            <a:off x="3547570" y="1626738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594004" y="1642811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3" name="Text 60"/>
          <p:cNvSpPr/>
          <p:nvPr/>
        </p:nvSpPr>
        <p:spPr>
          <a:xfrm>
            <a:off x="3594004" y="1642811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4" name="Text 61"/>
          <p:cNvSpPr/>
          <p:nvPr/>
        </p:nvSpPr>
        <p:spPr>
          <a:xfrm>
            <a:off x="3729735" y="1644597"/>
            <a:ext cx="22860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MSISDN</a:t>
            </a:r>
            <a:endParaRPr lang="en-US" sz="400" dirty="0"/>
          </a:p>
        </p:txBody>
      </p:sp>
      <p:sp>
        <p:nvSpPr>
          <p:cNvPr id="65" name="Text 62"/>
          <p:cNvSpPr/>
          <p:nvPr/>
        </p:nvSpPr>
        <p:spPr>
          <a:xfrm>
            <a:off x="3974409" y="1644597"/>
            <a:ext cx="192881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66" name="Shape 63"/>
          <p:cNvSpPr/>
          <p:nvPr/>
        </p:nvSpPr>
        <p:spPr>
          <a:xfrm>
            <a:off x="5681765" y="1626738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681765" y="1626738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Originating mobile number.</a:t>
            </a:r>
            <a:endParaRPr lang="en-US" sz="400" dirty="0"/>
          </a:p>
        </p:txBody>
      </p:sp>
      <p:sp>
        <p:nvSpPr>
          <p:cNvPr id="68" name="Shape 65"/>
          <p:cNvSpPr/>
          <p:nvPr/>
        </p:nvSpPr>
        <p:spPr>
          <a:xfrm>
            <a:off x="303609" y="1811192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46472" y="1839767"/>
            <a:ext cx="474055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b_party_msisdn</a:t>
            </a:r>
            <a:endParaRPr lang="en-US" sz="400" dirty="0"/>
          </a:p>
        </p:txBody>
      </p:sp>
      <p:sp>
        <p:nvSpPr>
          <p:cNvPr id="70" name="Shape 67"/>
          <p:cNvSpPr/>
          <p:nvPr/>
        </p:nvSpPr>
        <p:spPr>
          <a:xfrm>
            <a:off x="1584127" y="1811192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626989" y="1825479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72" name="Text 69"/>
          <p:cNvSpPr/>
          <p:nvPr/>
        </p:nvSpPr>
        <p:spPr>
          <a:xfrm>
            <a:off x="1626989" y="1901633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00" dirty="0"/>
          </a:p>
        </p:txBody>
      </p:sp>
      <p:sp>
        <p:nvSpPr>
          <p:cNvPr id="73" name="Shape 70"/>
          <p:cNvSpPr/>
          <p:nvPr/>
        </p:nvSpPr>
        <p:spPr>
          <a:xfrm>
            <a:off x="2693891" y="1807620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693891" y="1807620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75" name="Shape 72"/>
          <p:cNvSpPr/>
          <p:nvPr/>
        </p:nvSpPr>
        <p:spPr>
          <a:xfrm>
            <a:off x="3547570" y="1807620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594004" y="1823693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7" name="Text 74"/>
          <p:cNvSpPr/>
          <p:nvPr/>
        </p:nvSpPr>
        <p:spPr>
          <a:xfrm>
            <a:off x="3594004" y="1823693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78" name="Text 75"/>
          <p:cNvSpPr/>
          <p:nvPr/>
        </p:nvSpPr>
        <p:spPr>
          <a:xfrm>
            <a:off x="3729735" y="1825479"/>
            <a:ext cx="22860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MSISDN</a:t>
            </a:r>
            <a:endParaRPr lang="en-US" sz="400" dirty="0"/>
          </a:p>
        </p:txBody>
      </p:sp>
      <p:sp>
        <p:nvSpPr>
          <p:cNvPr id="79" name="Text 76"/>
          <p:cNvSpPr/>
          <p:nvPr/>
        </p:nvSpPr>
        <p:spPr>
          <a:xfrm>
            <a:off x="3974409" y="1825479"/>
            <a:ext cx="192881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80" name="Shape 77"/>
          <p:cNvSpPr/>
          <p:nvPr/>
        </p:nvSpPr>
        <p:spPr>
          <a:xfrm>
            <a:off x="5681765" y="1807620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681765" y="1807620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Terminating mobile number.</a:t>
            </a:r>
            <a:endParaRPr lang="en-US" sz="400" dirty="0"/>
          </a:p>
        </p:txBody>
      </p:sp>
      <p:sp>
        <p:nvSpPr>
          <p:cNvPr id="82" name="Shape 79"/>
          <p:cNvSpPr/>
          <p:nvPr/>
        </p:nvSpPr>
        <p:spPr>
          <a:xfrm>
            <a:off x="303609" y="1992074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46472" y="2020649"/>
            <a:ext cx="135452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</a:t>
            </a:r>
            <a:endParaRPr lang="en-US" sz="400" dirty="0"/>
          </a:p>
        </p:txBody>
      </p:sp>
      <p:sp>
        <p:nvSpPr>
          <p:cNvPr id="84" name="Shape 81"/>
          <p:cNvSpPr/>
          <p:nvPr/>
        </p:nvSpPr>
        <p:spPr>
          <a:xfrm>
            <a:off x="1584127" y="1992074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626989" y="2006361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86" name="Text 83"/>
          <p:cNvSpPr/>
          <p:nvPr/>
        </p:nvSpPr>
        <p:spPr>
          <a:xfrm>
            <a:off x="1626989" y="2082515"/>
            <a:ext cx="270904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CHAR(15)</a:t>
            </a:r>
            <a:endParaRPr lang="en-US" sz="400" dirty="0"/>
          </a:p>
        </p:txBody>
      </p:sp>
      <p:sp>
        <p:nvSpPr>
          <p:cNvPr id="87" name="Shape 84"/>
          <p:cNvSpPr/>
          <p:nvPr/>
        </p:nvSpPr>
        <p:spPr>
          <a:xfrm>
            <a:off x="2693891" y="1988502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693891" y="1988502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89" name="Shape 86"/>
          <p:cNvSpPr/>
          <p:nvPr/>
        </p:nvSpPr>
        <p:spPr>
          <a:xfrm>
            <a:off x="3547570" y="1988502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94004" y="2004575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1" name="Text 88"/>
          <p:cNvSpPr/>
          <p:nvPr/>
        </p:nvSpPr>
        <p:spPr>
          <a:xfrm>
            <a:off x="3594004" y="2004575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2" name="Text 89"/>
          <p:cNvSpPr/>
          <p:nvPr/>
        </p:nvSpPr>
        <p:spPr>
          <a:xfrm>
            <a:off x="3729735" y="2006361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IMSI</a:t>
            </a:r>
            <a:endParaRPr lang="en-US" sz="400" dirty="0"/>
          </a:p>
        </p:txBody>
      </p:sp>
      <p:sp>
        <p:nvSpPr>
          <p:cNvPr id="93" name="Text 90"/>
          <p:cNvSpPr/>
          <p:nvPr/>
        </p:nvSpPr>
        <p:spPr>
          <a:xfrm>
            <a:off x="3869038" y="2006361"/>
            <a:ext cx="192881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94" name="Shape 91"/>
          <p:cNvSpPr/>
          <p:nvPr/>
        </p:nvSpPr>
        <p:spPr>
          <a:xfrm>
            <a:off x="5681765" y="1988502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681765" y="1988502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 IMSI observed in event.</a:t>
            </a:r>
            <a:endParaRPr lang="en-US" sz="400" dirty="0"/>
          </a:p>
        </p:txBody>
      </p:sp>
      <p:sp>
        <p:nvSpPr>
          <p:cNvPr id="96" name="Shape 93"/>
          <p:cNvSpPr/>
          <p:nvPr/>
        </p:nvSpPr>
        <p:spPr>
          <a:xfrm>
            <a:off x="303609" y="2172956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46472" y="2201531"/>
            <a:ext cx="135452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imei</a:t>
            </a:r>
            <a:endParaRPr lang="en-US" sz="400" dirty="0"/>
          </a:p>
        </p:txBody>
      </p:sp>
      <p:sp>
        <p:nvSpPr>
          <p:cNvPr id="98" name="Shape 95"/>
          <p:cNvSpPr/>
          <p:nvPr/>
        </p:nvSpPr>
        <p:spPr>
          <a:xfrm>
            <a:off x="1584127" y="2172956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626989" y="2187243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00" name="Text 97"/>
          <p:cNvSpPr/>
          <p:nvPr/>
        </p:nvSpPr>
        <p:spPr>
          <a:xfrm>
            <a:off x="1626989" y="2263397"/>
            <a:ext cx="270904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CHAR(15)</a:t>
            </a:r>
            <a:endParaRPr lang="en-US" sz="400" dirty="0"/>
          </a:p>
        </p:txBody>
      </p:sp>
      <p:sp>
        <p:nvSpPr>
          <p:cNvPr id="101" name="Shape 98"/>
          <p:cNvSpPr/>
          <p:nvPr/>
        </p:nvSpPr>
        <p:spPr>
          <a:xfrm>
            <a:off x="2693891" y="2169384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693891" y="2169384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03" name="Shape 100"/>
          <p:cNvSpPr/>
          <p:nvPr/>
        </p:nvSpPr>
        <p:spPr>
          <a:xfrm>
            <a:off x="3547570" y="2169384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594004" y="2185457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5" name="Text 102"/>
          <p:cNvSpPr/>
          <p:nvPr/>
        </p:nvSpPr>
        <p:spPr>
          <a:xfrm>
            <a:off x="3594004" y="2185457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6" name="Text 103"/>
          <p:cNvSpPr/>
          <p:nvPr/>
        </p:nvSpPr>
        <p:spPr>
          <a:xfrm>
            <a:off x="3729735" y="2187243"/>
            <a:ext cx="11965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IMEI</a:t>
            </a:r>
            <a:endParaRPr lang="en-US" sz="400" dirty="0"/>
          </a:p>
        </p:txBody>
      </p:sp>
      <p:sp>
        <p:nvSpPr>
          <p:cNvPr id="107" name="Text 104"/>
          <p:cNvSpPr/>
          <p:nvPr/>
        </p:nvSpPr>
        <p:spPr>
          <a:xfrm>
            <a:off x="3865466" y="2187243"/>
            <a:ext cx="192881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108" name="Shape 105"/>
          <p:cNvSpPr/>
          <p:nvPr/>
        </p:nvSpPr>
        <p:spPr>
          <a:xfrm>
            <a:off x="5681765" y="2169384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681765" y="2169384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IMEI observed in event.</a:t>
            </a:r>
            <a:endParaRPr lang="en-US" sz="400" dirty="0"/>
          </a:p>
        </p:txBody>
      </p:sp>
      <p:sp>
        <p:nvSpPr>
          <p:cNvPr id="110" name="Shape 107"/>
          <p:cNvSpPr/>
          <p:nvPr/>
        </p:nvSpPr>
        <p:spPr>
          <a:xfrm>
            <a:off x="303609" y="2353838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346472" y="2382413"/>
            <a:ext cx="677205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cell_global_identity</a:t>
            </a:r>
            <a:endParaRPr lang="en-US" sz="400" dirty="0"/>
          </a:p>
        </p:txBody>
      </p:sp>
      <p:sp>
        <p:nvSpPr>
          <p:cNvPr id="112" name="Shape 109"/>
          <p:cNvSpPr/>
          <p:nvPr/>
        </p:nvSpPr>
        <p:spPr>
          <a:xfrm>
            <a:off x="1584127" y="2353838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626989" y="2368125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14" name="Text 111"/>
          <p:cNvSpPr/>
          <p:nvPr/>
        </p:nvSpPr>
        <p:spPr>
          <a:xfrm>
            <a:off x="1626989" y="2444279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VARCHAR(32)</a:t>
            </a:r>
            <a:endParaRPr lang="en-US" sz="400" dirty="0"/>
          </a:p>
        </p:txBody>
      </p:sp>
      <p:sp>
        <p:nvSpPr>
          <p:cNvPr id="115" name="Shape 112"/>
          <p:cNvSpPr/>
          <p:nvPr/>
        </p:nvSpPr>
        <p:spPr>
          <a:xfrm>
            <a:off x="2693891" y="2350266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2693891" y="2350266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17" name="Shape 114"/>
          <p:cNvSpPr/>
          <p:nvPr/>
        </p:nvSpPr>
        <p:spPr>
          <a:xfrm>
            <a:off x="3547570" y="2350266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594004" y="2366339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9" name="Text 116"/>
          <p:cNvSpPr/>
          <p:nvPr/>
        </p:nvSpPr>
        <p:spPr>
          <a:xfrm>
            <a:off x="3594004" y="2366339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0" name="Text 117"/>
          <p:cNvSpPr/>
          <p:nvPr/>
        </p:nvSpPr>
        <p:spPr>
          <a:xfrm>
            <a:off x="3729735" y="2368125"/>
            <a:ext cx="69115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CELL_GLOBAL_IDENTITY</a:t>
            </a:r>
            <a:endParaRPr lang="en-US" sz="400" dirty="0"/>
          </a:p>
        </p:txBody>
      </p:sp>
      <p:sp>
        <p:nvSpPr>
          <p:cNvPr id="121" name="Text 118"/>
          <p:cNvSpPr/>
          <p:nvPr/>
        </p:nvSpPr>
        <p:spPr>
          <a:xfrm>
            <a:off x="4436966" y="2368125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22" name="Shape 119"/>
          <p:cNvSpPr/>
          <p:nvPr/>
        </p:nvSpPr>
        <p:spPr>
          <a:xfrm>
            <a:off x="5681765" y="2350266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5681765" y="2350266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Serving cell identifier, often linkable to approximate location.</a:t>
            </a:r>
            <a:endParaRPr lang="en-US" sz="400" dirty="0"/>
          </a:p>
        </p:txBody>
      </p:sp>
      <p:sp>
        <p:nvSpPr>
          <p:cNvPr id="124" name="Shape 121"/>
          <p:cNvSpPr/>
          <p:nvPr/>
        </p:nvSpPr>
        <p:spPr>
          <a:xfrm>
            <a:off x="303609" y="2534720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46472" y="2563295"/>
            <a:ext cx="101603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lac</a:t>
            </a:r>
            <a:endParaRPr lang="en-US" sz="400" dirty="0"/>
          </a:p>
        </p:txBody>
      </p:sp>
      <p:sp>
        <p:nvSpPr>
          <p:cNvPr id="126" name="Shape 123"/>
          <p:cNvSpPr/>
          <p:nvPr/>
        </p:nvSpPr>
        <p:spPr>
          <a:xfrm>
            <a:off x="1584127" y="2534720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1626989" y="2549007"/>
            <a:ext cx="18573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integer</a:t>
            </a:r>
            <a:endParaRPr lang="en-US" sz="400" dirty="0"/>
          </a:p>
        </p:txBody>
      </p:sp>
      <p:sp>
        <p:nvSpPr>
          <p:cNvPr id="128" name="Text 125"/>
          <p:cNvSpPr/>
          <p:nvPr/>
        </p:nvSpPr>
        <p:spPr>
          <a:xfrm>
            <a:off x="1626989" y="2625161"/>
            <a:ext cx="101603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400" dirty="0"/>
          </a:p>
        </p:txBody>
      </p:sp>
      <p:sp>
        <p:nvSpPr>
          <p:cNvPr id="129" name="Shape 126"/>
          <p:cNvSpPr/>
          <p:nvPr/>
        </p:nvSpPr>
        <p:spPr>
          <a:xfrm>
            <a:off x="2693891" y="2531148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2693891" y="2531148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31" name="Shape 128"/>
          <p:cNvSpPr/>
          <p:nvPr/>
        </p:nvSpPr>
        <p:spPr>
          <a:xfrm>
            <a:off x="3547570" y="2531148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3594004" y="2547221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3" name="Text 130"/>
          <p:cNvSpPr/>
          <p:nvPr/>
        </p:nvSpPr>
        <p:spPr>
          <a:xfrm>
            <a:off x="3594004" y="2547221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4" name="Text 131"/>
          <p:cNvSpPr/>
          <p:nvPr/>
        </p:nvSpPr>
        <p:spPr>
          <a:xfrm>
            <a:off x="3729735" y="2549007"/>
            <a:ext cx="116086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LAC</a:t>
            </a:r>
            <a:endParaRPr lang="en-US" sz="400" dirty="0"/>
          </a:p>
        </p:txBody>
      </p:sp>
      <p:sp>
        <p:nvSpPr>
          <p:cNvPr id="135" name="Text 132"/>
          <p:cNvSpPr/>
          <p:nvPr/>
        </p:nvSpPr>
        <p:spPr>
          <a:xfrm>
            <a:off x="3861895" y="2549007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36" name="Shape 133"/>
          <p:cNvSpPr/>
          <p:nvPr/>
        </p:nvSpPr>
        <p:spPr>
          <a:xfrm>
            <a:off x="5681765" y="2531148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5681765" y="2531148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location area code.</a:t>
            </a:r>
            <a:endParaRPr lang="en-US" sz="400" dirty="0"/>
          </a:p>
        </p:txBody>
      </p:sp>
      <p:sp>
        <p:nvSpPr>
          <p:cNvPr id="138" name="Shape 135"/>
          <p:cNvSpPr/>
          <p:nvPr/>
        </p:nvSpPr>
        <p:spPr>
          <a:xfrm>
            <a:off x="303609" y="2715602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46472" y="2744177"/>
            <a:ext cx="237027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tac_lte</a:t>
            </a:r>
            <a:endParaRPr lang="en-US" sz="400" dirty="0"/>
          </a:p>
        </p:txBody>
      </p:sp>
      <p:sp>
        <p:nvSpPr>
          <p:cNvPr id="140" name="Shape 137"/>
          <p:cNvSpPr/>
          <p:nvPr/>
        </p:nvSpPr>
        <p:spPr>
          <a:xfrm>
            <a:off x="1584127" y="2715602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626989" y="2729889"/>
            <a:ext cx="18573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integer</a:t>
            </a:r>
            <a:endParaRPr lang="en-US" sz="400" dirty="0"/>
          </a:p>
        </p:txBody>
      </p:sp>
      <p:sp>
        <p:nvSpPr>
          <p:cNvPr id="142" name="Text 139"/>
          <p:cNvSpPr/>
          <p:nvPr/>
        </p:nvSpPr>
        <p:spPr>
          <a:xfrm>
            <a:off x="1626989" y="2806043"/>
            <a:ext cx="101603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400" dirty="0"/>
          </a:p>
        </p:txBody>
      </p:sp>
      <p:sp>
        <p:nvSpPr>
          <p:cNvPr id="143" name="Shape 140"/>
          <p:cNvSpPr/>
          <p:nvPr/>
        </p:nvSpPr>
        <p:spPr>
          <a:xfrm>
            <a:off x="2693891" y="2712030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2693891" y="2712030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45" name="Shape 142"/>
          <p:cNvSpPr/>
          <p:nvPr/>
        </p:nvSpPr>
        <p:spPr>
          <a:xfrm>
            <a:off x="3547570" y="2712030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3594004" y="2728103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7" name="Text 144"/>
          <p:cNvSpPr/>
          <p:nvPr/>
        </p:nvSpPr>
        <p:spPr>
          <a:xfrm>
            <a:off x="3594004" y="2728103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48" name="Text 145"/>
          <p:cNvSpPr/>
          <p:nvPr/>
        </p:nvSpPr>
        <p:spPr>
          <a:xfrm>
            <a:off x="3729735" y="2729889"/>
            <a:ext cx="241102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TAC_LTE</a:t>
            </a:r>
            <a:endParaRPr lang="en-US" sz="400" dirty="0"/>
          </a:p>
        </p:txBody>
      </p:sp>
      <p:sp>
        <p:nvSpPr>
          <p:cNvPr id="149" name="Text 146"/>
          <p:cNvSpPr/>
          <p:nvPr/>
        </p:nvSpPr>
        <p:spPr>
          <a:xfrm>
            <a:off x="3986910" y="2729889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50" name="Shape 147"/>
          <p:cNvSpPr/>
          <p:nvPr/>
        </p:nvSpPr>
        <p:spPr>
          <a:xfrm>
            <a:off x="5681765" y="2712030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5681765" y="2712030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LTE tracking area code.</a:t>
            </a:r>
            <a:endParaRPr lang="en-US" sz="400" dirty="0"/>
          </a:p>
        </p:txBody>
      </p:sp>
      <p:sp>
        <p:nvSpPr>
          <p:cNvPr id="152" name="Shape 149"/>
          <p:cNvSpPr/>
          <p:nvPr/>
        </p:nvSpPr>
        <p:spPr>
          <a:xfrm>
            <a:off x="303609" y="2896484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46472" y="2925059"/>
            <a:ext cx="40632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cgi_latitude</a:t>
            </a:r>
            <a:endParaRPr lang="en-US" sz="400" dirty="0"/>
          </a:p>
        </p:txBody>
      </p:sp>
      <p:sp>
        <p:nvSpPr>
          <p:cNvPr id="154" name="Shape 151"/>
          <p:cNvSpPr/>
          <p:nvPr/>
        </p:nvSpPr>
        <p:spPr>
          <a:xfrm>
            <a:off x="1584127" y="2896484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626989" y="2910771"/>
            <a:ext cx="205383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</a:t>
            </a:r>
            <a:endParaRPr lang="en-US" sz="400" dirty="0"/>
          </a:p>
        </p:txBody>
      </p:sp>
      <p:sp>
        <p:nvSpPr>
          <p:cNvPr id="156" name="Text 153"/>
          <p:cNvSpPr/>
          <p:nvPr/>
        </p:nvSpPr>
        <p:spPr>
          <a:xfrm>
            <a:off x="1626989" y="2986925"/>
            <a:ext cx="40632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DECIMAL(9,6)</a:t>
            </a:r>
            <a:endParaRPr lang="en-US" sz="400" dirty="0"/>
          </a:p>
        </p:txBody>
      </p:sp>
      <p:sp>
        <p:nvSpPr>
          <p:cNvPr id="157" name="Shape 154"/>
          <p:cNvSpPr/>
          <p:nvPr/>
        </p:nvSpPr>
        <p:spPr>
          <a:xfrm>
            <a:off x="2693891" y="2892912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2693891" y="2892912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59" name="Shape 156"/>
          <p:cNvSpPr/>
          <p:nvPr/>
        </p:nvSpPr>
        <p:spPr>
          <a:xfrm>
            <a:off x="3547570" y="2892912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3594004" y="2908985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1" name="Text 158"/>
          <p:cNvSpPr/>
          <p:nvPr/>
        </p:nvSpPr>
        <p:spPr>
          <a:xfrm>
            <a:off x="3594004" y="2908985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62" name="Text 159"/>
          <p:cNvSpPr/>
          <p:nvPr/>
        </p:nvSpPr>
        <p:spPr>
          <a:xfrm>
            <a:off x="3729735" y="2910771"/>
            <a:ext cx="42326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GPS_LATITUDE</a:t>
            </a:r>
            <a:endParaRPr lang="en-US" sz="400" dirty="0"/>
          </a:p>
        </p:txBody>
      </p:sp>
      <p:sp>
        <p:nvSpPr>
          <p:cNvPr id="163" name="Text 160"/>
          <p:cNvSpPr/>
          <p:nvPr/>
        </p:nvSpPr>
        <p:spPr>
          <a:xfrm>
            <a:off x="4169076" y="2910771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64" name="Shape 161"/>
          <p:cNvSpPr/>
          <p:nvPr/>
        </p:nvSpPr>
        <p:spPr>
          <a:xfrm>
            <a:off x="5681765" y="2892912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5681765" y="2892912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Latitude of serving cell or enriched location.</a:t>
            </a:r>
            <a:endParaRPr lang="en-US" sz="400" dirty="0"/>
          </a:p>
        </p:txBody>
      </p:sp>
      <p:sp>
        <p:nvSpPr>
          <p:cNvPr id="166" name="Shape 163"/>
          <p:cNvSpPr/>
          <p:nvPr/>
        </p:nvSpPr>
        <p:spPr>
          <a:xfrm>
            <a:off x="303609" y="3077366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346472" y="3105941"/>
            <a:ext cx="44020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cgi_longitude</a:t>
            </a:r>
            <a:endParaRPr lang="en-US" sz="400" dirty="0"/>
          </a:p>
        </p:txBody>
      </p:sp>
      <p:sp>
        <p:nvSpPr>
          <p:cNvPr id="168" name="Shape 165"/>
          <p:cNvSpPr/>
          <p:nvPr/>
        </p:nvSpPr>
        <p:spPr>
          <a:xfrm>
            <a:off x="1584127" y="3077366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626989" y="3091653"/>
            <a:ext cx="205383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</a:t>
            </a:r>
            <a:endParaRPr lang="en-US" sz="400" dirty="0"/>
          </a:p>
        </p:txBody>
      </p:sp>
      <p:sp>
        <p:nvSpPr>
          <p:cNvPr id="170" name="Text 167"/>
          <p:cNvSpPr/>
          <p:nvPr/>
        </p:nvSpPr>
        <p:spPr>
          <a:xfrm>
            <a:off x="1626989" y="3167807"/>
            <a:ext cx="40632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DECIMAL(9,6)</a:t>
            </a:r>
            <a:endParaRPr lang="en-US" sz="400" dirty="0"/>
          </a:p>
        </p:txBody>
      </p:sp>
      <p:sp>
        <p:nvSpPr>
          <p:cNvPr id="171" name="Shape 168"/>
          <p:cNvSpPr/>
          <p:nvPr/>
        </p:nvSpPr>
        <p:spPr>
          <a:xfrm>
            <a:off x="2693891" y="3073794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2693891" y="3073794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73" name="Shape 170"/>
          <p:cNvSpPr/>
          <p:nvPr/>
        </p:nvSpPr>
        <p:spPr>
          <a:xfrm>
            <a:off x="3547570" y="3073794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3594004" y="3089867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5" name="Text 172"/>
          <p:cNvSpPr/>
          <p:nvPr/>
        </p:nvSpPr>
        <p:spPr>
          <a:xfrm>
            <a:off x="3594004" y="3089867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76" name="Text 173"/>
          <p:cNvSpPr/>
          <p:nvPr/>
        </p:nvSpPr>
        <p:spPr>
          <a:xfrm>
            <a:off x="3729735" y="3091653"/>
            <a:ext cx="475059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GPS_LONGITUDE</a:t>
            </a:r>
            <a:endParaRPr lang="en-US" sz="400" dirty="0"/>
          </a:p>
        </p:txBody>
      </p:sp>
      <p:sp>
        <p:nvSpPr>
          <p:cNvPr id="177" name="Text 174"/>
          <p:cNvSpPr/>
          <p:nvPr/>
        </p:nvSpPr>
        <p:spPr>
          <a:xfrm>
            <a:off x="4220868" y="3091653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78" name="Shape 175"/>
          <p:cNvSpPr/>
          <p:nvPr/>
        </p:nvSpPr>
        <p:spPr>
          <a:xfrm>
            <a:off x="5681765" y="3073794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5681765" y="3073794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Longitude of serving cell or enriched location.</a:t>
            </a:r>
            <a:endParaRPr lang="en-US" sz="400" dirty="0"/>
          </a:p>
        </p:txBody>
      </p:sp>
      <p:sp>
        <p:nvSpPr>
          <p:cNvPr id="180" name="Shape 177"/>
          <p:cNvSpPr/>
          <p:nvPr/>
        </p:nvSpPr>
        <p:spPr>
          <a:xfrm>
            <a:off x="303609" y="3258248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346472" y="3286823"/>
            <a:ext cx="304753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source_ip</a:t>
            </a:r>
            <a:endParaRPr lang="en-US" sz="400" dirty="0"/>
          </a:p>
        </p:txBody>
      </p:sp>
      <p:sp>
        <p:nvSpPr>
          <p:cNvPr id="182" name="Shape 179"/>
          <p:cNvSpPr/>
          <p:nvPr/>
        </p:nvSpPr>
        <p:spPr>
          <a:xfrm>
            <a:off x="1584127" y="3258248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1626989" y="3272535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84" name="Text 181"/>
          <p:cNvSpPr/>
          <p:nvPr/>
        </p:nvSpPr>
        <p:spPr>
          <a:xfrm>
            <a:off x="1626989" y="3348689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VARCHAR(45)</a:t>
            </a:r>
            <a:endParaRPr lang="en-US" sz="400" dirty="0"/>
          </a:p>
        </p:txBody>
      </p:sp>
      <p:sp>
        <p:nvSpPr>
          <p:cNvPr id="185" name="Shape 182"/>
          <p:cNvSpPr/>
          <p:nvPr/>
        </p:nvSpPr>
        <p:spPr>
          <a:xfrm>
            <a:off x="2693891" y="3254676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2693891" y="3254676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87" name="Shape 184"/>
          <p:cNvSpPr/>
          <p:nvPr/>
        </p:nvSpPr>
        <p:spPr>
          <a:xfrm>
            <a:off x="3547570" y="3254676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3594004" y="3270749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9" name="Text 186"/>
          <p:cNvSpPr/>
          <p:nvPr/>
        </p:nvSpPr>
        <p:spPr>
          <a:xfrm>
            <a:off x="3594004" y="3270749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90" name="Text 187"/>
          <p:cNvSpPr/>
          <p:nvPr/>
        </p:nvSpPr>
        <p:spPr>
          <a:xfrm>
            <a:off x="3729735" y="3272535"/>
            <a:ext cx="3518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IP_ADDRESS</a:t>
            </a:r>
            <a:endParaRPr lang="en-US" sz="400" dirty="0"/>
          </a:p>
        </p:txBody>
      </p:sp>
      <p:sp>
        <p:nvSpPr>
          <p:cNvPr id="191" name="Text 188"/>
          <p:cNvSpPr/>
          <p:nvPr/>
        </p:nvSpPr>
        <p:spPr>
          <a:xfrm>
            <a:off x="4097638" y="3272535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92" name="Shape 189"/>
          <p:cNvSpPr/>
          <p:nvPr/>
        </p:nvSpPr>
        <p:spPr>
          <a:xfrm>
            <a:off x="5681765" y="3254676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5681765" y="3254676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 IP address for data session.</a:t>
            </a:r>
            <a:endParaRPr lang="en-US" sz="400" dirty="0"/>
          </a:p>
        </p:txBody>
      </p:sp>
      <p:sp>
        <p:nvSpPr>
          <p:cNvPr id="194" name="Shape 191"/>
          <p:cNvSpPr/>
          <p:nvPr/>
        </p:nvSpPr>
        <p:spPr>
          <a:xfrm>
            <a:off x="303609" y="3439130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342900" y="3467705"/>
            <a:ext cx="44020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nat_public_ip</a:t>
            </a:r>
            <a:endParaRPr lang="en-US" sz="400" dirty="0"/>
          </a:p>
        </p:txBody>
      </p:sp>
      <p:sp>
        <p:nvSpPr>
          <p:cNvPr id="196" name="Shape 193"/>
          <p:cNvSpPr/>
          <p:nvPr/>
        </p:nvSpPr>
        <p:spPr>
          <a:xfrm>
            <a:off x="1581085" y="3439130"/>
            <a:ext cx="1110239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1623947" y="3453417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98" name="Text 195"/>
          <p:cNvSpPr/>
          <p:nvPr/>
        </p:nvSpPr>
        <p:spPr>
          <a:xfrm>
            <a:off x="1623947" y="3529571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VARCHAR(45)</a:t>
            </a:r>
            <a:endParaRPr lang="en-US" sz="400" dirty="0"/>
          </a:p>
        </p:txBody>
      </p:sp>
      <p:sp>
        <p:nvSpPr>
          <p:cNvPr id="199" name="Shape 196"/>
          <p:cNvSpPr/>
          <p:nvPr/>
        </p:nvSpPr>
        <p:spPr>
          <a:xfrm>
            <a:off x="2691324" y="3435558"/>
            <a:ext cx="427006" cy="1808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00" name="Text 197"/>
          <p:cNvSpPr/>
          <p:nvPr/>
        </p:nvSpPr>
        <p:spPr>
          <a:xfrm>
            <a:off x="2691324" y="3435558"/>
            <a:ext cx="427006" cy="180882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201" name="Shape 198"/>
          <p:cNvSpPr/>
          <p:nvPr/>
        </p:nvSpPr>
        <p:spPr>
          <a:xfrm>
            <a:off x="3545337" y="3435558"/>
            <a:ext cx="2135088" cy="1808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3591771" y="3451631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3" name="Text 200"/>
          <p:cNvSpPr/>
          <p:nvPr/>
        </p:nvSpPr>
        <p:spPr>
          <a:xfrm>
            <a:off x="3591771" y="3451631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204" name="Text 201"/>
          <p:cNvSpPr/>
          <p:nvPr/>
        </p:nvSpPr>
        <p:spPr>
          <a:xfrm>
            <a:off x="3727503" y="3453417"/>
            <a:ext cx="36254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IPV4_CGNAT</a:t>
            </a:r>
            <a:endParaRPr lang="en-US" sz="400" dirty="0"/>
          </a:p>
        </p:txBody>
      </p:sp>
      <p:sp>
        <p:nvSpPr>
          <p:cNvPr id="205" name="Text 202"/>
          <p:cNvSpPr/>
          <p:nvPr/>
        </p:nvSpPr>
        <p:spPr>
          <a:xfrm>
            <a:off x="4106121" y="3453417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206" name="Shape 203"/>
          <p:cNvSpPr/>
          <p:nvPr/>
        </p:nvSpPr>
        <p:spPr>
          <a:xfrm>
            <a:off x="5680425" y="3435558"/>
            <a:ext cx="3159965" cy="1808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5680425" y="3435558"/>
            <a:ext cx="3159965" cy="180882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Carrier-grade NAT public IP.</a:t>
            </a:r>
            <a:endParaRPr lang="en-US" sz="400" dirty="0"/>
          </a:p>
        </p:txBody>
      </p:sp>
      <p:sp>
        <p:nvSpPr>
          <p:cNvPr id="208" name="Shape 205"/>
          <p:cNvSpPr/>
          <p:nvPr/>
        </p:nvSpPr>
        <p:spPr>
          <a:xfrm>
            <a:off x="300038" y="3691449"/>
            <a:ext cx="8543925" cy="257175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09" name="Shape 206"/>
          <p:cNvSpPr/>
          <p:nvPr/>
        </p:nvSpPr>
        <p:spPr>
          <a:xfrm>
            <a:off x="300038" y="3691449"/>
            <a:ext cx="85439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0" name="Text 207"/>
          <p:cNvSpPr/>
          <p:nvPr/>
        </p:nvSpPr>
        <p:spPr>
          <a:xfrm>
            <a:off x="300038" y="3691449"/>
            <a:ext cx="8543925" cy="257175"/>
          </a:xfrm>
          <a:prstGeom prst="rect">
            <a:avLst/>
          </a:prstGeom>
          <a:noFill/>
          <a:ln/>
        </p:spPr>
        <p:txBody>
          <a:bodyPr wrap="square" lIns="85090" tIns="59563" rIns="8509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78350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Scanner validation focus:</a:t>
            </a:r>
            <a:r>
              <a:rPr lang="en-US" sz="500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CDR-style records combine party numbers, subscriber/device identifiers, radio-network location attributes, and IP evidence; the linkage risk is higher than any single field in isolation.</a:t>
            </a:r>
            <a:endParaRPr lang="en-US" sz="500" dirty="0"/>
          </a:p>
        </p:txBody>
      </p:sp>
      <p:sp>
        <p:nvSpPr>
          <p:cNvPr id="211" name="Text 208"/>
          <p:cNvSpPr/>
          <p:nvPr/>
        </p:nvSpPr>
        <p:spPr>
          <a:xfrm>
            <a:off x="300038" y="4020062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212" name="Text 209"/>
          <p:cNvSpPr/>
          <p:nvPr/>
        </p:nvSpPr>
        <p:spPr>
          <a:xfrm>
            <a:off x="7688461" y="4020062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telco_billing_invoice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286750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Telecom billing and invoice table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Billing-account and invoice data for postpaid, prepaid hybrid, and fixed-line telecom services. Granularity: one row per issued invoice or billing cycle 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487561" cy="164306"/>
          </a:xfrm>
          <a:prstGeom prst="rect">
            <a:avLst/>
          </a:prstGeom>
          <a:solidFill>
            <a:srgbClr val="DBEAFE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48756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563E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Telecom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844748" y="1009724"/>
            <a:ext cx="576858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4748" y="1009724"/>
            <a:ext cx="57685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11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478756" y="1009724"/>
            <a:ext cx="360759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78756" y="1009724"/>
            <a:ext cx="360759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10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1896666" y="1009724"/>
            <a:ext cx="492919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96666" y="1009724"/>
            <a:ext cx="492919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7615"/>
            <a:ext cx="1280517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7615"/>
            <a:ext cx="1280517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7615"/>
            <a:ext cx="110976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7615"/>
            <a:ext cx="110976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761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761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761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761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7615"/>
            <a:ext cx="213419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7615"/>
            <a:ext cx="213419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7615"/>
            <a:ext cx="3158626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7615"/>
            <a:ext cx="3158626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420685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56404"/>
            <a:ext cx="3771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invoice_id</a:t>
            </a:r>
            <a:endParaRPr lang="en-US" sz="450" dirty="0"/>
          </a:p>
        </p:txBody>
      </p:sp>
      <p:sp>
        <p:nvSpPr>
          <p:cNvPr id="28" name="Shape 25"/>
          <p:cNvSpPr/>
          <p:nvPr/>
        </p:nvSpPr>
        <p:spPr>
          <a:xfrm>
            <a:off x="1584127" y="1420685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47474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30" name="Text 27"/>
          <p:cNvSpPr/>
          <p:nvPr/>
        </p:nvSpPr>
        <p:spPr>
          <a:xfrm>
            <a:off x="1626989" y="1530576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31" name="Shape 28"/>
          <p:cNvSpPr/>
          <p:nvPr/>
        </p:nvSpPr>
        <p:spPr>
          <a:xfrm>
            <a:off x="2693891" y="1420685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42068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33" name="Shape 30"/>
          <p:cNvSpPr/>
          <p:nvPr/>
        </p:nvSpPr>
        <p:spPr>
          <a:xfrm>
            <a:off x="3120730" y="1420685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42068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50" dirty="0"/>
          </a:p>
        </p:txBody>
      </p:sp>
      <p:sp>
        <p:nvSpPr>
          <p:cNvPr id="35" name="Shape 32"/>
          <p:cNvSpPr/>
          <p:nvPr/>
        </p:nvSpPr>
        <p:spPr>
          <a:xfrm>
            <a:off x="3547570" y="1420685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51046"/>
            <a:ext cx="125016" cy="77493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51046"/>
            <a:ext cx="125016" cy="7749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38" name="Text 35"/>
          <p:cNvSpPr/>
          <p:nvPr/>
        </p:nvSpPr>
        <p:spPr>
          <a:xfrm>
            <a:off x="3754738" y="1447474"/>
            <a:ext cx="56792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INVOICE_NUMBER</a:t>
            </a:r>
            <a:endParaRPr lang="en-US" sz="450" dirty="0"/>
          </a:p>
        </p:txBody>
      </p:sp>
      <p:sp>
        <p:nvSpPr>
          <p:cNvPr id="39" name="Text 36"/>
          <p:cNvSpPr/>
          <p:nvPr/>
        </p:nvSpPr>
        <p:spPr>
          <a:xfrm>
            <a:off x="4340526" y="1447474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40" name="Shape 37"/>
          <p:cNvSpPr/>
          <p:nvPr/>
        </p:nvSpPr>
        <p:spPr>
          <a:xfrm>
            <a:off x="5681765" y="1420685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81765" y="1420685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invoice key.</a:t>
            </a:r>
            <a:endParaRPr lang="en-US" sz="450" dirty="0"/>
          </a:p>
        </p:txBody>
      </p:sp>
      <p:sp>
        <p:nvSpPr>
          <p:cNvPr id="42" name="Shape 39"/>
          <p:cNvSpPr/>
          <p:nvPr/>
        </p:nvSpPr>
        <p:spPr>
          <a:xfrm>
            <a:off x="303609" y="1633324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6472" y="1669042"/>
            <a:ext cx="82968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billing_account_number</a:t>
            </a:r>
            <a:endParaRPr lang="en-US" sz="450" dirty="0"/>
          </a:p>
        </p:txBody>
      </p:sp>
      <p:sp>
        <p:nvSpPr>
          <p:cNvPr id="44" name="Shape 41"/>
          <p:cNvSpPr/>
          <p:nvPr/>
        </p:nvSpPr>
        <p:spPr>
          <a:xfrm>
            <a:off x="1584127" y="1633324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26989" y="1656541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46" name="Text 43"/>
          <p:cNvSpPr/>
          <p:nvPr/>
        </p:nvSpPr>
        <p:spPr>
          <a:xfrm>
            <a:off x="1626989" y="1739643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VARCHAR(30)</a:t>
            </a:r>
            <a:endParaRPr lang="en-US" sz="450" dirty="0"/>
          </a:p>
        </p:txBody>
      </p:sp>
      <p:sp>
        <p:nvSpPr>
          <p:cNvPr id="47" name="Shape 44"/>
          <p:cNvSpPr/>
          <p:nvPr/>
        </p:nvSpPr>
        <p:spPr>
          <a:xfrm>
            <a:off x="2693891" y="1629752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693891" y="1629752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49" name="Shape 46"/>
          <p:cNvSpPr/>
          <p:nvPr/>
        </p:nvSpPr>
        <p:spPr>
          <a:xfrm>
            <a:off x="3547570" y="1629752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594004" y="1660113"/>
            <a:ext cx="125016" cy="77493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1" name="Text 48"/>
          <p:cNvSpPr/>
          <p:nvPr/>
        </p:nvSpPr>
        <p:spPr>
          <a:xfrm>
            <a:off x="3594004" y="1660113"/>
            <a:ext cx="125016" cy="7749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2" name="Text 49"/>
          <p:cNvSpPr/>
          <p:nvPr/>
        </p:nvSpPr>
        <p:spPr>
          <a:xfrm>
            <a:off x="3758310" y="1656541"/>
            <a:ext cx="8983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BILLING_ACCOUNT_NUMBER</a:t>
            </a:r>
            <a:endParaRPr lang="en-US" sz="450" dirty="0"/>
          </a:p>
        </p:txBody>
      </p:sp>
      <p:sp>
        <p:nvSpPr>
          <p:cNvPr id="53" name="Text 50"/>
          <p:cNvSpPr/>
          <p:nvPr/>
        </p:nvSpPr>
        <p:spPr>
          <a:xfrm>
            <a:off x="4674496" y="1656541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54" name="Shape 51"/>
          <p:cNvSpPr/>
          <p:nvPr/>
        </p:nvSpPr>
        <p:spPr>
          <a:xfrm>
            <a:off x="5681765" y="1629752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81765" y="1629752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billing account number.</a:t>
            </a:r>
            <a:endParaRPr lang="en-US" sz="450" dirty="0"/>
          </a:p>
        </p:txBody>
      </p:sp>
      <p:sp>
        <p:nvSpPr>
          <p:cNvPr id="56" name="Shape 53"/>
          <p:cNvSpPr/>
          <p:nvPr/>
        </p:nvSpPr>
        <p:spPr>
          <a:xfrm>
            <a:off x="303609" y="1845962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46472" y="1881680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450" dirty="0"/>
          </a:p>
        </p:txBody>
      </p:sp>
      <p:sp>
        <p:nvSpPr>
          <p:cNvPr id="58" name="Shape 55"/>
          <p:cNvSpPr/>
          <p:nvPr/>
        </p:nvSpPr>
        <p:spPr>
          <a:xfrm>
            <a:off x="1584127" y="1845962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626989" y="1869179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60" name="Text 57"/>
          <p:cNvSpPr/>
          <p:nvPr/>
        </p:nvSpPr>
        <p:spPr>
          <a:xfrm>
            <a:off x="1626989" y="1952281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61" name="Shape 58"/>
          <p:cNvSpPr/>
          <p:nvPr/>
        </p:nvSpPr>
        <p:spPr>
          <a:xfrm>
            <a:off x="2693891" y="1842390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693891" y="1842390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63" name="Shape 60"/>
          <p:cNvSpPr/>
          <p:nvPr/>
        </p:nvSpPr>
        <p:spPr>
          <a:xfrm>
            <a:off x="3547570" y="1842390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594004" y="1872751"/>
            <a:ext cx="125016" cy="77493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5" name="Text 62"/>
          <p:cNvSpPr/>
          <p:nvPr/>
        </p:nvSpPr>
        <p:spPr>
          <a:xfrm>
            <a:off x="3594004" y="1872751"/>
            <a:ext cx="125016" cy="7749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6" name="Text 63"/>
          <p:cNvSpPr/>
          <p:nvPr/>
        </p:nvSpPr>
        <p:spPr>
          <a:xfrm>
            <a:off x="3758310" y="1869179"/>
            <a:ext cx="455414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CUSTOMER_ID</a:t>
            </a:r>
            <a:endParaRPr lang="en-US" sz="450" dirty="0"/>
          </a:p>
        </p:txBody>
      </p:sp>
      <p:sp>
        <p:nvSpPr>
          <p:cNvPr id="67" name="Text 64"/>
          <p:cNvSpPr/>
          <p:nvPr/>
        </p:nvSpPr>
        <p:spPr>
          <a:xfrm>
            <a:off x="4231584" y="1869179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68" name="Shape 65"/>
          <p:cNvSpPr/>
          <p:nvPr/>
        </p:nvSpPr>
        <p:spPr>
          <a:xfrm>
            <a:off x="5681765" y="1842390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81765" y="1842390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billed by this invoice.</a:t>
            </a:r>
            <a:endParaRPr lang="en-US" sz="450" dirty="0"/>
          </a:p>
        </p:txBody>
      </p:sp>
      <p:sp>
        <p:nvSpPr>
          <p:cNvPr id="70" name="Shape 67"/>
          <p:cNvSpPr/>
          <p:nvPr/>
        </p:nvSpPr>
        <p:spPr>
          <a:xfrm>
            <a:off x="303609" y="2058600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46472" y="2094319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bill_to_name</a:t>
            </a:r>
            <a:endParaRPr lang="en-US" sz="450" dirty="0"/>
          </a:p>
        </p:txBody>
      </p:sp>
      <p:sp>
        <p:nvSpPr>
          <p:cNvPr id="72" name="Shape 69"/>
          <p:cNvSpPr/>
          <p:nvPr/>
        </p:nvSpPr>
        <p:spPr>
          <a:xfrm>
            <a:off x="1584127" y="2058600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626989" y="2081817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74" name="Text 71"/>
          <p:cNvSpPr/>
          <p:nvPr/>
        </p:nvSpPr>
        <p:spPr>
          <a:xfrm>
            <a:off x="1626989" y="2164919"/>
            <a:ext cx="4902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NVARCHAR(160)</a:t>
            </a:r>
            <a:endParaRPr lang="en-US" sz="450" dirty="0"/>
          </a:p>
        </p:txBody>
      </p:sp>
      <p:sp>
        <p:nvSpPr>
          <p:cNvPr id="75" name="Shape 72"/>
          <p:cNvSpPr/>
          <p:nvPr/>
        </p:nvSpPr>
        <p:spPr>
          <a:xfrm>
            <a:off x="2693891" y="2055028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693891" y="2055028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77" name="Shape 74"/>
          <p:cNvSpPr/>
          <p:nvPr/>
        </p:nvSpPr>
        <p:spPr>
          <a:xfrm>
            <a:off x="3547570" y="2055028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594004" y="2085389"/>
            <a:ext cx="125016" cy="77493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9" name="Text 76"/>
          <p:cNvSpPr/>
          <p:nvPr/>
        </p:nvSpPr>
        <p:spPr>
          <a:xfrm>
            <a:off x="3594004" y="2085389"/>
            <a:ext cx="125016" cy="7749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80" name="Text 77"/>
          <p:cNvSpPr/>
          <p:nvPr/>
        </p:nvSpPr>
        <p:spPr>
          <a:xfrm>
            <a:off x="3758310" y="2081817"/>
            <a:ext cx="25717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PERSON</a:t>
            </a:r>
            <a:endParaRPr lang="en-US" sz="450" dirty="0"/>
          </a:p>
        </p:txBody>
      </p:sp>
      <p:sp>
        <p:nvSpPr>
          <p:cNvPr id="81" name="Text 78"/>
          <p:cNvSpPr/>
          <p:nvPr/>
        </p:nvSpPr>
        <p:spPr>
          <a:xfrm>
            <a:off x="4033345" y="2081817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82" name="Shape 79"/>
          <p:cNvSpPr/>
          <p:nvPr/>
        </p:nvSpPr>
        <p:spPr>
          <a:xfrm>
            <a:off x="5681765" y="2055028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681765" y="2055028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printed on invoice.</a:t>
            </a:r>
            <a:endParaRPr lang="en-US" sz="450" dirty="0"/>
          </a:p>
        </p:txBody>
      </p:sp>
      <p:sp>
        <p:nvSpPr>
          <p:cNvPr id="84" name="Shape 81"/>
          <p:cNvSpPr/>
          <p:nvPr/>
        </p:nvSpPr>
        <p:spPr>
          <a:xfrm>
            <a:off x="303609" y="2271238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46472" y="2306957"/>
            <a:ext cx="5279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bill_to_mobile</a:t>
            </a:r>
            <a:endParaRPr lang="en-US" sz="450" dirty="0"/>
          </a:p>
        </p:txBody>
      </p:sp>
      <p:sp>
        <p:nvSpPr>
          <p:cNvPr id="86" name="Shape 83"/>
          <p:cNvSpPr/>
          <p:nvPr/>
        </p:nvSpPr>
        <p:spPr>
          <a:xfrm>
            <a:off x="1584127" y="2271238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626989" y="2294455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88" name="Text 85"/>
          <p:cNvSpPr/>
          <p:nvPr/>
        </p:nvSpPr>
        <p:spPr>
          <a:xfrm>
            <a:off x="1626989" y="2377557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50" dirty="0"/>
          </a:p>
        </p:txBody>
      </p:sp>
      <p:sp>
        <p:nvSpPr>
          <p:cNvPr id="89" name="Shape 86"/>
          <p:cNvSpPr/>
          <p:nvPr/>
        </p:nvSpPr>
        <p:spPr>
          <a:xfrm>
            <a:off x="2693891" y="2267666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693891" y="2267666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91" name="Shape 88"/>
          <p:cNvSpPr/>
          <p:nvPr/>
        </p:nvSpPr>
        <p:spPr>
          <a:xfrm>
            <a:off x="3547570" y="2267666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594004" y="2298027"/>
            <a:ext cx="125016" cy="77493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3" name="Text 90"/>
          <p:cNvSpPr/>
          <p:nvPr/>
        </p:nvSpPr>
        <p:spPr>
          <a:xfrm>
            <a:off x="3594004" y="2298027"/>
            <a:ext cx="125016" cy="7749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4" name="Text 91"/>
          <p:cNvSpPr/>
          <p:nvPr/>
        </p:nvSpPr>
        <p:spPr>
          <a:xfrm>
            <a:off x="3758310" y="2294455"/>
            <a:ext cx="60007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EGYPTIAN_MOBILE</a:t>
            </a:r>
            <a:endParaRPr lang="en-US" sz="450" dirty="0"/>
          </a:p>
        </p:txBody>
      </p:sp>
      <p:sp>
        <p:nvSpPr>
          <p:cNvPr id="95" name="Text 92"/>
          <p:cNvSpPr/>
          <p:nvPr/>
        </p:nvSpPr>
        <p:spPr>
          <a:xfrm>
            <a:off x="4376245" y="2294455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96" name="Shape 93"/>
          <p:cNvSpPr/>
          <p:nvPr/>
        </p:nvSpPr>
        <p:spPr>
          <a:xfrm>
            <a:off x="5681765" y="2267666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681765" y="2267666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phone on invoice.</a:t>
            </a:r>
            <a:endParaRPr lang="en-US" sz="450" dirty="0"/>
          </a:p>
        </p:txBody>
      </p:sp>
      <p:sp>
        <p:nvSpPr>
          <p:cNvPr id="98" name="Shape 95"/>
          <p:cNvSpPr/>
          <p:nvPr/>
        </p:nvSpPr>
        <p:spPr>
          <a:xfrm>
            <a:off x="303609" y="2483876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46472" y="2519595"/>
            <a:ext cx="56569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billing_address</a:t>
            </a:r>
            <a:endParaRPr lang="en-US" sz="450" dirty="0"/>
          </a:p>
        </p:txBody>
      </p:sp>
      <p:sp>
        <p:nvSpPr>
          <p:cNvPr id="100" name="Shape 97"/>
          <p:cNvSpPr/>
          <p:nvPr/>
        </p:nvSpPr>
        <p:spPr>
          <a:xfrm>
            <a:off x="1584127" y="2483876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626989" y="2507093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02" name="Text 99"/>
          <p:cNvSpPr/>
          <p:nvPr/>
        </p:nvSpPr>
        <p:spPr>
          <a:xfrm>
            <a:off x="1626989" y="2590195"/>
            <a:ext cx="4902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NVARCHAR(300)</a:t>
            </a:r>
            <a:endParaRPr lang="en-US" sz="450" dirty="0"/>
          </a:p>
        </p:txBody>
      </p:sp>
      <p:sp>
        <p:nvSpPr>
          <p:cNvPr id="103" name="Shape 100"/>
          <p:cNvSpPr/>
          <p:nvPr/>
        </p:nvSpPr>
        <p:spPr>
          <a:xfrm>
            <a:off x="2693891" y="2480304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2693891" y="2480304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05" name="Shape 102"/>
          <p:cNvSpPr/>
          <p:nvPr/>
        </p:nvSpPr>
        <p:spPr>
          <a:xfrm>
            <a:off x="3547570" y="2480304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594004" y="2510665"/>
            <a:ext cx="125016" cy="77493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7" name="Text 104"/>
          <p:cNvSpPr/>
          <p:nvPr/>
        </p:nvSpPr>
        <p:spPr>
          <a:xfrm>
            <a:off x="3594004" y="2510665"/>
            <a:ext cx="125016" cy="7749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8" name="Text 105"/>
          <p:cNvSpPr/>
          <p:nvPr/>
        </p:nvSpPr>
        <p:spPr>
          <a:xfrm>
            <a:off x="3758310" y="2507093"/>
            <a:ext cx="65722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LOCATION_ADDRESS</a:t>
            </a:r>
            <a:endParaRPr lang="en-US" sz="450" dirty="0"/>
          </a:p>
        </p:txBody>
      </p:sp>
      <p:sp>
        <p:nvSpPr>
          <p:cNvPr id="109" name="Text 106"/>
          <p:cNvSpPr/>
          <p:nvPr/>
        </p:nvSpPr>
        <p:spPr>
          <a:xfrm>
            <a:off x="4433395" y="2507093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110" name="Shape 107"/>
          <p:cNvSpPr/>
          <p:nvPr/>
        </p:nvSpPr>
        <p:spPr>
          <a:xfrm>
            <a:off x="5681765" y="2480304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681765" y="2480304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physical billing address.</a:t>
            </a:r>
            <a:endParaRPr lang="en-US" sz="450" dirty="0"/>
          </a:p>
        </p:txBody>
      </p:sp>
      <p:sp>
        <p:nvSpPr>
          <p:cNvPr id="112" name="Shape 109"/>
          <p:cNvSpPr/>
          <p:nvPr/>
        </p:nvSpPr>
        <p:spPr>
          <a:xfrm>
            <a:off x="303609" y="2696514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46472" y="2732233"/>
            <a:ext cx="86738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tax_registration_number</a:t>
            </a:r>
            <a:endParaRPr lang="en-US" sz="450" dirty="0"/>
          </a:p>
        </p:txBody>
      </p:sp>
      <p:sp>
        <p:nvSpPr>
          <p:cNvPr id="114" name="Shape 111"/>
          <p:cNvSpPr/>
          <p:nvPr/>
        </p:nvSpPr>
        <p:spPr>
          <a:xfrm>
            <a:off x="1584127" y="2696514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1626989" y="2719732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16" name="Text 113"/>
          <p:cNvSpPr/>
          <p:nvPr/>
        </p:nvSpPr>
        <p:spPr>
          <a:xfrm>
            <a:off x="1626989" y="2802834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50" dirty="0"/>
          </a:p>
        </p:txBody>
      </p:sp>
      <p:sp>
        <p:nvSpPr>
          <p:cNvPr id="117" name="Shape 114"/>
          <p:cNvSpPr/>
          <p:nvPr/>
        </p:nvSpPr>
        <p:spPr>
          <a:xfrm>
            <a:off x="2693891" y="2692943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2693891" y="2692943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19" name="Shape 116"/>
          <p:cNvSpPr/>
          <p:nvPr/>
        </p:nvSpPr>
        <p:spPr>
          <a:xfrm>
            <a:off x="3547570" y="2692943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3594004" y="2723304"/>
            <a:ext cx="125016" cy="77493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1" name="Text 118"/>
          <p:cNvSpPr/>
          <p:nvPr/>
        </p:nvSpPr>
        <p:spPr>
          <a:xfrm>
            <a:off x="3594004" y="2723304"/>
            <a:ext cx="125016" cy="7749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2" name="Text 119"/>
          <p:cNvSpPr/>
          <p:nvPr/>
        </p:nvSpPr>
        <p:spPr>
          <a:xfrm>
            <a:off x="3758310" y="2719732"/>
            <a:ext cx="105191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EG_TAX_REGISTRATION_NUMBER</a:t>
            </a:r>
            <a:endParaRPr lang="en-US" sz="450" dirty="0"/>
          </a:p>
        </p:txBody>
      </p:sp>
      <p:sp>
        <p:nvSpPr>
          <p:cNvPr id="123" name="Text 120"/>
          <p:cNvSpPr/>
          <p:nvPr/>
        </p:nvSpPr>
        <p:spPr>
          <a:xfrm>
            <a:off x="4828087" y="2719732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124" name="Shape 121"/>
          <p:cNvSpPr/>
          <p:nvPr/>
        </p:nvSpPr>
        <p:spPr>
          <a:xfrm>
            <a:off x="5681765" y="2692943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5681765" y="2692943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Egyptian TRN for business customer invoices.</a:t>
            </a:r>
            <a:endParaRPr lang="en-US" sz="450" dirty="0"/>
          </a:p>
        </p:txBody>
      </p:sp>
      <p:sp>
        <p:nvSpPr>
          <p:cNvPr id="126" name="Shape 123"/>
          <p:cNvSpPr/>
          <p:nvPr/>
        </p:nvSpPr>
        <p:spPr>
          <a:xfrm>
            <a:off x="303609" y="2909153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346472" y="2944871"/>
            <a:ext cx="98050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commercial_registry_number</a:t>
            </a:r>
            <a:endParaRPr lang="en-US" sz="450" dirty="0"/>
          </a:p>
        </p:txBody>
      </p:sp>
      <p:sp>
        <p:nvSpPr>
          <p:cNvPr id="128" name="Shape 125"/>
          <p:cNvSpPr/>
          <p:nvPr/>
        </p:nvSpPr>
        <p:spPr>
          <a:xfrm>
            <a:off x="1584127" y="2909153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626989" y="2932370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30" name="Text 127"/>
          <p:cNvSpPr/>
          <p:nvPr/>
        </p:nvSpPr>
        <p:spPr>
          <a:xfrm>
            <a:off x="1626989" y="3015472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50" dirty="0"/>
          </a:p>
        </p:txBody>
      </p:sp>
      <p:sp>
        <p:nvSpPr>
          <p:cNvPr id="131" name="Shape 128"/>
          <p:cNvSpPr/>
          <p:nvPr/>
        </p:nvSpPr>
        <p:spPr>
          <a:xfrm>
            <a:off x="2693891" y="2905581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2693891" y="2905581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33" name="Shape 130"/>
          <p:cNvSpPr/>
          <p:nvPr/>
        </p:nvSpPr>
        <p:spPr>
          <a:xfrm>
            <a:off x="3547570" y="2905581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3594004" y="2935942"/>
            <a:ext cx="125016" cy="77493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5" name="Text 132"/>
          <p:cNvSpPr/>
          <p:nvPr/>
        </p:nvSpPr>
        <p:spPr>
          <a:xfrm>
            <a:off x="3594004" y="2935942"/>
            <a:ext cx="125016" cy="7749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6" name="Text 133"/>
          <p:cNvSpPr/>
          <p:nvPr/>
        </p:nvSpPr>
        <p:spPr>
          <a:xfrm>
            <a:off x="3758310" y="2932370"/>
            <a:ext cx="1201936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EG_COMMERCIAL_REGISTRY_NUMBER</a:t>
            </a:r>
            <a:endParaRPr lang="en-US" sz="450" dirty="0"/>
          </a:p>
        </p:txBody>
      </p:sp>
      <p:sp>
        <p:nvSpPr>
          <p:cNvPr id="137" name="Text 134"/>
          <p:cNvSpPr/>
          <p:nvPr/>
        </p:nvSpPr>
        <p:spPr>
          <a:xfrm>
            <a:off x="4978105" y="2932370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138" name="Shape 135"/>
          <p:cNvSpPr/>
          <p:nvPr/>
        </p:nvSpPr>
        <p:spPr>
          <a:xfrm>
            <a:off x="5681765" y="2905581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5681765" y="2905581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Egyptian CRN for business customers.</a:t>
            </a:r>
            <a:endParaRPr lang="en-US" sz="450" dirty="0"/>
          </a:p>
        </p:txBody>
      </p:sp>
      <p:sp>
        <p:nvSpPr>
          <p:cNvPr id="140" name="Shape 137"/>
          <p:cNvSpPr/>
          <p:nvPr/>
        </p:nvSpPr>
        <p:spPr>
          <a:xfrm>
            <a:off x="303609" y="3121791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346472" y="3157510"/>
            <a:ext cx="15085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iban</a:t>
            </a:r>
            <a:endParaRPr lang="en-US" sz="450" dirty="0"/>
          </a:p>
        </p:txBody>
      </p:sp>
      <p:sp>
        <p:nvSpPr>
          <p:cNvPr id="142" name="Shape 139"/>
          <p:cNvSpPr/>
          <p:nvPr/>
        </p:nvSpPr>
        <p:spPr>
          <a:xfrm>
            <a:off x="1584127" y="3121791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626989" y="3145008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44" name="Text 141"/>
          <p:cNvSpPr/>
          <p:nvPr/>
        </p:nvSpPr>
        <p:spPr>
          <a:xfrm>
            <a:off x="1626989" y="3228110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VARCHAR(34)</a:t>
            </a:r>
            <a:endParaRPr lang="en-US" sz="450" dirty="0"/>
          </a:p>
        </p:txBody>
      </p:sp>
      <p:sp>
        <p:nvSpPr>
          <p:cNvPr id="145" name="Shape 142"/>
          <p:cNvSpPr/>
          <p:nvPr/>
        </p:nvSpPr>
        <p:spPr>
          <a:xfrm>
            <a:off x="2693891" y="3118219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2693891" y="3118219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47" name="Shape 144"/>
          <p:cNvSpPr/>
          <p:nvPr/>
        </p:nvSpPr>
        <p:spPr>
          <a:xfrm>
            <a:off x="3547570" y="3118219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594004" y="3148580"/>
            <a:ext cx="125016" cy="77493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9" name="Text 146"/>
          <p:cNvSpPr/>
          <p:nvPr/>
        </p:nvSpPr>
        <p:spPr>
          <a:xfrm>
            <a:off x="3594004" y="3148580"/>
            <a:ext cx="125016" cy="7749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50" name="Text 147"/>
          <p:cNvSpPr/>
          <p:nvPr/>
        </p:nvSpPr>
        <p:spPr>
          <a:xfrm>
            <a:off x="3758310" y="3145008"/>
            <a:ext cx="36254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IBAN_CODE</a:t>
            </a:r>
            <a:endParaRPr lang="en-US" sz="450" dirty="0"/>
          </a:p>
        </p:txBody>
      </p:sp>
      <p:sp>
        <p:nvSpPr>
          <p:cNvPr id="151" name="Text 148"/>
          <p:cNvSpPr/>
          <p:nvPr/>
        </p:nvSpPr>
        <p:spPr>
          <a:xfrm>
            <a:off x="4138715" y="3145008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152" name="Shape 149"/>
          <p:cNvSpPr/>
          <p:nvPr/>
        </p:nvSpPr>
        <p:spPr>
          <a:xfrm>
            <a:off x="5681765" y="3118219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5681765" y="3118219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IBAN used for bank transfer or refund.</a:t>
            </a:r>
            <a:endParaRPr lang="en-US" sz="450" dirty="0"/>
          </a:p>
        </p:txBody>
      </p:sp>
      <p:sp>
        <p:nvSpPr>
          <p:cNvPr id="154" name="Shape 151"/>
          <p:cNvSpPr/>
          <p:nvPr/>
        </p:nvSpPr>
        <p:spPr>
          <a:xfrm>
            <a:off x="303609" y="3334429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346472" y="3370148"/>
            <a:ext cx="3771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card_last4</a:t>
            </a:r>
            <a:endParaRPr lang="en-US" sz="450" dirty="0"/>
          </a:p>
        </p:txBody>
      </p:sp>
      <p:sp>
        <p:nvSpPr>
          <p:cNvPr id="156" name="Shape 153"/>
          <p:cNvSpPr/>
          <p:nvPr/>
        </p:nvSpPr>
        <p:spPr>
          <a:xfrm>
            <a:off x="1584127" y="3334429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1626989" y="3357646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58" name="Text 155"/>
          <p:cNvSpPr/>
          <p:nvPr/>
        </p:nvSpPr>
        <p:spPr>
          <a:xfrm>
            <a:off x="1626989" y="3440748"/>
            <a:ext cx="26398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CHAR(4)</a:t>
            </a:r>
            <a:endParaRPr lang="en-US" sz="450" dirty="0"/>
          </a:p>
        </p:txBody>
      </p:sp>
      <p:sp>
        <p:nvSpPr>
          <p:cNvPr id="159" name="Shape 156"/>
          <p:cNvSpPr/>
          <p:nvPr/>
        </p:nvSpPr>
        <p:spPr>
          <a:xfrm>
            <a:off x="2693891" y="3330857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2693891" y="3330857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61" name="Shape 158"/>
          <p:cNvSpPr/>
          <p:nvPr/>
        </p:nvSpPr>
        <p:spPr>
          <a:xfrm>
            <a:off x="3547570" y="3330857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3594004" y="3361218"/>
            <a:ext cx="125016" cy="77493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3" name="Text 160"/>
          <p:cNvSpPr/>
          <p:nvPr/>
        </p:nvSpPr>
        <p:spPr>
          <a:xfrm>
            <a:off x="3594004" y="3361218"/>
            <a:ext cx="125016" cy="7749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64" name="Text 161"/>
          <p:cNvSpPr/>
          <p:nvPr/>
        </p:nvSpPr>
        <p:spPr>
          <a:xfrm>
            <a:off x="3758310" y="3357646"/>
            <a:ext cx="433983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CREDIT_CARD</a:t>
            </a:r>
            <a:endParaRPr lang="en-US" sz="450" dirty="0"/>
          </a:p>
        </p:txBody>
      </p:sp>
      <p:sp>
        <p:nvSpPr>
          <p:cNvPr id="165" name="Text 162"/>
          <p:cNvSpPr/>
          <p:nvPr/>
        </p:nvSpPr>
        <p:spPr>
          <a:xfrm>
            <a:off x="4210152" y="3357646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166" name="Shape 163"/>
          <p:cNvSpPr/>
          <p:nvPr/>
        </p:nvSpPr>
        <p:spPr>
          <a:xfrm>
            <a:off x="5681765" y="3330857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5681765" y="3330857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 payment-card suffix.</a:t>
            </a:r>
            <a:endParaRPr lang="en-US" sz="450" dirty="0"/>
          </a:p>
        </p:txBody>
      </p:sp>
      <p:sp>
        <p:nvSpPr>
          <p:cNvPr id="168" name="Shape 165"/>
          <p:cNvSpPr/>
          <p:nvPr/>
        </p:nvSpPr>
        <p:spPr>
          <a:xfrm>
            <a:off x="303609" y="3547067"/>
            <a:ext cx="1280517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342900" y="3582786"/>
            <a:ext cx="67882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invoice_amount_egp</a:t>
            </a:r>
            <a:endParaRPr lang="en-US" sz="450" dirty="0"/>
          </a:p>
        </p:txBody>
      </p:sp>
      <p:sp>
        <p:nvSpPr>
          <p:cNvPr id="170" name="Shape 167"/>
          <p:cNvSpPr/>
          <p:nvPr/>
        </p:nvSpPr>
        <p:spPr>
          <a:xfrm>
            <a:off x="1581085" y="3547067"/>
            <a:ext cx="1110239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1623947" y="3570284"/>
            <a:ext cx="230386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</a:t>
            </a:r>
            <a:endParaRPr lang="en-US" sz="450" dirty="0"/>
          </a:p>
        </p:txBody>
      </p:sp>
      <p:sp>
        <p:nvSpPr>
          <p:cNvPr id="172" name="Text 169"/>
          <p:cNvSpPr/>
          <p:nvPr/>
        </p:nvSpPr>
        <p:spPr>
          <a:xfrm>
            <a:off x="1623947" y="3653386"/>
            <a:ext cx="4902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DECIMAL(12,2)</a:t>
            </a:r>
            <a:endParaRPr lang="en-US" sz="450" dirty="0"/>
          </a:p>
        </p:txBody>
      </p:sp>
      <p:sp>
        <p:nvSpPr>
          <p:cNvPr id="173" name="Shape 170"/>
          <p:cNvSpPr/>
          <p:nvPr/>
        </p:nvSpPr>
        <p:spPr>
          <a:xfrm>
            <a:off x="2691324" y="3543495"/>
            <a:ext cx="427006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2691324" y="3543495"/>
            <a:ext cx="427006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75" name="Shape 172"/>
          <p:cNvSpPr/>
          <p:nvPr/>
        </p:nvSpPr>
        <p:spPr>
          <a:xfrm>
            <a:off x="3545337" y="3543495"/>
            <a:ext cx="2135088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3591771" y="3573856"/>
            <a:ext cx="273248" cy="77493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7" name="Text 174"/>
          <p:cNvSpPr/>
          <p:nvPr/>
        </p:nvSpPr>
        <p:spPr>
          <a:xfrm>
            <a:off x="3591771" y="3573856"/>
            <a:ext cx="273248" cy="7749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78" name="Shape 175"/>
          <p:cNvSpPr/>
          <p:nvPr/>
        </p:nvSpPr>
        <p:spPr>
          <a:xfrm>
            <a:off x="5680425" y="3543495"/>
            <a:ext cx="3159965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5680425" y="3543495"/>
            <a:ext cx="3159965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amount.</a:t>
            </a:r>
            <a:endParaRPr lang="en-US" sz="450" dirty="0"/>
          </a:p>
        </p:txBody>
      </p:sp>
      <p:sp>
        <p:nvSpPr>
          <p:cNvPr id="180" name="Text 177"/>
          <p:cNvSpPr/>
          <p:nvPr/>
        </p:nvSpPr>
        <p:spPr>
          <a:xfrm>
            <a:off x="300038" y="3845430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81" name="Text 178"/>
          <p:cNvSpPr/>
          <p:nvPr/>
        </p:nvSpPr>
        <p:spPr>
          <a:xfrm>
            <a:off x="7688461" y="3845430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6A34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E-COMMERCE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eshop_customer_account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343900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E-commerce customer account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Customer account table for Egyptian e-commerce, marketplace, and digital retail use cases. Granularity: one row per registered customer account.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884374"/>
            <a:ext cx="653653" cy="164306"/>
          </a:xfrm>
          <a:prstGeom prst="rect">
            <a:avLst/>
          </a:prstGeom>
          <a:solidFill>
            <a:srgbClr val="DCFCE7"/>
          </a:solidFill>
          <a:ln w="9144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884374"/>
            <a:ext cx="653653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16A34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E-commerce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1010841" y="884374"/>
            <a:ext cx="560784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0841" y="884374"/>
            <a:ext cx="560784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9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628775" y="884374"/>
            <a:ext cx="325041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28775" y="884374"/>
            <a:ext cx="32504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8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2010966" y="884374"/>
            <a:ext cx="492919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0966" y="884374"/>
            <a:ext cx="492919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152265"/>
            <a:ext cx="1280517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152265"/>
            <a:ext cx="1280517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152265"/>
            <a:ext cx="110976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152265"/>
            <a:ext cx="110976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15226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15226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152265"/>
            <a:ext cx="426839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152265"/>
            <a:ext cx="426839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152265"/>
            <a:ext cx="2134195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152265"/>
            <a:ext cx="2134195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152265"/>
            <a:ext cx="3158626" cy="15021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152265"/>
            <a:ext cx="3158626" cy="150214"/>
          </a:xfrm>
          <a:prstGeom prst="rect">
            <a:avLst/>
          </a:prstGeom>
          <a:noFill/>
          <a:ln/>
        </p:spPr>
        <p:txBody>
          <a:bodyPr wrap="square" lIns="51054" tIns="42545" rIns="51054" bIns="42545" rtlCol="0" anchor="ctr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295335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331054"/>
            <a:ext cx="64112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eshop_customer_id</a:t>
            </a:r>
            <a:endParaRPr lang="en-US" sz="450" dirty="0"/>
          </a:p>
        </p:txBody>
      </p:sp>
      <p:sp>
        <p:nvSpPr>
          <p:cNvPr id="28" name="Shape 25"/>
          <p:cNvSpPr/>
          <p:nvPr/>
        </p:nvSpPr>
        <p:spPr>
          <a:xfrm>
            <a:off x="1584127" y="1295335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322124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30" name="Text 27"/>
          <p:cNvSpPr/>
          <p:nvPr/>
        </p:nvSpPr>
        <p:spPr>
          <a:xfrm>
            <a:off x="1626989" y="1405226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50" dirty="0"/>
          </a:p>
        </p:txBody>
      </p:sp>
      <p:sp>
        <p:nvSpPr>
          <p:cNvPr id="31" name="Shape 28"/>
          <p:cNvSpPr/>
          <p:nvPr/>
        </p:nvSpPr>
        <p:spPr>
          <a:xfrm>
            <a:off x="2693891" y="1295335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29533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33" name="Shape 30"/>
          <p:cNvSpPr/>
          <p:nvPr/>
        </p:nvSpPr>
        <p:spPr>
          <a:xfrm>
            <a:off x="3120730" y="1295335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295335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50" dirty="0"/>
          </a:p>
        </p:txBody>
      </p:sp>
      <p:sp>
        <p:nvSpPr>
          <p:cNvPr id="35" name="Shape 32"/>
          <p:cNvSpPr/>
          <p:nvPr/>
        </p:nvSpPr>
        <p:spPr>
          <a:xfrm>
            <a:off x="3547570" y="1295335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323910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323910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38" name="Text 35"/>
          <p:cNvSpPr/>
          <p:nvPr/>
        </p:nvSpPr>
        <p:spPr>
          <a:xfrm>
            <a:off x="3733307" y="1322124"/>
            <a:ext cx="455414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CUSTOMER_ID</a:t>
            </a:r>
            <a:endParaRPr lang="en-US" sz="450" dirty="0"/>
          </a:p>
        </p:txBody>
      </p:sp>
      <p:sp>
        <p:nvSpPr>
          <p:cNvPr id="39" name="Text 36"/>
          <p:cNvSpPr/>
          <p:nvPr/>
        </p:nvSpPr>
        <p:spPr>
          <a:xfrm>
            <a:off x="4206580" y="1322124"/>
            <a:ext cx="30003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50" dirty="0"/>
          </a:p>
        </p:txBody>
      </p:sp>
      <p:sp>
        <p:nvSpPr>
          <p:cNvPr id="40" name="Shape 37"/>
          <p:cNvSpPr/>
          <p:nvPr/>
        </p:nvSpPr>
        <p:spPr>
          <a:xfrm>
            <a:off x="5681765" y="1295335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81765" y="1295335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customer account key.</a:t>
            </a:r>
            <a:endParaRPr lang="en-US" sz="450" dirty="0"/>
          </a:p>
        </p:txBody>
      </p:sp>
      <p:sp>
        <p:nvSpPr>
          <p:cNvPr id="42" name="Shape 39"/>
          <p:cNvSpPr/>
          <p:nvPr/>
        </p:nvSpPr>
        <p:spPr>
          <a:xfrm>
            <a:off x="303609" y="1507973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6472" y="1543692"/>
            <a:ext cx="33941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endParaRPr lang="en-US" sz="450" dirty="0"/>
          </a:p>
        </p:txBody>
      </p:sp>
      <p:sp>
        <p:nvSpPr>
          <p:cNvPr id="44" name="Shape 41"/>
          <p:cNvSpPr/>
          <p:nvPr/>
        </p:nvSpPr>
        <p:spPr>
          <a:xfrm>
            <a:off x="1584127" y="1507973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26989" y="1531190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46" name="Text 43"/>
          <p:cNvSpPr/>
          <p:nvPr/>
        </p:nvSpPr>
        <p:spPr>
          <a:xfrm>
            <a:off x="1626989" y="1614292"/>
            <a:ext cx="4902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NVARCHAR(160)</a:t>
            </a:r>
            <a:endParaRPr lang="en-US" sz="450" dirty="0"/>
          </a:p>
        </p:txBody>
      </p:sp>
      <p:sp>
        <p:nvSpPr>
          <p:cNvPr id="47" name="Shape 44"/>
          <p:cNvSpPr/>
          <p:nvPr/>
        </p:nvSpPr>
        <p:spPr>
          <a:xfrm>
            <a:off x="2693891" y="1504401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693891" y="1504401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49" name="Shape 46"/>
          <p:cNvSpPr/>
          <p:nvPr/>
        </p:nvSpPr>
        <p:spPr>
          <a:xfrm>
            <a:off x="3547570" y="1504401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594004" y="1532976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1" name="Text 48"/>
          <p:cNvSpPr/>
          <p:nvPr/>
        </p:nvSpPr>
        <p:spPr>
          <a:xfrm>
            <a:off x="3594004" y="1532976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2" name="Text 49"/>
          <p:cNvSpPr/>
          <p:nvPr/>
        </p:nvSpPr>
        <p:spPr>
          <a:xfrm>
            <a:off x="3736879" y="1531190"/>
            <a:ext cx="25717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PERSON</a:t>
            </a:r>
            <a:endParaRPr lang="en-US" sz="450" dirty="0"/>
          </a:p>
        </p:txBody>
      </p:sp>
      <p:sp>
        <p:nvSpPr>
          <p:cNvPr id="53" name="Text 50"/>
          <p:cNvSpPr/>
          <p:nvPr/>
        </p:nvSpPr>
        <p:spPr>
          <a:xfrm>
            <a:off x="4011913" y="1531190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54" name="Shape 51"/>
          <p:cNvSpPr/>
          <p:nvPr/>
        </p:nvSpPr>
        <p:spPr>
          <a:xfrm>
            <a:off x="5681765" y="1504401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81765" y="1504401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Displayed or legal customer name.</a:t>
            </a:r>
            <a:endParaRPr lang="en-US" sz="450" dirty="0"/>
          </a:p>
        </p:txBody>
      </p:sp>
      <p:sp>
        <p:nvSpPr>
          <p:cNvPr id="56" name="Shape 53"/>
          <p:cNvSpPr/>
          <p:nvPr/>
        </p:nvSpPr>
        <p:spPr>
          <a:xfrm>
            <a:off x="303609" y="1720611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46472" y="1756330"/>
            <a:ext cx="4902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email_address</a:t>
            </a:r>
            <a:endParaRPr lang="en-US" sz="450" dirty="0"/>
          </a:p>
        </p:txBody>
      </p:sp>
      <p:sp>
        <p:nvSpPr>
          <p:cNvPr id="58" name="Shape 55"/>
          <p:cNvSpPr/>
          <p:nvPr/>
        </p:nvSpPr>
        <p:spPr>
          <a:xfrm>
            <a:off x="1584127" y="1720611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626989" y="1743828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60" name="Text 57"/>
          <p:cNvSpPr/>
          <p:nvPr/>
        </p:nvSpPr>
        <p:spPr>
          <a:xfrm>
            <a:off x="1626989" y="1826930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VARCHAR(254)</a:t>
            </a:r>
            <a:endParaRPr lang="en-US" sz="450" dirty="0"/>
          </a:p>
        </p:txBody>
      </p:sp>
      <p:sp>
        <p:nvSpPr>
          <p:cNvPr id="61" name="Shape 58"/>
          <p:cNvSpPr/>
          <p:nvPr/>
        </p:nvSpPr>
        <p:spPr>
          <a:xfrm>
            <a:off x="2693891" y="1717039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693891" y="1717039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63" name="Shape 60"/>
          <p:cNvSpPr/>
          <p:nvPr/>
        </p:nvSpPr>
        <p:spPr>
          <a:xfrm>
            <a:off x="3547570" y="1717039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594004" y="1745614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5" name="Text 62"/>
          <p:cNvSpPr/>
          <p:nvPr/>
        </p:nvSpPr>
        <p:spPr>
          <a:xfrm>
            <a:off x="3594004" y="1745614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6" name="Text 63"/>
          <p:cNvSpPr/>
          <p:nvPr/>
        </p:nvSpPr>
        <p:spPr>
          <a:xfrm>
            <a:off x="3736879" y="1743828"/>
            <a:ext cx="526852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EMAIL_ADDRESS</a:t>
            </a:r>
            <a:endParaRPr lang="en-US" sz="450" dirty="0"/>
          </a:p>
        </p:txBody>
      </p:sp>
      <p:sp>
        <p:nvSpPr>
          <p:cNvPr id="67" name="Text 64"/>
          <p:cNvSpPr/>
          <p:nvPr/>
        </p:nvSpPr>
        <p:spPr>
          <a:xfrm>
            <a:off x="4281590" y="1743828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68" name="Shape 65"/>
          <p:cNvSpPr/>
          <p:nvPr/>
        </p:nvSpPr>
        <p:spPr>
          <a:xfrm>
            <a:off x="5681765" y="1717039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81765" y="1717039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and notification email.</a:t>
            </a:r>
            <a:endParaRPr lang="en-US" sz="450" dirty="0"/>
          </a:p>
        </p:txBody>
      </p:sp>
      <p:sp>
        <p:nvSpPr>
          <p:cNvPr id="70" name="Shape 67"/>
          <p:cNvSpPr/>
          <p:nvPr/>
        </p:nvSpPr>
        <p:spPr>
          <a:xfrm>
            <a:off x="303609" y="1933249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46472" y="1968968"/>
            <a:ext cx="4902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mobile_number</a:t>
            </a:r>
            <a:endParaRPr lang="en-US" sz="450" dirty="0"/>
          </a:p>
        </p:txBody>
      </p:sp>
      <p:sp>
        <p:nvSpPr>
          <p:cNvPr id="72" name="Shape 69"/>
          <p:cNvSpPr/>
          <p:nvPr/>
        </p:nvSpPr>
        <p:spPr>
          <a:xfrm>
            <a:off x="1584127" y="1933249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626989" y="1956467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74" name="Text 71"/>
          <p:cNvSpPr/>
          <p:nvPr/>
        </p:nvSpPr>
        <p:spPr>
          <a:xfrm>
            <a:off x="1626989" y="2039569"/>
            <a:ext cx="4148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50" dirty="0"/>
          </a:p>
        </p:txBody>
      </p:sp>
      <p:sp>
        <p:nvSpPr>
          <p:cNvPr id="75" name="Shape 72"/>
          <p:cNvSpPr/>
          <p:nvPr/>
        </p:nvSpPr>
        <p:spPr>
          <a:xfrm>
            <a:off x="2693891" y="1929678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693891" y="1929678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50" dirty="0"/>
          </a:p>
        </p:txBody>
      </p:sp>
      <p:sp>
        <p:nvSpPr>
          <p:cNvPr id="77" name="Shape 74"/>
          <p:cNvSpPr/>
          <p:nvPr/>
        </p:nvSpPr>
        <p:spPr>
          <a:xfrm>
            <a:off x="3547570" y="1929678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594004" y="1958253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9" name="Text 76"/>
          <p:cNvSpPr/>
          <p:nvPr/>
        </p:nvSpPr>
        <p:spPr>
          <a:xfrm>
            <a:off x="3594004" y="1958253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80" name="Text 77"/>
          <p:cNvSpPr/>
          <p:nvPr/>
        </p:nvSpPr>
        <p:spPr>
          <a:xfrm>
            <a:off x="3736879" y="1956467"/>
            <a:ext cx="600075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EGYPTIAN_MOBILE</a:t>
            </a:r>
            <a:endParaRPr lang="en-US" sz="450" dirty="0"/>
          </a:p>
        </p:txBody>
      </p:sp>
      <p:sp>
        <p:nvSpPr>
          <p:cNvPr id="81" name="Text 78"/>
          <p:cNvSpPr/>
          <p:nvPr/>
        </p:nvSpPr>
        <p:spPr>
          <a:xfrm>
            <a:off x="4354813" y="1956467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82" name="Shape 79"/>
          <p:cNvSpPr/>
          <p:nvPr/>
        </p:nvSpPr>
        <p:spPr>
          <a:xfrm>
            <a:off x="5681765" y="1929678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681765" y="1929678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Egyptian mobile used for OTP, delivery, and support.</a:t>
            </a:r>
            <a:endParaRPr lang="en-US" sz="450" dirty="0"/>
          </a:p>
        </p:txBody>
      </p:sp>
      <p:sp>
        <p:nvSpPr>
          <p:cNvPr id="84" name="Shape 81"/>
          <p:cNvSpPr/>
          <p:nvPr/>
        </p:nvSpPr>
        <p:spPr>
          <a:xfrm>
            <a:off x="303609" y="2145888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46472" y="2181606"/>
            <a:ext cx="4902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endParaRPr lang="en-US" sz="450" dirty="0"/>
          </a:p>
        </p:txBody>
      </p:sp>
      <p:sp>
        <p:nvSpPr>
          <p:cNvPr id="86" name="Shape 83"/>
          <p:cNvSpPr/>
          <p:nvPr/>
        </p:nvSpPr>
        <p:spPr>
          <a:xfrm>
            <a:off x="1584127" y="2145888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626989" y="2169105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88" name="Text 85"/>
          <p:cNvSpPr/>
          <p:nvPr/>
        </p:nvSpPr>
        <p:spPr>
          <a:xfrm>
            <a:off x="1626989" y="2252207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VARCHAR(255)</a:t>
            </a:r>
            <a:endParaRPr lang="en-US" sz="450" dirty="0"/>
          </a:p>
        </p:txBody>
      </p:sp>
      <p:sp>
        <p:nvSpPr>
          <p:cNvPr id="89" name="Shape 86"/>
          <p:cNvSpPr/>
          <p:nvPr/>
        </p:nvSpPr>
        <p:spPr>
          <a:xfrm>
            <a:off x="2693891" y="2142316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693891" y="2142316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91" name="Shape 88"/>
          <p:cNvSpPr/>
          <p:nvPr/>
        </p:nvSpPr>
        <p:spPr>
          <a:xfrm>
            <a:off x="3547570" y="2142316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594004" y="2170891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3" name="Text 90"/>
          <p:cNvSpPr/>
          <p:nvPr/>
        </p:nvSpPr>
        <p:spPr>
          <a:xfrm>
            <a:off x="3594004" y="2170891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4" name="Text 91"/>
          <p:cNvSpPr/>
          <p:nvPr/>
        </p:nvSpPr>
        <p:spPr>
          <a:xfrm>
            <a:off x="3736879" y="2169105"/>
            <a:ext cx="47148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HASH_BCRYPT</a:t>
            </a:r>
            <a:endParaRPr lang="en-US" sz="450" dirty="0"/>
          </a:p>
        </p:txBody>
      </p:sp>
      <p:sp>
        <p:nvSpPr>
          <p:cNvPr id="95" name="Text 92"/>
          <p:cNvSpPr/>
          <p:nvPr/>
        </p:nvSpPr>
        <p:spPr>
          <a:xfrm>
            <a:off x="4226226" y="2169105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96" name="Shape 93"/>
          <p:cNvSpPr/>
          <p:nvPr/>
        </p:nvSpPr>
        <p:spPr>
          <a:xfrm>
            <a:off x="5681765" y="2142316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681765" y="2142316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hash; classify as secret even when not reversible.</a:t>
            </a:r>
            <a:endParaRPr lang="en-US" sz="450" dirty="0"/>
          </a:p>
        </p:txBody>
      </p:sp>
      <p:sp>
        <p:nvSpPr>
          <p:cNvPr id="98" name="Shape 95"/>
          <p:cNvSpPr/>
          <p:nvPr/>
        </p:nvSpPr>
        <p:spPr>
          <a:xfrm>
            <a:off x="303609" y="2358526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46472" y="2394245"/>
            <a:ext cx="3771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</a:t>
            </a:r>
            <a:endParaRPr lang="en-US" sz="450" dirty="0"/>
          </a:p>
        </p:txBody>
      </p:sp>
      <p:sp>
        <p:nvSpPr>
          <p:cNvPr id="100" name="Shape 97"/>
          <p:cNvSpPr/>
          <p:nvPr/>
        </p:nvSpPr>
        <p:spPr>
          <a:xfrm>
            <a:off x="1584127" y="2358526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626989" y="2381743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02" name="Text 99"/>
          <p:cNvSpPr/>
          <p:nvPr/>
        </p:nvSpPr>
        <p:spPr>
          <a:xfrm>
            <a:off x="1626989" y="2464845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VARCHAR(128)</a:t>
            </a:r>
            <a:endParaRPr lang="en-US" sz="450" dirty="0"/>
          </a:p>
        </p:txBody>
      </p:sp>
      <p:sp>
        <p:nvSpPr>
          <p:cNvPr id="103" name="Shape 100"/>
          <p:cNvSpPr/>
          <p:nvPr/>
        </p:nvSpPr>
        <p:spPr>
          <a:xfrm>
            <a:off x="2693891" y="2354954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2693891" y="2354954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05" name="Shape 102"/>
          <p:cNvSpPr/>
          <p:nvPr/>
        </p:nvSpPr>
        <p:spPr>
          <a:xfrm>
            <a:off x="3547570" y="2354954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594004" y="2383529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7" name="Text 104"/>
          <p:cNvSpPr/>
          <p:nvPr/>
        </p:nvSpPr>
        <p:spPr>
          <a:xfrm>
            <a:off x="3594004" y="2383529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8" name="Text 105"/>
          <p:cNvSpPr/>
          <p:nvPr/>
        </p:nvSpPr>
        <p:spPr>
          <a:xfrm>
            <a:off x="3736879" y="2381743"/>
            <a:ext cx="77331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SESSION_ID_ALPHANUM</a:t>
            </a:r>
            <a:endParaRPr lang="en-US" sz="450" dirty="0"/>
          </a:p>
        </p:txBody>
      </p:sp>
      <p:sp>
        <p:nvSpPr>
          <p:cNvPr id="109" name="Text 106"/>
          <p:cNvSpPr/>
          <p:nvPr/>
        </p:nvSpPr>
        <p:spPr>
          <a:xfrm>
            <a:off x="4528049" y="2381743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110" name="Shape 107"/>
          <p:cNvSpPr/>
          <p:nvPr/>
        </p:nvSpPr>
        <p:spPr>
          <a:xfrm>
            <a:off x="5681765" y="2354954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681765" y="2354954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or historical session identifier.</a:t>
            </a:r>
            <a:endParaRPr lang="en-US" sz="450" dirty="0"/>
          </a:p>
        </p:txBody>
      </p:sp>
      <p:sp>
        <p:nvSpPr>
          <p:cNvPr id="112" name="Shape 109"/>
          <p:cNvSpPr/>
          <p:nvPr/>
        </p:nvSpPr>
        <p:spPr>
          <a:xfrm>
            <a:off x="303609" y="2571164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46472" y="2606883"/>
            <a:ext cx="37714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csrf_token</a:t>
            </a:r>
            <a:endParaRPr lang="en-US" sz="450" dirty="0"/>
          </a:p>
        </p:txBody>
      </p:sp>
      <p:sp>
        <p:nvSpPr>
          <p:cNvPr id="114" name="Shape 111"/>
          <p:cNvSpPr/>
          <p:nvPr/>
        </p:nvSpPr>
        <p:spPr>
          <a:xfrm>
            <a:off x="1584127" y="2571164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1626989" y="2594381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16" name="Text 113"/>
          <p:cNvSpPr/>
          <p:nvPr/>
        </p:nvSpPr>
        <p:spPr>
          <a:xfrm>
            <a:off x="1626989" y="2677483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VARCHAR(128)</a:t>
            </a:r>
            <a:endParaRPr lang="en-US" sz="450" dirty="0"/>
          </a:p>
        </p:txBody>
      </p:sp>
      <p:sp>
        <p:nvSpPr>
          <p:cNvPr id="117" name="Shape 114"/>
          <p:cNvSpPr/>
          <p:nvPr/>
        </p:nvSpPr>
        <p:spPr>
          <a:xfrm>
            <a:off x="2693891" y="2567592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2693891" y="2567592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19" name="Shape 116"/>
          <p:cNvSpPr/>
          <p:nvPr/>
        </p:nvSpPr>
        <p:spPr>
          <a:xfrm>
            <a:off x="3547570" y="2567592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3594004" y="2596167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1" name="Text 118"/>
          <p:cNvSpPr/>
          <p:nvPr/>
        </p:nvSpPr>
        <p:spPr>
          <a:xfrm>
            <a:off x="3594004" y="2596167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2" name="Text 119"/>
          <p:cNvSpPr/>
          <p:nvPr/>
        </p:nvSpPr>
        <p:spPr>
          <a:xfrm>
            <a:off x="3736879" y="2594381"/>
            <a:ext cx="412552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CSRF_TOKEN</a:t>
            </a:r>
            <a:endParaRPr lang="en-US" sz="450" dirty="0"/>
          </a:p>
        </p:txBody>
      </p:sp>
      <p:sp>
        <p:nvSpPr>
          <p:cNvPr id="123" name="Text 120"/>
          <p:cNvSpPr/>
          <p:nvPr/>
        </p:nvSpPr>
        <p:spPr>
          <a:xfrm>
            <a:off x="4167290" y="2594381"/>
            <a:ext cx="212527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50" dirty="0"/>
          </a:p>
        </p:txBody>
      </p:sp>
      <p:sp>
        <p:nvSpPr>
          <p:cNvPr id="124" name="Shape 121"/>
          <p:cNvSpPr/>
          <p:nvPr/>
        </p:nvSpPr>
        <p:spPr>
          <a:xfrm>
            <a:off x="5681765" y="2567592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5681765" y="2567592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anti-forgery token.</a:t>
            </a:r>
            <a:endParaRPr lang="en-US" sz="450" dirty="0"/>
          </a:p>
        </p:txBody>
      </p:sp>
      <p:sp>
        <p:nvSpPr>
          <p:cNvPr id="126" name="Shape 123"/>
          <p:cNvSpPr/>
          <p:nvPr/>
        </p:nvSpPr>
        <p:spPr>
          <a:xfrm>
            <a:off x="303609" y="2783802"/>
            <a:ext cx="1280517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346472" y="2819521"/>
            <a:ext cx="67882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social_profile_url</a:t>
            </a:r>
            <a:endParaRPr lang="en-US" sz="450" dirty="0"/>
          </a:p>
        </p:txBody>
      </p:sp>
      <p:sp>
        <p:nvSpPr>
          <p:cNvPr id="128" name="Shape 125"/>
          <p:cNvSpPr/>
          <p:nvPr/>
        </p:nvSpPr>
        <p:spPr>
          <a:xfrm>
            <a:off x="1584127" y="2783802"/>
            <a:ext cx="1109765" cy="2197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626989" y="2807019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50" dirty="0"/>
          </a:p>
        </p:txBody>
      </p:sp>
      <p:sp>
        <p:nvSpPr>
          <p:cNvPr id="130" name="Text 127"/>
          <p:cNvSpPr/>
          <p:nvPr/>
        </p:nvSpPr>
        <p:spPr>
          <a:xfrm>
            <a:off x="1626989" y="2890121"/>
            <a:ext cx="45256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VARCHAR(255)</a:t>
            </a:r>
            <a:endParaRPr lang="en-US" sz="450" dirty="0"/>
          </a:p>
        </p:txBody>
      </p:sp>
      <p:sp>
        <p:nvSpPr>
          <p:cNvPr id="131" name="Shape 128"/>
          <p:cNvSpPr/>
          <p:nvPr/>
        </p:nvSpPr>
        <p:spPr>
          <a:xfrm>
            <a:off x="2693891" y="2780230"/>
            <a:ext cx="426839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2693891" y="2780230"/>
            <a:ext cx="426839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33" name="Shape 130"/>
          <p:cNvSpPr/>
          <p:nvPr/>
        </p:nvSpPr>
        <p:spPr>
          <a:xfrm>
            <a:off x="3547570" y="2780230"/>
            <a:ext cx="2134195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3594004" y="2808805"/>
            <a:ext cx="125016" cy="7858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5" name="Text 132"/>
          <p:cNvSpPr/>
          <p:nvPr/>
        </p:nvSpPr>
        <p:spPr>
          <a:xfrm>
            <a:off x="3594004" y="2808805"/>
            <a:ext cx="125016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6" name="Text 133"/>
          <p:cNvSpPr/>
          <p:nvPr/>
        </p:nvSpPr>
        <p:spPr>
          <a:xfrm>
            <a:off x="3736879" y="2807019"/>
            <a:ext cx="787598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FACEBOOK_PROFILE_URL</a:t>
            </a:r>
            <a:endParaRPr lang="en-US" sz="450" dirty="0"/>
          </a:p>
        </p:txBody>
      </p:sp>
      <p:sp>
        <p:nvSpPr>
          <p:cNvPr id="137" name="Text 134"/>
          <p:cNvSpPr/>
          <p:nvPr/>
        </p:nvSpPr>
        <p:spPr>
          <a:xfrm>
            <a:off x="4542337" y="2807019"/>
            <a:ext cx="13573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50" dirty="0"/>
          </a:p>
        </p:txBody>
      </p:sp>
      <p:sp>
        <p:nvSpPr>
          <p:cNvPr id="138" name="Shape 135"/>
          <p:cNvSpPr/>
          <p:nvPr/>
        </p:nvSpPr>
        <p:spPr>
          <a:xfrm>
            <a:off x="5681765" y="2780230"/>
            <a:ext cx="3158626" cy="21621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5681765" y="2780230"/>
            <a:ext cx="3158626" cy="216210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social profile URL where collected.</a:t>
            </a:r>
            <a:endParaRPr lang="en-US" sz="450" dirty="0"/>
          </a:p>
        </p:txBody>
      </p:sp>
      <p:sp>
        <p:nvSpPr>
          <p:cNvPr id="140" name="Shape 137"/>
          <p:cNvSpPr/>
          <p:nvPr/>
        </p:nvSpPr>
        <p:spPr>
          <a:xfrm>
            <a:off x="303609" y="2996440"/>
            <a:ext cx="1280517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342900" y="3032159"/>
            <a:ext cx="67882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account_created_at</a:t>
            </a:r>
            <a:endParaRPr lang="en-US" sz="450" dirty="0"/>
          </a:p>
        </p:txBody>
      </p:sp>
      <p:sp>
        <p:nvSpPr>
          <p:cNvPr id="142" name="Shape 139"/>
          <p:cNvSpPr/>
          <p:nvPr/>
        </p:nvSpPr>
        <p:spPr>
          <a:xfrm>
            <a:off x="1581085" y="2996440"/>
            <a:ext cx="1110239" cy="21978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623947" y="3019658"/>
            <a:ext cx="31611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</a:t>
            </a:r>
            <a:endParaRPr lang="en-US" sz="450" dirty="0"/>
          </a:p>
        </p:txBody>
      </p:sp>
      <p:sp>
        <p:nvSpPr>
          <p:cNvPr id="144" name="Text 141"/>
          <p:cNvSpPr/>
          <p:nvPr/>
        </p:nvSpPr>
        <p:spPr>
          <a:xfrm>
            <a:off x="1623947" y="3102759"/>
            <a:ext cx="33941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450" dirty="0"/>
          </a:p>
        </p:txBody>
      </p:sp>
      <p:sp>
        <p:nvSpPr>
          <p:cNvPr id="145" name="Shape 142"/>
          <p:cNvSpPr/>
          <p:nvPr/>
        </p:nvSpPr>
        <p:spPr>
          <a:xfrm>
            <a:off x="2691324" y="2992868"/>
            <a:ext cx="427006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2691324" y="2992868"/>
            <a:ext cx="427006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50" dirty="0"/>
          </a:p>
        </p:txBody>
      </p:sp>
      <p:sp>
        <p:nvSpPr>
          <p:cNvPr id="147" name="Shape 144"/>
          <p:cNvSpPr/>
          <p:nvPr/>
        </p:nvSpPr>
        <p:spPr>
          <a:xfrm>
            <a:off x="3545337" y="2992868"/>
            <a:ext cx="2135088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591771" y="3021443"/>
            <a:ext cx="273248" cy="78581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9" name="Text 146"/>
          <p:cNvSpPr/>
          <p:nvPr/>
        </p:nvSpPr>
        <p:spPr>
          <a:xfrm>
            <a:off x="3591771" y="3021443"/>
            <a:ext cx="273248" cy="7858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50" name="Shape 147"/>
          <p:cNvSpPr/>
          <p:nvPr/>
        </p:nvSpPr>
        <p:spPr>
          <a:xfrm>
            <a:off x="5680425" y="2992868"/>
            <a:ext cx="3159965" cy="21263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5680425" y="2992868"/>
            <a:ext cx="3159965" cy="212638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4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creation timestamp.</a:t>
            </a:r>
            <a:endParaRPr lang="en-US" sz="450" dirty="0"/>
          </a:p>
        </p:txBody>
      </p:sp>
      <p:sp>
        <p:nvSpPr>
          <p:cNvPr id="152" name="Shape 149"/>
          <p:cNvSpPr/>
          <p:nvPr/>
        </p:nvSpPr>
        <p:spPr>
          <a:xfrm>
            <a:off x="300038" y="3294804"/>
            <a:ext cx="8543925" cy="17267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3" name="Shape 150"/>
          <p:cNvSpPr/>
          <p:nvPr/>
        </p:nvSpPr>
        <p:spPr>
          <a:xfrm>
            <a:off x="300038" y="3294804"/>
            <a:ext cx="85439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4" name="Text 151"/>
          <p:cNvSpPr/>
          <p:nvPr/>
        </p:nvSpPr>
        <p:spPr>
          <a:xfrm>
            <a:off x="300038" y="3294804"/>
            <a:ext cx="8543925" cy="172678"/>
          </a:xfrm>
          <a:prstGeom prst="rect">
            <a:avLst/>
          </a:prstGeom>
          <a:noFill/>
          <a:ln/>
        </p:spPr>
        <p:txBody>
          <a:bodyPr wrap="square" lIns="85090" tIns="68072" rIns="8509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0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focus:</a:t>
            </a:r>
            <a:r>
              <a:rPr lang="en-US" sz="5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table deliberately combines direct identifiers, account identifiers, and secret-token patterns so scanners can be evaluated on both conventional PII and security-sensitive application metadata.</a:t>
            </a:r>
            <a:endParaRPr lang="en-US" sz="500" dirty="0"/>
          </a:p>
        </p:txBody>
      </p:sp>
      <p:sp>
        <p:nvSpPr>
          <p:cNvPr id="155" name="Text 152"/>
          <p:cNvSpPr/>
          <p:nvPr/>
        </p:nvSpPr>
        <p:spPr>
          <a:xfrm>
            <a:off x="300038" y="3524631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56" name="Text 153"/>
          <p:cNvSpPr/>
          <p:nvPr/>
        </p:nvSpPr>
        <p:spPr>
          <a:xfrm>
            <a:off x="7688461" y="3524631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6A34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E-COMMERCE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eshop_shipping_address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343900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E-commerce shipping address book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Address-book table containing Egyptian delivery-address components needed for e-commerce fulfillment. Granularity: one row per saved customer 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address.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653653" cy="164306"/>
          </a:xfrm>
          <a:prstGeom prst="rect">
            <a:avLst/>
          </a:prstGeom>
          <a:solidFill>
            <a:srgbClr val="DCFCE7"/>
          </a:solidFill>
          <a:ln w="9144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653653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16A34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E-commerce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1010841" y="1009724"/>
            <a:ext cx="592931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0841" y="1009724"/>
            <a:ext cx="59293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12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660922" y="1009724"/>
            <a:ext cx="341114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60922" y="1009724"/>
            <a:ext cx="341114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11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2059186" y="1009724"/>
            <a:ext cx="492919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59186" y="1009724"/>
            <a:ext cx="492919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0471"/>
            <a:ext cx="1280517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0471"/>
            <a:ext cx="1280517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0471"/>
            <a:ext cx="1109765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0471"/>
            <a:ext cx="1109765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0471"/>
            <a:ext cx="426839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0471"/>
            <a:ext cx="426839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0471"/>
            <a:ext cx="426839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0471"/>
            <a:ext cx="426839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0471"/>
            <a:ext cx="2134195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0471"/>
            <a:ext cx="2134195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0471"/>
            <a:ext cx="3158626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0471"/>
            <a:ext cx="3158626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393896"/>
            <a:ext cx="1280517" cy="18875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20685"/>
            <a:ext cx="344993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address_id</a:t>
            </a:r>
            <a:endParaRPr lang="en-US" sz="400" dirty="0"/>
          </a:p>
        </p:txBody>
      </p:sp>
      <p:sp>
        <p:nvSpPr>
          <p:cNvPr id="28" name="Shape 25"/>
          <p:cNvSpPr/>
          <p:nvPr/>
        </p:nvSpPr>
        <p:spPr>
          <a:xfrm>
            <a:off x="1584127" y="1393896"/>
            <a:ext cx="1109765" cy="18875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13542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30" name="Text 27"/>
          <p:cNvSpPr/>
          <p:nvPr/>
        </p:nvSpPr>
        <p:spPr>
          <a:xfrm>
            <a:off x="1626989" y="1487379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31" name="Shape 28"/>
          <p:cNvSpPr/>
          <p:nvPr/>
        </p:nvSpPr>
        <p:spPr>
          <a:xfrm>
            <a:off x="2693891" y="1393896"/>
            <a:ext cx="426839" cy="185179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393896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33" name="Shape 30"/>
          <p:cNvSpPr/>
          <p:nvPr/>
        </p:nvSpPr>
        <p:spPr>
          <a:xfrm>
            <a:off x="3120730" y="1393896"/>
            <a:ext cx="426839" cy="185179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393896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00" dirty="0"/>
          </a:p>
        </p:txBody>
      </p:sp>
      <p:sp>
        <p:nvSpPr>
          <p:cNvPr id="35" name="Shape 32"/>
          <p:cNvSpPr/>
          <p:nvPr/>
        </p:nvSpPr>
        <p:spPr>
          <a:xfrm>
            <a:off x="3547570" y="1393896"/>
            <a:ext cx="2134195" cy="185179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11756"/>
            <a:ext cx="264319" cy="76795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11756"/>
            <a:ext cx="264319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38" name="Shape 35"/>
          <p:cNvSpPr/>
          <p:nvPr/>
        </p:nvSpPr>
        <p:spPr>
          <a:xfrm>
            <a:off x="5681765" y="1393896"/>
            <a:ext cx="3158626" cy="185179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81765" y="1393896"/>
            <a:ext cx="3158626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address key.</a:t>
            </a:r>
            <a:endParaRPr lang="en-US" sz="400" dirty="0"/>
          </a:p>
        </p:txBody>
      </p:sp>
      <p:sp>
        <p:nvSpPr>
          <p:cNvPr id="40" name="Shape 37"/>
          <p:cNvSpPr/>
          <p:nvPr/>
        </p:nvSpPr>
        <p:spPr>
          <a:xfrm>
            <a:off x="303609" y="1575504"/>
            <a:ext cx="1280517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46472" y="1602293"/>
            <a:ext cx="586457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eshop_customer_id</a:t>
            </a:r>
            <a:endParaRPr lang="en-US" sz="400" dirty="0"/>
          </a:p>
        </p:txBody>
      </p:sp>
      <p:sp>
        <p:nvSpPr>
          <p:cNvPr id="42" name="Shape 39"/>
          <p:cNvSpPr/>
          <p:nvPr/>
        </p:nvSpPr>
        <p:spPr>
          <a:xfrm>
            <a:off x="1584127" y="1575504"/>
            <a:ext cx="1109765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26989" y="1591577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44" name="Text 41"/>
          <p:cNvSpPr/>
          <p:nvPr/>
        </p:nvSpPr>
        <p:spPr>
          <a:xfrm>
            <a:off x="1626989" y="1665415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45" name="Shape 42"/>
          <p:cNvSpPr/>
          <p:nvPr/>
        </p:nvSpPr>
        <p:spPr>
          <a:xfrm>
            <a:off x="2693891" y="1571932"/>
            <a:ext cx="426839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693891" y="1571932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47" name="Shape 44"/>
          <p:cNvSpPr/>
          <p:nvPr/>
        </p:nvSpPr>
        <p:spPr>
          <a:xfrm>
            <a:off x="3547570" y="1571932"/>
            <a:ext cx="2134195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594004" y="1589791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9" name="Text 46"/>
          <p:cNvSpPr/>
          <p:nvPr/>
        </p:nvSpPr>
        <p:spPr>
          <a:xfrm>
            <a:off x="3594004" y="1589791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0" name="Text 47"/>
          <p:cNvSpPr/>
          <p:nvPr/>
        </p:nvSpPr>
        <p:spPr>
          <a:xfrm>
            <a:off x="3729735" y="1591577"/>
            <a:ext cx="417909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CUSTOMER_ID</a:t>
            </a:r>
            <a:endParaRPr lang="en-US" sz="400" dirty="0"/>
          </a:p>
        </p:txBody>
      </p:sp>
      <p:sp>
        <p:nvSpPr>
          <p:cNvPr id="51" name="Text 48"/>
          <p:cNvSpPr/>
          <p:nvPr/>
        </p:nvSpPr>
        <p:spPr>
          <a:xfrm>
            <a:off x="4163718" y="1591577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52" name="Shape 49"/>
          <p:cNvSpPr/>
          <p:nvPr/>
        </p:nvSpPr>
        <p:spPr>
          <a:xfrm>
            <a:off x="5681765" y="1571932"/>
            <a:ext cx="3158626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81765" y="1571932"/>
            <a:ext cx="3158626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who owns this address.</a:t>
            </a:r>
            <a:endParaRPr lang="en-US" sz="400" dirty="0"/>
          </a:p>
        </p:txBody>
      </p:sp>
      <p:sp>
        <p:nvSpPr>
          <p:cNvPr id="54" name="Shape 51"/>
          <p:cNvSpPr/>
          <p:nvPr/>
        </p:nvSpPr>
        <p:spPr>
          <a:xfrm>
            <a:off x="303609" y="1757111"/>
            <a:ext cx="1280517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46472" y="1783900"/>
            <a:ext cx="482957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recipient_name</a:t>
            </a:r>
            <a:endParaRPr lang="en-US" sz="400" dirty="0"/>
          </a:p>
        </p:txBody>
      </p:sp>
      <p:sp>
        <p:nvSpPr>
          <p:cNvPr id="56" name="Shape 53"/>
          <p:cNvSpPr/>
          <p:nvPr/>
        </p:nvSpPr>
        <p:spPr>
          <a:xfrm>
            <a:off x="1584127" y="1757111"/>
            <a:ext cx="1109765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626989" y="1773185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58" name="Text 55"/>
          <p:cNvSpPr/>
          <p:nvPr/>
        </p:nvSpPr>
        <p:spPr>
          <a:xfrm>
            <a:off x="1626989" y="1847022"/>
            <a:ext cx="448466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NVARCHAR(160)</a:t>
            </a:r>
            <a:endParaRPr lang="en-US" sz="400" dirty="0"/>
          </a:p>
        </p:txBody>
      </p:sp>
      <p:sp>
        <p:nvSpPr>
          <p:cNvPr id="59" name="Shape 56"/>
          <p:cNvSpPr/>
          <p:nvPr/>
        </p:nvSpPr>
        <p:spPr>
          <a:xfrm>
            <a:off x="2693891" y="1753539"/>
            <a:ext cx="426839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693891" y="1753539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61" name="Shape 58"/>
          <p:cNvSpPr/>
          <p:nvPr/>
        </p:nvSpPr>
        <p:spPr>
          <a:xfrm>
            <a:off x="3547570" y="1753539"/>
            <a:ext cx="2134195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594004" y="1771399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3" name="Text 60"/>
          <p:cNvSpPr/>
          <p:nvPr/>
        </p:nvSpPr>
        <p:spPr>
          <a:xfrm>
            <a:off x="3594004" y="1771399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4" name="Text 61"/>
          <p:cNvSpPr/>
          <p:nvPr/>
        </p:nvSpPr>
        <p:spPr>
          <a:xfrm>
            <a:off x="3729735" y="1773185"/>
            <a:ext cx="2375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PERSON</a:t>
            </a:r>
            <a:endParaRPr lang="en-US" sz="400" dirty="0"/>
          </a:p>
        </p:txBody>
      </p:sp>
      <p:sp>
        <p:nvSpPr>
          <p:cNvPr id="65" name="Text 62"/>
          <p:cNvSpPr/>
          <p:nvPr/>
        </p:nvSpPr>
        <p:spPr>
          <a:xfrm>
            <a:off x="3983338" y="1773185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66" name="Shape 63"/>
          <p:cNvSpPr/>
          <p:nvPr/>
        </p:nvSpPr>
        <p:spPr>
          <a:xfrm>
            <a:off x="5681765" y="1753539"/>
            <a:ext cx="3158626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681765" y="1753539"/>
            <a:ext cx="3158626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of the delivery recipient.</a:t>
            </a:r>
            <a:endParaRPr lang="en-US" sz="400" dirty="0"/>
          </a:p>
        </p:txBody>
      </p:sp>
      <p:sp>
        <p:nvSpPr>
          <p:cNvPr id="68" name="Shape 65"/>
          <p:cNvSpPr/>
          <p:nvPr/>
        </p:nvSpPr>
        <p:spPr>
          <a:xfrm>
            <a:off x="303609" y="1938719"/>
            <a:ext cx="1280517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46472" y="1965508"/>
            <a:ext cx="551966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recipient_mobile</a:t>
            </a:r>
            <a:endParaRPr lang="en-US" sz="400" dirty="0"/>
          </a:p>
        </p:txBody>
      </p:sp>
      <p:sp>
        <p:nvSpPr>
          <p:cNvPr id="70" name="Shape 67"/>
          <p:cNvSpPr/>
          <p:nvPr/>
        </p:nvSpPr>
        <p:spPr>
          <a:xfrm>
            <a:off x="1584127" y="1938719"/>
            <a:ext cx="1109765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626989" y="1954792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72" name="Text 69"/>
          <p:cNvSpPr/>
          <p:nvPr/>
        </p:nvSpPr>
        <p:spPr>
          <a:xfrm>
            <a:off x="1626989" y="2028630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00" dirty="0"/>
          </a:p>
        </p:txBody>
      </p:sp>
      <p:sp>
        <p:nvSpPr>
          <p:cNvPr id="73" name="Shape 70"/>
          <p:cNvSpPr/>
          <p:nvPr/>
        </p:nvSpPr>
        <p:spPr>
          <a:xfrm>
            <a:off x="2693891" y="1935147"/>
            <a:ext cx="426839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693891" y="1935147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75" name="Shape 72"/>
          <p:cNvSpPr/>
          <p:nvPr/>
        </p:nvSpPr>
        <p:spPr>
          <a:xfrm>
            <a:off x="3547570" y="1935147"/>
            <a:ext cx="2134195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594004" y="1953006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7" name="Text 74"/>
          <p:cNvSpPr/>
          <p:nvPr/>
        </p:nvSpPr>
        <p:spPr>
          <a:xfrm>
            <a:off x="3594004" y="1953006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78" name="Text 75"/>
          <p:cNvSpPr/>
          <p:nvPr/>
        </p:nvSpPr>
        <p:spPr>
          <a:xfrm>
            <a:off x="3729735" y="1954792"/>
            <a:ext cx="553641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EGYPTIAN_MOBILE</a:t>
            </a:r>
            <a:endParaRPr lang="en-US" sz="400" dirty="0"/>
          </a:p>
        </p:txBody>
      </p:sp>
      <p:sp>
        <p:nvSpPr>
          <p:cNvPr id="79" name="Text 76"/>
          <p:cNvSpPr/>
          <p:nvPr/>
        </p:nvSpPr>
        <p:spPr>
          <a:xfrm>
            <a:off x="4299449" y="1954792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80" name="Shape 77"/>
          <p:cNvSpPr/>
          <p:nvPr/>
        </p:nvSpPr>
        <p:spPr>
          <a:xfrm>
            <a:off x="5681765" y="1935147"/>
            <a:ext cx="3158626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681765" y="1935147"/>
            <a:ext cx="3158626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Recipient mobile number used by courier.</a:t>
            </a:r>
            <a:endParaRPr lang="en-US" sz="400" dirty="0"/>
          </a:p>
        </p:txBody>
      </p:sp>
      <p:sp>
        <p:nvSpPr>
          <p:cNvPr id="82" name="Shape 79"/>
          <p:cNvSpPr/>
          <p:nvPr/>
        </p:nvSpPr>
        <p:spPr>
          <a:xfrm>
            <a:off x="303609" y="2120326"/>
            <a:ext cx="1280517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46472" y="2147115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governorate</a:t>
            </a:r>
            <a:endParaRPr lang="en-US" sz="400" dirty="0"/>
          </a:p>
        </p:txBody>
      </p:sp>
      <p:sp>
        <p:nvSpPr>
          <p:cNvPr id="84" name="Shape 81"/>
          <p:cNvSpPr/>
          <p:nvPr/>
        </p:nvSpPr>
        <p:spPr>
          <a:xfrm>
            <a:off x="1584127" y="2120326"/>
            <a:ext cx="1109765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626989" y="2136400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86" name="Text 83"/>
          <p:cNvSpPr/>
          <p:nvPr/>
        </p:nvSpPr>
        <p:spPr>
          <a:xfrm>
            <a:off x="1626989" y="2210237"/>
            <a:ext cx="41397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NVARCHAR(80)</a:t>
            </a:r>
            <a:endParaRPr lang="en-US" sz="400" dirty="0"/>
          </a:p>
        </p:txBody>
      </p:sp>
      <p:sp>
        <p:nvSpPr>
          <p:cNvPr id="87" name="Shape 84"/>
          <p:cNvSpPr/>
          <p:nvPr/>
        </p:nvSpPr>
        <p:spPr>
          <a:xfrm>
            <a:off x="2693891" y="2116755"/>
            <a:ext cx="426839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693891" y="2116755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89" name="Shape 86"/>
          <p:cNvSpPr/>
          <p:nvPr/>
        </p:nvSpPr>
        <p:spPr>
          <a:xfrm>
            <a:off x="3547570" y="2116755"/>
            <a:ext cx="2134195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94004" y="2134614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1" name="Text 88"/>
          <p:cNvSpPr/>
          <p:nvPr/>
        </p:nvSpPr>
        <p:spPr>
          <a:xfrm>
            <a:off x="3594004" y="2134614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2" name="Text 89"/>
          <p:cNvSpPr/>
          <p:nvPr/>
        </p:nvSpPr>
        <p:spPr>
          <a:xfrm>
            <a:off x="3729735" y="2136400"/>
            <a:ext cx="605433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LOCATION_ADDRESS</a:t>
            </a:r>
            <a:endParaRPr lang="en-US" sz="400" dirty="0"/>
          </a:p>
        </p:txBody>
      </p:sp>
      <p:sp>
        <p:nvSpPr>
          <p:cNvPr id="93" name="Text 90"/>
          <p:cNvSpPr/>
          <p:nvPr/>
        </p:nvSpPr>
        <p:spPr>
          <a:xfrm>
            <a:off x="4351241" y="2136400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94" name="Shape 91"/>
          <p:cNvSpPr/>
          <p:nvPr/>
        </p:nvSpPr>
        <p:spPr>
          <a:xfrm>
            <a:off x="5681765" y="2116755"/>
            <a:ext cx="3158626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681765" y="2116755"/>
            <a:ext cx="3158626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Egyptian governorate for delivery routing.</a:t>
            </a:r>
            <a:endParaRPr lang="en-US" sz="400" dirty="0"/>
          </a:p>
        </p:txBody>
      </p:sp>
      <p:sp>
        <p:nvSpPr>
          <p:cNvPr id="96" name="Shape 93"/>
          <p:cNvSpPr/>
          <p:nvPr/>
        </p:nvSpPr>
        <p:spPr>
          <a:xfrm>
            <a:off x="303609" y="2301934"/>
            <a:ext cx="1280517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46472" y="2328723"/>
            <a:ext cx="137992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400" dirty="0"/>
          </a:p>
        </p:txBody>
      </p:sp>
      <p:sp>
        <p:nvSpPr>
          <p:cNvPr id="98" name="Shape 95"/>
          <p:cNvSpPr/>
          <p:nvPr/>
        </p:nvSpPr>
        <p:spPr>
          <a:xfrm>
            <a:off x="1584127" y="2301934"/>
            <a:ext cx="1109765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626989" y="2318007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00" name="Text 97"/>
          <p:cNvSpPr/>
          <p:nvPr/>
        </p:nvSpPr>
        <p:spPr>
          <a:xfrm>
            <a:off x="1626989" y="2391845"/>
            <a:ext cx="448466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NVARCHAR(100)</a:t>
            </a:r>
            <a:endParaRPr lang="en-US" sz="400" dirty="0"/>
          </a:p>
        </p:txBody>
      </p:sp>
      <p:sp>
        <p:nvSpPr>
          <p:cNvPr id="101" name="Shape 98"/>
          <p:cNvSpPr/>
          <p:nvPr/>
        </p:nvSpPr>
        <p:spPr>
          <a:xfrm>
            <a:off x="2693891" y="2298362"/>
            <a:ext cx="426839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693891" y="2298362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103" name="Shape 100"/>
          <p:cNvSpPr/>
          <p:nvPr/>
        </p:nvSpPr>
        <p:spPr>
          <a:xfrm>
            <a:off x="3547570" y="2298362"/>
            <a:ext cx="2134195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594004" y="2316221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5" name="Text 102"/>
          <p:cNvSpPr/>
          <p:nvPr/>
        </p:nvSpPr>
        <p:spPr>
          <a:xfrm>
            <a:off x="3594004" y="2316221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6" name="Text 103"/>
          <p:cNvSpPr/>
          <p:nvPr/>
        </p:nvSpPr>
        <p:spPr>
          <a:xfrm>
            <a:off x="3729735" y="2318007"/>
            <a:ext cx="605433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LOCATION_ADDRESS</a:t>
            </a:r>
            <a:endParaRPr lang="en-US" sz="400" dirty="0"/>
          </a:p>
        </p:txBody>
      </p:sp>
      <p:sp>
        <p:nvSpPr>
          <p:cNvPr id="107" name="Text 104"/>
          <p:cNvSpPr/>
          <p:nvPr/>
        </p:nvSpPr>
        <p:spPr>
          <a:xfrm>
            <a:off x="4351241" y="2318007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08" name="Shape 105"/>
          <p:cNvSpPr/>
          <p:nvPr/>
        </p:nvSpPr>
        <p:spPr>
          <a:xfrm>
            <a:off x="5681765" y="2298362"/>
            <a:ext cx="3158626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681765" y="2298362"/>
            <a:ext cx="3158626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or district inside the governorate.</a:t>
            </a:r>
            <a:endParaRPr lang="en-US" sz="400" dirty="0"/>
          </a:p>
        </p:txBody>
      </p:sp>
      <p:sp>
        <p:nvSpPr>
          <p:cNvPr id="110" name="Shape 107"/>
          <p:cNvSpPr/>
          <p:nvPr/>
        </p:nvSpPr>
        <p:spPr>
          <a:xfrm>
            <a:off x="303609" y="2483541"/>
            <a:ext cx="1280517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346472" y="2510330"/>
            <a:ext cx="482957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street_address</a:t>
            </a:r>
            <a:endParaRPr lang="en-US" sz="400" dirty="0"/>
          </a:p>
        </p:txBody>
      </p:sp>
      <p:sp>
        <p:nvSpPr>
          <p:cNvPr id="112" name="Shape 109"/>
          <p:cNvSpPr/>
          <p:nvPr/>
        </p:nvSpPr>
        <p:spPr>
          <a:xfrm>
            <a:off x="1584127" y="2483541"/>
            <a:ext cx="1109765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626989" y="2499615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14" name="Text 111"/>
          <p:cNvSpPr/>
          <p:nvPr/>
        </p:nvSpPr>
        <p:spPr>
          <a:xfrm>
            <a:off x="1626989" y="2573452"/>
            <a:ext cx="448466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NVARCHAR(250)</a:t>
            </a:r>
            <a:endParaRPr lang="en-US" sz="400" dirty="0"/>
          </a:p>
        </p:txBody>
      </p:sp>
      <p:sp>
        <p:nvSpPr>
          <p:cNvPr id="115" name="Shape 112"/>
          <p:cNvSpPr/>
          <p:nvPr/>
        </p:nvSpPr>
        <p:spPr>
          <a:xfrm>
            <a:off x="2693891" y="2479970"/>
            <a:ext cx="426839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2693891" y="2479970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117" name="Shape 114"/>
          <p:cNvSpPr/>
          <p:nvPr/>
        </p:nvSpPr>
        <p:spPr>
          <a:xfrm>
            <a:off x="3547570" y="2479970"/>
            <a:ext cx="2134195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594004" y="2497829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9" name="Text 116"/>
          <p:cNvSpPr/>
          <p:nvPr/>
        </p:nvSpPr>
        <p:spPr>
          <a:xfrm>
            <a:off x="3594004" y="2497829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0" name="Text 117"/>
          <p:cNvSpPr/>
          <p:nvPr/>
        </p:nvSpPr>
        <p:spPr>
          <a:xfrm>
            <a:off x="3729735" y="2499615"/>
            <a:ext cx="605433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LOCATION_ADDRESS</a:t>
            </a:r>
            <a:endParaRPr lang="en-US" sz="400" dirty="0"/>
          </a:p>
        </p:txBody>
      </p:sp>
      <p:sp>
        <p:nvSpPr>
          <p:cNvPr id="121" name="Text 118"/>
          <p:cNvSpPr/>
          <p:nvPr/>
        </p:nvSpPr>
        <p:spPr>
          <a:xfrm>
            <a:off x="4351241" y="2499615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22" name="Shape 119"/>
          <p:cNvSpPr/>
          <p:nvPr/>
        </p:nvSpPr>
        <p:spPr>
          <a:xfrm>
            <a:off x="5681765" y="2479970"/>
            <a:ext cx="3158626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5681765" y="2479970"/>
            <a:ext cx="3158626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Street, building, floor, apartment, or landmark detail.</a:t>
            </a:r>
            <a:endParaRPr lang="en-US" sz="400" dirty="0"/>
          </a:p>
        </p:txBody>
      </p:sp>
      <p:sp>
        <p:nvSpPr>
          <p:cNvPr id="124" name="Shape 121"/>
          <p:cNvSpPr/>
          <p:nvPr/>
        </p:nvSpPr>
        <p:spPr>
          <a:xfrm>
            <a:off x="303609" y="2665149"/>
            <a:ext cx="1280517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46472" y="2691938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postal_code</a:t>
            </a:r>
            <a:endParaRPr lang="en-US" sz="400" dirty="0"/>
          </a:p>
        </p:txBody>
      </p:sp>
      <p:sp>
        <p:nvSpPr>
          <p:cNvPr id="126" name="Shape 123"/>
          <p:cNvSpPr/>
          <p:nvPr/>
        </p:nvSpPr>
        <p:spPr>
          <a:xfrm>
            <a:off x="1584127" y="2665149"/>
            <a:ext cx="1109765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1626989" y="2681222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28" name="Text 125"/>
          <p:cNvSpPr/>
          <p:nvPr/>
        </p:nvSpPr>
        <p:spPr>
          <a:xfrm>
            <a:off x="1626989" y="2755060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VARCHAR(10)</a:t>
            </a:r>
            <a:endParaRPr lang="en-US" sz="400" dirty="0"/>
          </a:p>
        </p:txBody>
      </p:sp>
      <p:sp>
        <p:nvSpPr>
          <p:cNvPr id="129" name="Shape 126"/>
          <p:cNvSpPr/>
          <p:nvPr/>
        </p:nvSpPr>
        <p:spPr>
          <a:xfrm>
            <a:off x="2693891" y="2661577"/>
            <a:ext cx="426839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2693891" y="2661577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31" name="Shape 128"/>
          <p:cNvSpPr/>
          <p:nvPr/>
        </p:nvSpPr>
        <p:spPr>
          <a:xfrm>
            <a:off x="3547570" y="2661577"/>
            <a:ext cx="2134195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3594004" y="2679436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3" name="Text 130"/>
          <p:cNvSpPr/>
          <p:nvPr/>
        </p:nvSpPr>
        <p:spPr>
          <a:xfrm>
            <a:off x="3594004" y="2679436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4" name="Text 131"/>
          <p:cNvSpPr/>
          <p:nvPr/>
        </p:nvSpPr>
        <p:spPr>
          <a:xfrm>
            <a:off x="3729735" y="2681222"/>
            <a:ext cx="421481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POSTAL_CODE</a:t>
            </a:r>
            <a:endParaRPr lang="en-US" sz="400" dirty="0"/>
          </a:p>
        </p:txBody>
      </p:sp>
      <p:sp>
        <p:nvSpPr>
          <p:cNvPr id="135" name="Text 132"/>
          <p:cNvSpPr/>
          <p:nvPr/>
        </p:nvSpPr>
        <p:spPr>
          <a:xfrm>
            <a:off x="4167290" y="2681222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36" name="Shape 133"/>
          <p:cNvSpPr/>
          <p:nvPr/>
        </p:nvSpPr>
        <p:spPr>
          <a:xfrm>
            <a:off x="5681765" y="2661577"/>
            <a:ext cx="3158626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5681765" y="2661577"/>
            <a:ext cx="3158626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Egyptian postal code where available.</a:t>
            </a:r>
            <a:endParaRPr lang="en-US" sz="400" dirty="0"/>
          </a:p>
        </p:txBody>
      </p:sp>
      <p:sp>
        <p:nvSpPr>
          <p:cNvPr id="138" name="Shape 135"/>
          <p:cNvSpPr/>
          <p:nvPr/>
        </p:nvSpPr>
        <p:spPr>
          <a:xfrm>
            <a:off x="303609" y="2846756"/>
            <a:ext cx="1280517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46472" y="2873546"/>
            <a:ext cx="724449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delivery_instructions</a:t>
            </a:r>
            <a:endParaRPr lang="en-US" sz="400" dirty="0"/>
          </a:p>
        </p:txBody>
      </p:sp>
      <p:sp>
        <p:nvSpPr>
          <p:cNvPr id="140" name="Shape 137"/>
          <p:cNvSpPr/>
          <p:nvPr/>
        </p:nvSpPr>
        <p:spPr>
          <a:xfrm>
            <a:off x="1584127" y="2846756"/>
            <a:ext cx="1109765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626989" y="2862830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42" name="Text 139"/>
          <p:cNvSpPr/>
          <p:nvPr/>
        </p:nvSpPr>
        <p:spPr>
          <a:xfrm>
            <a:off x="1626989" y="2936667"/>
            <a:ext cx="448466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NVARCHAR(500)</a:t>
            </a:r>
            <a:endParaRPr lang="en-US" sz="400" dirty="0"/>
          </a:p>
        </p:txBody>
      </p:sp>
      <p:sp>
        <p:nvSpPr>
          <p:cNvPr id="143" name="Shape 140"/>
          <p:cNvSpPr/>
          <p:nvPr/>
        </p:nvSpPr>
        <p:spPr>
          <a:xfrm>
            <a:off x="2693891" y="2843185"/>
            <a:ext cx="426839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2693891" y="2843185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45" name="Shape 142"/>
          <p:cNvSpPr/>
          <p:nvPr/>
        </p:nvSpPr>
        <p:spPr>
          <a:xfrm>
            <a:off x="3547570" y="2843185"/>
            <a:ext cx="2134195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3594004" y="2861044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7" name="Text 144"/>
          <p:cNvSpPr/>
          <p:nvPr/>
        </p:nvSpPr>
        <p:spPr>
          <a:xfrm>
            <a:off x="3594004" y="2861044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48" name="Text 145"/>
          <p:cNvSpPr/>
          <p:nvPr/>
        </p:nvSpPr>
        <p:spPr>
          <a:xfrm>
            <a:off x="3729735" y="2862830"/>
            <a:ext cx="421481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FREE_TEXT_PII</a:t>
            </a:r>
            <a:endParaRPr lang="en-US" sz="400" dirty="0"/>
          </a:p>
        </p:txBody>
      </p:sp>
      <p:sp>
        <p:nvSpPr>
          <p:cNvPr id="149" name="Text 146"/>
          <p:cNvSpPr/>
          <p:nvPr/>
        </p:nvSpPr>
        <p:spPr>
          <a:xfrm>
            <a:off x="4167290" y="2862830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50" name="Shape 147"/>
          <p:cNvSpPr/>
          <p:nvPr/>
        </p:nvSpPr>
        <p:spPr>
          <a:xfrm>
            <a:off x="5681765" y="2843185"/>
            <a:ext cx="3158626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5681765" y="2843185"/>
            <a:ext cx="3158626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text that may contain names, phones, landmarks, or access details.</a:t>
            </a:r>
            <a:endParaRPr lang="en-US" sz="400" dirty="0"/>
          </a:p>
        </p:txBody>
      </p:sp>
      <p:sp>
        <p:nvSpPr>
          <p:cNvPr id="152" name="Shape 149"/>
          <p:cNvSpPr/>
          <p:nvPr/>
        </p:nvSpPr>
        <p:spPr>
          <a:xfrm>
            <a:off x="303609" y="3028364"/>
            <a:ext cx="1280517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46472" y="3055153"/>
            <a:ext cx="275983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latitude</a:t>
            </a:r>
            <a:endParaRPr lang="en-US" sz="400" dirty="0"/>
          </a:p>
        </p:txBody>
      </p:sp>
      <p:sp>
        <p:nvSpPr>
          <p:cNvPr id="154" name="Shape 151"/>
          <p:cNvSpPr/>
          <p:nvPr/>
        </p:nvSpPr>
        <p:spPr>
          <a:xfrm>
            <a:off x="1584127" y="3028364"/>
            <a:ext cx="1109765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626989" y="3044437"/>
            <a:ext cx="20895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</a:t>
            </a:r>
            <a:endParaRPr lang="en-US" sz="400" dirty="0"/>
          </a:p>
        </p:txBody>
      </p:sp>
      <p:sp>
        <p:nvSpPr>
          <p:cNvPr id="156" name="Text 153"/>
          <p:cNvSpPr/>
          <p:nvPr/>
        </p:nvSpPr>
        <p:spPr>
          <a:xfrm>
            <a:off x="1626989" y="3118275"/>
            <a:ext cx="41397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DECIMAL(9,6)</a:t>
            </a:r>
            <a:endParaRPr lang="en-US" sz="400" dirty="0"/>
          </a:p>
        </p:txBody>
      </p:sp>
      <p:sp>
        <p:nvSpPr>
          <p:cNvPr id="157" name="Shape 154"/>
          <p:cNvSpPr/>
          <p:nvPr/>
        </p:nvSpPr>
        <p:spPr>
          <a:xfrm>
            <a:off x="2693891" y="3024792"/>
            <a:ext cx="426839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2693891" y="3024792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59" name="Shape 156"/>
          <p:cNvSpPr/>
          <p:nvPr/>
        </p:nvSpPr>
        <p:spPr>
          <a:xfrm>
            <a:off x="3547570" y="3024792"/>
            <a:ext cx="2134195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3594004" y="3042651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1" name="Text 158"/>
          <p:cNvSpPr/>
          <p:nvPr/>
        </p:nvSpPr>
        <p:spPr>
          <a:xfrm>
            <a:off x="3594004" y="3042651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62" name="Text 159"/>
          <p:cNvSpPr/>
          <p:nvPr/>
        </p:nvSpPr>
        <p:spPr>
          <a:xfrm>
            <a:off x="3729735" y="3044437"/>
            <a:ext cx="43219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GPS_LATITUDE</a:t>
            </a:r>
            <a:endParaRPr lang="en-US" sz="400" dirty="0"/>
          </a:p>
        </p:txBody>
      </p:sp>
      <p:sp>
        <p:nvSpPr>
          <p:cNvPr id="163" name="Text 160"/>
          <p:cNvSpPr/>
          <p:nvPr/>
        </p:nvSpPr>
        <p:spPr>
          <a:xfrm>
            <a:off x="4178005" y="3044437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64" name="Shape 161"/>
          <p:cNvSpPr/>
          <p:nvPr/>
        </p:nvSpPr>
        <p:spPr>
          <a:xfrm>
            <a:off x="5681765" y="3024792"/>
            <a:ext cx="3158626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5681765" y="3024792"/>
            <a:ext cx="3158626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delivery location latitude.</a:t>
            </a:r>
            <a:endParaRPr lang="en-US" sz="400" dirty="0"/>
          </a:p>
        </p:txBody>
      </p:sp>
      <p:sp>
        <p:nvSpPr>
          <p:cNvPr id="166" name="Shape 163"/>
          <p:cNvSpPr/>
          <p:nvPr/>
        </p:nvSpPr>
        <p:spPr>
          <a:xfrm>
            <a:off x="303609" y="3209972"/>
            <a:ext cx="1280517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346472" y="3236761"/>
            <a:ext cx="31047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longitude</a:t>
            </a:r>
            <a:endParaRPr lang="en-US" sz="400" dirty="0"/>
          </a:p>
        </p:txBody>
      </p:sp>
      <p:sp>
        <p:nvSpPr>
          <p:cNvPr id="168" name="Shape 165"/>
          <p:cNvSpPr/>
          <p:nvPr/>
        </p:nvSpPr>
        <p:spPr>
          <a:xfrm>
            <a:off x="1584127" y="3209972"/>
            <a:ext cx="1109765" cy="18875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626989" y="3226045"/>
            <a:ext cx="20895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</a:t>
            </a:r>
            <a:endParaRPr lang="en-US" sz="400" dirty="0"/>
          </a:p>
        </p:txBody>
      </p:sp>
      <p:sp>
        <p:nvSpPr>
          <p:cNvPr id="170" name="Text 167"/>
          <p:cNvSpPr/>
          <p:nvPr/>
        </p:nvSpPr>
        <p:spPr>
          <a:xfrm>
            <a:off x="1626989" y="3299882"/>
            <a:ext cx="41397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DECIMAL(9,6)</a:t>
            </a:r>
            <a:endParaRPr lang="en-US" sz="400" dirty="0"/>
          </a:p>
        </p:txBody>
      </p:sp>
      <p:sp>
        <p:nvSpPr>
          <p:cNvPr id="171" name="Shape 168"/>
          <p:cNvSpPr/>
          <p:nvPr/>
        </p:nvSpPr>
        <p:spPr>
          <a:xfrm>
            <a:off x="2693891" y="3206400"/>
            <a:ext cx="426839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2693891" y="3206400"/>
            <a:ext cx="426839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73" name="Shape 170"/>
          <p:cNvSpPr/>
          <p:nvPr/>
        </p:nvSpPr>
        <p:spPr>
          <a:xfrm>
            <a:off x="3547570" y="3206400"/>
            <a:ext cx="2134195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3594004" y="3224259"/>
            <a:ext cx="119658" cy="7679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5" name="Text 172"/>
          <p:cNvSpPr/>
          <p:nvPr/>
        </p:nvSpPr>
        <p:spPr>
          <a:xfrm>
            <a:off x="3594004" y="3224259"/>
            <a:ext cx="119658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76" name="Text 173"/>
          <p:cNvSpPr/>
          <p:nvPr/>
        </p:nvSpPr>
        <p:spPr>
          <a:xfrm>
            <a:off x="3729735" y="3226045"/>
            <a:ext cx="483989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GPS_LONGITUDE</a:t>
            </a:r>
            <a:endParaRPr lang="en-US" sz="400" dirty="0"/>
          </a:p>
        </p:txBody>
      </p:sp>
      <p:sp>
        <p:nvSpPr>
          <p:cNvPr id="177" name="Text 174"/>
          <p:cNvSpPr/>
          <p:nvPr/>
        </p:nvSpPr>
        <p:spPr>
          <a:xfrm>
            <a:off x="4229798" y="3226045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78" name="Shape 175"/>
          <p:cNvSpPr/>
          <p:nvPr/>
        </p:nvSpPr>
        <p:spPr>
          <a:xfrm>
            <a:off x="5681765" y="3206400"/>
            <a:ext cx="3158626" cy="185179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5681765" y="3206400"/>
            <a:ext cx="3158626" cy="18517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delivery location longitude.</a:t>
            </a:r>
            <a:endParaRPr lang="en-US" sz="400" dirty="0"/>
          </a:p>
        </p:txBody>
      </p:sp>
      <p:sp>
        <p:nvSpPr>
          <p:cNvPr id="180" name="Shape 177"/>
          <p:cNvSpPr/>
          <p:nvPr/>
        </p:nvSpPr>
        <p:spPr>
          <a:xfrm>
            <a:off x="303609" y="3391579"/>
            <a:ext cx="1280517" cy="18875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342900" y="3418368"/>
            <a:ext cx="344993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is_default</a:t>
            </a:r>
            <a:endParaRPr lang="en-US" sz="400" dirty="0"/>
          </a:p>
        </p:txBody>
      </p:sp>
      <p:sp>
        <p:nvSpPr>
          <p:cNvPr id="182" name="Shape 179"/>
          <p:cNvSpPr/>
          <p:nvPr/>
        </p:nvSpPr>
        <p:spPr>
          <a:xfrm>
            <a:off x="1581085" y="3391579"/>
            <a:ext cx="1110239" cy="18875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1623947" y="3407652"/>
            <a:ext cx="217884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</a:t>
            </a:r>
            <a:endParaRPr lang="en-US" sz="400" dirty="0"/>
          </a:p>
        </p:txBody>
      </p:sp>
      <p:sp>
        <p:nvSpPr>
          <p:cNvPr id="184" name="Text 181"/>
          <p:cNvSpPr/>
          <p:nvPr/>
        </p:nvSpPr>
        <p:spPr>
          <a:xfrm>
            <a:off x="1623947" y="3481490"/>
            <a:ext cx="241492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400" dirty="0"/>
          </a:p>
        </p:txBody>
      </p:sp>
      <p:sp>
        <p:nvSpPr>
          <p:cNvPr id="185" name="Shape 182"/>
          <p:cNvSpPr/>
          <p:nvPr/>
        </p:nvSpPr>
        <p:spPr>
          <a:xfrm>
            <a:off x="2691324" y="3388007"/>
            <a:ext cx="427006" cy="18160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2691324" y="3388007"/>
            <a:ext cx="427006" cy="181608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87" name="Shape 184"/>
          <p:cNvSpPr/>
          <p:nvPr/>
        </p:nvSpPr>
        <p:spPr>
          <a:xfrm>
            <a:off x="3545337" y="3388007"/>
            <a:ext cx="2135088" cy="18160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3591771" y="3405867"/>
            <a:ext cx="264319" cy="76795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9" name="Text 186"/>
          <p:cNvSpPr/>
          <p:nvPr/>
        </p:nvSpPr>
        <p:spPr>
          <a:xfrm>
            <a:off x="3591771" y="3405867"/>
            <a:ext cx="264319" cy="76795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90" name="Shape 187"/>
          <p:cNvSpPr/>
          <p:nvPr/>
        </p:nvSpPr>
        <p:spPr>
          <a:xfrm>
            <a:off x="5680425" y="3388007"/>
            <a:ext cx="3159965" cy="18160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680425" y="3388007"/>
            <a:ext cx="3159965" cy="181608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Marks the default address for checkout.</a:t>
            </a:r>
            <a:endParaRPr lang="en-US" sz="400" dirty="0"/>
          </a:p>
        </p:txBody>
      </p:sp>
      <p:sp>
        <p:nvSpPr>
          <p:cNvPr id="192" name="Shape 189"/>
          <p:cNvSpPr/>
          <p:nvPr/>
        </p:nvSpPr>
        <p:spPr>
          <a:xfrm>
            <a:off x="300038" y="3644624"/>
            <a:ext cx="8543925" cy="257175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93" name="Shape 190"/>
          <p:cNvSpPr/>
          <p:nvPr/>
        </p:nvSpPr>
        <p:spPr>
          <a:xfrm>
            <a:off x="300038" y="3644624"/>
            <a:ext cx="85439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4" name="Text 191"/>
          <p:cNvSpPr/>
          <p:nvPr/>
        </p:nvSpPr>
        <p:spPr>
          <a:xfrm>
            <a:off x="300038" y="3644624"/>
            <a:ext cx="8543925" cy="257175"/>
          </a:xfrm>
          <a:prstGeom prst="rect">
            <a:avLst/>
          </a:prstGeom>
          <a:noFill/>
          <a:ln/>
        </p:spPr>
        <p:txBody>
          <a:bodyPr wrap="square" lIns="85090" tIns="59563" rIns="8509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50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Scanner validation focus:</a:t>
            </a:r>
            <a:r>
              <a:rPr lang="en-US" sz="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address books combine direct recipient identity, contact numbers, precise physical address components, free-text delivery notes, and optional GPS coordinates, making them strong tests for both structured and free-text </a:t>
            </a:r>
            <a:r>
              <a:rPr lang="en-US" sz="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detection.</a:t>
            </a:r>
            <a:endParaRPr lang="en-US" sz="500" dirty="0"/>
          </a:p>
        </p:txBody>
      </p:sp>
      <p:sp>
        <p:nvSpPr>
          <p:cNvPr id="195" name="Text 192"/>
          <p:cNvSpPr/>
          <p:nvPr/>
        </p:nvSpPr>
        <p:spPr>
          <a:xfrm>
            <a:off x="300038" y="3966093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96" name="Text 193"/>
          <p:cNvSpPr/>
          <p:nvPr/>
        </p:nvSpPr>
        <p:spPr>
          <a:xfrm>
            <a:off x="7688461" y="3966093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6A34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E-COMMERCE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eshop_order_header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343900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E-commerce order header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Order-level transaction header for Egyptian e-commerce and marketplace fulfilment flows, connecting customers, sellers, delivery addresses, payment 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references, and operational order state. Granularity: one row per placed order.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653653" cy="164306"/>
          </a:xfrm>
          <a:prstGeom prst="rect">
            <a:avLst/>
          </a:prstGeom>
          <a:solidFill>
            <a:srgbClr val="DCFCE7"/>
          </a:solidFill>
          <a:ln w="9144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653653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16653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E-commerce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1010841" y="1009724"/>
            <a:ext cx="576858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0841" y="1009724"/>
            <a:ext cx="57685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11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644848" y="1009724"/>
            <a:ext cx="319683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44848" y="1009724"/>
            <a:ext cx="319683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7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2021681" y="1009724"/>
            <a:ext cx="512564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21681" y="1009724"/>
            <a:ext cx="512564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0471"/>
            <a:ext cx="1280517" cy="130011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0471"/>
            <a:ext cx="1280517" cy="130011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0471"/>
            <a:ext cx="1109765" cy="130011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0471"/>
            <a:ext cx="1109765" cy="130011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0471"/>
            <a:ext cx="426839" cy="130011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0471"/>
            <a:ext cx="426839" cy="130011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0471"/>
            <a:ext cx="426839" cy="130011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0471"/>
            <a:ext cx="426839" cy="130011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0471"/>
            <a:ext cx="2134195" cy="130011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0471"/>
            <a:ext cx="2134195" cy="130011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0471"/>
            <a:ext cx="3158626" cy="130011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0471"/>
            <a:ext cx="3158626" cy="130011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393338"/>
            <a:ext cx="1280517" cy="19087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20127"/>
            <a:ext cx="282959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400" dirty="0"/>
          </a:p>
        </p:txBody>
      </p:sp>
      <p:sp>
        <p:nvSpPr>
          <p:cNvPr id="28" name="Shape 25"/>
          <p:cNvSpPr/>
          <p:nvPr/>
        </p:nvSpPr>
        <p:spPr>
          <a:xfrm>
            <a:off x="1584127" y="1393338"/>
            <a:ext cx="1109765" cy="19087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11198"/>
            <a:ext cx="15716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30" name="Text 27"/>
          <p:cNvSpPr/>
          <p:nvPr/>
        </p:nvSpPr>
        <p:spPr>
          <a:xfrm>
            <a:off x="1626989" y="1487881"/>
            <a:ext cx="3890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31" name="Shape 28"/>
          <p:cNvSpPr/>
          <p:nvPr/>
        </p:nvSpPr>
        <p:spPr>
          <a:xfrm>
            <a:off x="2693891" y="1393338"/>
            <a:ext cx="426839" cy="18730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393338"/>
            <a:ext cx="426839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33" name="Shape 30"/>
          <p:cNvSpPr/>
          <p:nvPr/>
        </p:nvSpPr>
        <p:spPr>
          <a:xfrm>
            <a:off x="3120730" y="1393338"/>
            <a:ext cx="426839" cy="18730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393338"/>
            <a:ext cx="426839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00" dirty="0"/>
          </a:p>
        </p:txBody>
      </p:sp>
      <p:sp>
        <p:nvSpPr>
          <p:cNvPr id="35" name="Shape 32"/>
          <p:cNvSpPr/>
          <p:nvPr/>
        </p:nvSpPr>
        <p:spPr>
          <a:xfrm>
            <a:off x="3547570" y="1393338"/>
            <a:ext cx="2134195" cy="18730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14769"/>
            <a:ext cx="264319" cy="7425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14769"/>
            <a:ext cx="264319" cy="7425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38" name="Shape 35"/>
          <p:cNvSpPr/>
          <p:nvPr/>
        </p:nvSpPr>
        <p:spPr>
          <a:xfrm>
            <a:off x="5681765" y="1393338"/>
            <a:ext cx="3158626" cy="18730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81765" y="1393338"/>
            <a:ext cx="3158626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order key for marketplace and fulfilment workflows.</a:t>
            </a:r>
            <a:endParaRPr lang="en-US" sz="400" dirty="0"/>
          </a:p>
        </p:txBody>
      </p:sp>
      <p:sp>
        <p:nvSpPr>
          <p:cNvPr id="40" name="Shape 37"/>
          <p:cNvSpPr/>
          <p:nvPr/>
        </p:nvSpPr>
        <p:spPr>
          <a:xfrm>
            <a:off x="303609" y="1577067"/>
            <a:ext cx="1280517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46472" y="1603856"/>
            <a:ext cx="601247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eshop_customer_id</a:t>
            </a:r>
            <a:endParaRPr lang="en-US" sz="400" dirty="0"/>
          </a:p>
        </p:txBody>
      </p:sp>
      <p:sp>
        <p:nvSpPr>
          <p:cNvPr id="42" name="Shape 39"/>
          <p:cNvSpPr/>
          <p:nvPr/>
        </p:nvSpPr>
        <p:spPr>
          <a:xfrm>
            <a:off x="1584127" y="1577067"/>
            <a:ext cx="1109765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26989" y="1591354"/>
            <a:ext cx="15716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44" name="Text 41"/>
          <p:cNvSpPr/>
          <p:nvPr/>
        </p:nvSpPr>
        <p:spPr>
          <a:xfrm>
            <a:off x="1626989" y="1668038"/>
            <a:ext cx="3890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45" name="Shape 42"/>
          <p:cNvSpPr/>
          <p:nvPr/>
        </p:nvSpPr>
        <p:spPr>
          <a:xfrm>
            <a:off x="2693891" y="1573495"/>
            <a:ext cx="426839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693891" y="1573495"/>
            <a:ext cx="426839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47" name="Shape 44"/>
          <p:cNvSpPr/>
          <p:nvPr/>
        </p:nvSpPr>
        <p:spPr>
          <a:xfrm>
            <a:off x="3547570" y="1573495"/>
            <a:ext cx="2134195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594004" y="1594926"/>
            <a:ext cx="119658" cy="7425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9" name="Text 46"/>
          <p:cNvSpPr/>
          <p:nvPr/>
        </p:nvSpPr>
        <p:spPr>
          <a:xfrm>
            <a:off x="3594004" y="1594926"/>
            <a:ext cx="119658" cy="7425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0" name="Text 47"/>
          <p:cNvSpPr/>
          <p:nvPr/>
        </p:nvSpPr>
        <p:spPr>
          <a:xfrm>
            <a:off x="3751166" y="1593140"/>
            <a:ext cx="430411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CUSTOMER_ID</a:t>
            </a:r>
            <a:endParaRPr lang="en-US" sz="400" dirty="0"/>
          </a:p>
        </p:txBody>
      </p:sp>
      <p:sp>
        <p:nvSpPr>
          <p:cNvPr id="51" name="Text 48"/>
          <p:cNvSpPr/>
          <p:nvPr/>
        </p:nvSpPr>
        <p:spPr>
          <a:xfrm>
            <a:off x="4197651" y="1593140"/>
            <a:ext cx="27860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52" name="Shape 49"/>
          <p:cNvSpPr/>
          <p:nvPr/>
        </p:nvSpPr>
        <p:spPr>
          <a:xfrm>
            <a:off x="5681765" y="1573495"/>
            <a:ext cx="3158626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81765" y="1573495"/>
            <a:ext cx="3158626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account that placed the order.</a:t>
            </a:r>
            <a:endParaRPr lang="en-US" sz="400" dirty="0"/>
          </a:p>
        </p:txBody>
      </p:sp>
      <p:sp>
        <p:nvSpPr>
          <p:cNvPr id="54" name="Shape 51"/>
          <p:cNvSpPr/>
          <p:nvPr/>
        </p:nvSpPr>
        <p:spPr>
          <a:xfrm>
            <a:off x="303609" y="1760795"/>
            <a:ext cx="1280517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46472" y="1787584"/>
            <a:ext cx="31831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seller_id</a:t>
            </a:r>
            <a:endParaRPr lang="en-US" sz="400" dirty="0"/>
          </a:p>
        </p:txBody>
      </p:sp>
      <p:sp>
        <p:nvSpPr>
          <p:cNvPr id="56" name="Shape 53"/>
          <p:cNvSpPr/>
          <p:nvPr/>
        </p:nvSpPr>
        <p:spPr>
          <a:xfrm>
            <a:off x="1584127" y="1760795"/>
            <a:ext cx="1109765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626989" y="1775082"/>
            <a:ext cx="15716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58" name="Text 55"/>
          <p:cNvSpPr/>
          <p:nvPr/>
        </p:nvSpPr>
        <p:spPr>
          <a:xfrm>
            <a:off x="1626989" y="1851766"/>
            <a:ext cx="3890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59" name="Shape 56"/>
          <p:cNvSpPr/>
          <p:nvPr/>
        </p:nvSpPr>
        <p:spPr>
          <a:xfrm>
            <a:off x="2693891" y="1757223"/>
            <a:ext cx="426839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693891" y="1757223"/>
            <a:ext cx="426839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61" name="Shape 58"/>
          <p:cNvSpPr/>
          <p:nvPr/>
        </p:nvSpPr>
        <p:spPr>
          <a:xfrm>
            <a:off x="3547570" y="1757223"/>
            <a:ext cx="2134195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594004" y="1778654"/>
            <a:ext cx="119658" cy="7425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3" name="Text 60"/>
          <p:cNvSpPr/>
          <p:nvPr/>
        </p:nvSpPr>
        <p:spPr>
          <a:xfrm>
            <a:off x="3594004" y="1778654"/>
            <a:ext cx="119658" cy="7425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4" name="Text 61"/>
          <p:cNvSpPr/>
          <p:nvPr/>
        </p:nvSpPr>
        <p:spPr>
          <a:xfrm>
            <a:off x="3751166" y="1776868"/>
            <a:ext cx="43398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MERCHANT_ID</a:t>
            </a:r>
            <a:endParaRPr lang="en-US" sz="400" dirty="0"/>
          </a:p>
        </p:txBody>
      </p:sp>
      <p:sp>
        <p:nvSpPr>
          <p:cNvPr id="65" name="Text 62"/>
          <p:cNvSpPr/>
          <p:nvPr/>
        </p:nvSpPr>
        <p:spPr>
          <a:xfrm>
            <a:off x="4201223" y="1776868"/>
            <a:ext cx="27860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66" name="Shape 63"/>
          <p:cNvSpPr/>
          <p:nvPr/>
        </p:nvSpPr>
        <p:spPr>
          <a:xfrm>
            <a:off x="5681765" y="1757223"/>
            <a:ext cx="3158626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681765" y="1757223"/>
            <a:ext cx="3158626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seller or merchant associated with the order.</a:t>
            </a:r>
            <a:endParaRPr lang="en-US" sz="400" dirty="0"/>
          </a:p>
        </p:txBody>
      </p:sp>
      <p:sp>
        <p:nvSpPr>
          <p:cNvPr id="68" name="Shape 65"/>
          <p:cNvSpPr/>
          <p:nvPr/>
        </p:nvSpPr>
        <p:spPr>
          <a:xfrm>
            <a:off x="303609" y="1944523"/>
            <a:ext cx="1280517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46472" y="1971312"/>
            <a:ext cx="671987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shipping_address_id</a:t>
            </a:r>
            <a:endParaRPr lang="en-US" sz="400" dirty="0"/>
          </a:p>
        </p:txBody>
      </p:sp>
      <p:sp>
        <p:nvSpPr>
          <p:cNvPr id="70" name="Shape 67"/>
          <p:cNvSpPr/>
          <p:nvPr/>
        </p:nvSpPr>
        <p:spPr>
          <a:xfrm>
            <a:off x="1584127" y="1944523"/>
            <a:ext cx="1109765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626989" y="1958811"/>
            <a:ext cx="15716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72" name="Text 69"/>
          <p:cNvSpPr/>
          <p:nvPr/>
        </p:nvSpPr>
        <p:spPr>
          <a:xfrm>
            <a:off x="1626989" y="2035494"/>
            <a:ext cx="3890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73" name="Shape 70"/>
          <p:cNvSpPr/>
          <p:nvPr/>
        </p:nvSpPr>
        <p:spPr>
          <a:xfrm>
            <a:off x="2693891" y="1940951"/>
            <a:ext cx="426839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693891" y="1940951"/>
            <a:ext cx="426839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75" name="Shape 72"/>
          <p:cNvSpPr/>
          <p:nvPr/>
        </p:nvSpPr>
        <p:spPr>
          <a:xfrm>
            <a:off x="3547570" y="1940951"/>
            <a:ext cx="2134195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594004" y="1962383"/>
            <a:ext cx="119658" cy="7425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7" name="Text 74"/>
          <p:cNvSpPr/>
          <p:nvPr/>
        </p:nvSpPr>
        <p:spPr>
          <a:xfrm>
            <a:off x="3594004" y="1962383"/>
            <a:ext cx="119658" cy="7425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78" name="Text 75"/>
          <p:cNvSpPr/>
          <p:nvPr/>
        </p:nvSpPr>
        <p:spPr>
          <a:xfrm>
            <a:off x="3751166" y="1960597"/>
            <a:ext cx="62150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LOCATION_ADDRESS</a:t>
            </a:r>
            <a:endParaRPr lang="en-US" sz="400" dirty="0"/>
          </a:p>
        </p:txBody>
      </p:sp>
      <p:sp>
        <p:nvSpPr>
          <p:cNvPr id="79" name="Text 76"/>
          <p:cNvSpPr/>
          <p:nvPr/>
        </p:nvSpPr>
        <p:spPr>
          <a:xfrm>
            <a:off x="4388746" y="1960597"/>
            <a:ext cx="12858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80" name="Shape 77"/>
          <p:cNvSpPr/>
          <p:nvPr/>
        </p:nvSpPr>
        <p:spPr>
          <a:xfrm>
            <a:off x="5681765" y="1940951"/>
            <a:ext cx="3158626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681765" y="1940951"/>
            <a:ext cx="3158626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to the delivery address selected at checkout.</a:t>
            </a:r>
            <a:endParaRPr lang="en-US" sz="400" dirty="0"/>
          </a:p>
        </p:txBody>
      </p:sp>
      <p:sp>
        <p:nvSpPr>
          <p:cNvPr id="82" name="Shape 79"/>
          <p:cNvSpPr/>
          <p:nvPr/>
        </p:nvSpPr>
        <p:spPr>
          <a:xfrm>
            <a:off x="303609" y="2128251"/>
            <a:ext cx="1280517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46472" y="2155041"/>
            <a:ext cx="495151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recipient_name</a:t>
            </a:r>
            <a:endParaRPr lang="en-US" sz="400" dirty="0"/>
          </a:p>
        </p:txBody>
      </p:sp>
      <p:sp>
        <p:nvSpPr>
          <p:cNvPr id="84" name="Shape 81"/>
          <p:cNvSpPr/>
          <p:nvPr/>
        </p:nvSpPr>
        <p:spPr>
          <a:xfrm>
            <a:off x="1584127" y="2128251"/>
            <a:ext cx="1109765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626989" y="2142539"/>
            <a:ext cx="15716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86" name="Text 83"/>
          <p:cNvSpPr/>
          <p:nvPr/>
        </p:nvSpPr>
        <p:spPr>
          <a:xfrm>
            <a:off x="1626989" y="2219223"/>
            <a:ext cx="45979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NVARCHAR(160)</a:t>
            </a:r>
            <a:endParaRPr lang="en-US" sz="400" dirty="0"/>
          </a:p>
        </p:txBody>
      </p:sp>
      <p:sp>
        <p:nvSpPr>
          <p:cNvPr id="87" name="Shape 84"/>
          <p:cNvSpPr/>
          <p:nvPr/>
        </p:nvSpPr>
        <p:spPr>
          <a:xfrm>
            <a:off x="2693891" y="2124680"/>
            <a:ext cx="426839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693891" y="2124680"/>
            <a:ext cx="426839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89" name="Shape 86"/>
          <p:cNvSpPr/>
          <p:nvPr/>
        </p:nvSpPr>
        <p:spPr>
          <a:xfrm>
            <a:off x="3547570" y="2124680"/>
            <a:ext cx="2134195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94004" y="2146111"/>
            <a:ext cx="119658" cy="7425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1" name="Text 88"/>
          <p:cNvSpPr/>
          <p:nvPr/>
        </p:nvSpPr>
        <p:spPr>
          <a:xfrm>
            <a:off x="3594004" y="2146111"/>
            <a:ext cx="119658" cy="7425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2" name="Text 89"/>
          <p:cNvSpPr/>
          <p:nvPr/>
        </p:nvSpPr>
        <p:spPr>
          <a:xfrm>
            <a:off x="3751166" y="2144325"/>
            <a:ext cx="24467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PERSON</a:t>
            </a:r>
            <a:endParaRPr lang="en-US" sz="400" dirty="0"/>
          </a:p>
        </p:txBody>
      </p:sp>
      <p:sp>
        <p:nvSpPr>
          <p:cNvPr id="93" name="Text 90"/>
          <p:cNvSpPr/>
          <p:nvPr/>
        </p:nvSpPr>
        <p:spPr>
          <a:xfrm>
            <a:off x="4011913" y="2144325"/>
            <a:ext cx="12858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94" name="Shape 91"/>
          <p:cNvSpPr/>
          <p:nvPr/>
        </p:nvSpPr>
        <p:spPr>
          <a:xfrm>
            <a:off x="5681765" y="2124680"/>
            <a:ext cx="3158626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681765" y="2124680"/>
            <a:ext cx="3158626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of the person receiving the order shipment.</a:t>
            </a:r>
            <a:endParaRPr lang="en-US" sz="400" dirty="0"/>
          </a:p>
        </p:txBody>
      </p:sp>
      <p:sp>
        <p:nvSpPr>
          <p:cNvPr id="96" name="Shape 93"/>
          <p:cNvSpPr/>
          <p:nvPr/>
        </p:nvSpPr>
        <p:spPr>
          <a:xfrm>
            <a:off x="303609" y="2311980"/>
            <a:ext cx="1280517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46472" y="2338769"/>
            <a:ext cx="565891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recipient_mobile</a:t>
            </a:r>
            <a:endParaRPr lang="en-US" sz="400" dirty="0"/>
          </a:p>
        </p:txBody>
      </p:sp>
      <p:sp>
        <p:nvSpPr>
          <p:cNvPr id="98" name="Shape 95"/>
          <p:cNvSpPr/>
          <p:nvPr/>
        </p:nvSpPr>
        <p:spPr>
          <a:xfrm>
            <a:off x="1584127" y="2311980"/>
            <a:ext cx="1109765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626989" y="2326267"/>
            <a:ext cx="15716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00" name="Text 97"/>
          <p:cNvSpPr/>
          <p:nvPr/>
        </p:nvSpPr>
        <p:spPr>
          <a:xfrm>
            <a:off x="1626989" y="2402951"/>
            <a:ext cx="3890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00" dirty="0"/>
          </a:p>
        </p:txBody>
      </p:sp>
      <p:sp>
        <p:nvSpPr>
          <p:cNvPr id="101" name="Shape 98"/>
          <p:cNvSpPr/>
          <p:nvPr/>
        </p:nvSpPr>
        <p:spPr>
          <a:xfrm>
            <a:off x="2693891" y="2308408"/>
            <a:ext cx="426839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693891" y="2308408"/>
            <a:ext cx="426839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03" name="Shape 100"/>
          <p:cNvSpPr/>
          <p:nvPr/>
        </p:nvSpPr>
        <p:spPr>
          <a:xfrm>
            <a:off x="3547570" y="2308408"/>
            <a:ext cx="2134195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594004" y="2329839"/>
            <a:ext cx="119658" cy="7425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5" name="Text 102"/>
          <p:cNvSpPr/>
          <p:nvPr/>
        </p:nvSpPr>
        <p:spPr>
          <a:xfrm>
            <a:off x="3594004" y="2329839"/>
            <a:ext cx="119658" cy="7425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6" name="Text 103"/>
          <p:cNvSpPr/>
          <p:nvPr/>
        </p:nvSpPr>
        <p:spPr>
          <a:xfrm>
            <a:off x="3751166" y="2328053"/>
            <a:ext cx="56614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EGYPTIAN_MOBILE</a:t>
            </a:r>
            <a:endParaRPr lang="en-US" sz="400" dirty="0"/>
          </a:p>
        </p:txBody>
      </p:sp>
      <p:sp>
        <p:nvSpPr>
          <p:cNvPr id="107" name="Text 104"/>
          <p:cNvSpPr/>
          <p:nvPr/>
        </p:nvSpPr>
        <p:spPr>
          <a:xfrm>
            <a:off x="4333382" y="2328053"/>
            <a:ext cx="12858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08" name="Shape 105"/>
          <p:cNvSpPr/>
          <p:nvPr/>
        </p:nvSpPr>
        <p:spPr>
          <a:xfrm>
            <a:off x="5681765" y="2308408"/>
            <a:ext cx="3158626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681765" y="2308408"/>
            <a:ext cx="3158626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Recipient mobile number used by delivery and customer-support teams.</a:t>
            </a:r>
            <a:endParaRPr lang="en-US" sz="400" dirty="0"/>
          </a:p>
        </p:txBody>
      </p:sp>
      <p:sp>
        <p:nvSpPr>
          <p:cNvPr id="110" name="Shape 107"/>
          <p:cNvSpPr/>
          <p:nvPr/>
        </p:nvSpPr>
        <p:spPr>
          <a:xfrm>
            <a:off x="303609" y="2495708"/>
            <a:ext cx="1280517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346472" y="2522497"/>
            <a:ext cx="601247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payment_reference</a:t>
            </a:r>
            <a:endParaRPr lang="en-US" sz="400" dirty="0"/>
          </a:p>
        </p:txBody>
      </p:sp>
      <p:sp>
        <p:nvSpPr>
          <p:cNvPr id="112" name="Shape 109"/>
          <p:cNvSpPr/>
          <p:nvPr/>
        </p:nvSpPr>
        <p:spPr>
          <a:xfrm>
            <a:off x="1584127" y="2495708"/>
            <a:ext cx="1109765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626989" y="2509996"/>
            <a:ext cx="15716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14" name="Text 111"/>
          <p:cNvSpPr/>
          <p:nvPr/>
        </p:nvSpPr>
        <p:spPr>
          <a:xfrm>
            <a:off x="1626989" y="2586679"/>
            <a:ext cx="3890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VARCHAR(80)</a:t>
            </a:r>
            <a:endParaRPr lang="en-US" sz="400" dirty="0"/>
          </a:p>
        </p:txBody>
      </p:sp>
      <p:sp>
        <p:nvSpPr>
          <p:cNvPr id="115" name="Shape 112"/>
          <p:cNvSpPr/>
          <p:nvPr/>
        </p:nvSpPr>
        <p:spPr>
          <a:xfrm>
            <a:off x="2693891" y="2492136"/>
            <a:ext cx="426839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2693891" y="2492136"/>
            <a:ext cx="426839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17" name="Shape 114"/>
          <p:cNvSpPr/>
          <p:nvPr/>
        </p:nvSpPr>
        <p:spPr>
          <a:xfrm>
            <a:off x="3547570" y="2492136"/>
            <a:ext cx="2134195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594004" y="2513568"/>
            <a:ext cx="119658" cy="7425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9" name="Text 116"/>
          <p:cNvSpPr/>
          <p:nvPr/>
        </p:nvSpPr>
        <p:spPr>
          <a:xfrm>
            <a:off x="3594004" y="2513568"/>
            <a:ext cx="119658" cy="7425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0" name="Text 117"/>
          <p:cNvSpPr/>
          <p:nvPr/>
        </p:nvSpPr>
        <p:spPr>
          <a:xfrm>
            <a:off x="3751166" y="2511782"/>
            <a:ext cx="664369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PAYMENT_REFERENCE</a:t>
            </a:r>
            <a:endParaRPr lang="en-US" sz="400" dirty="0"/>
          </a:p>
        </p:txBody>
      </p:sp>
      <p:sp>
        <p:nvSpPr>
          <p:cNvPr id="121" name="Text 118"/>
          <p:cNvSpPr/>
          <p:nvPr/>
        </p:nvSpPr>
        <p:spPr>
          <a:xfrm>
            <a:off x="4431609" y="2511782"/>
            <a:ext cx="27860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22" name="Shape 119"/>
          <p:cNvSpPr/>
          <p:nvPr/>
        </p:nvSpPr>
        <p:spPr>
          <a:xfrm>
            <a:off x="5681765" y="2492136"/>
            <a:ext cx="3158626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5681765" y="2492136"/>
            <a:ext cx="3158626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gateway, wallet, or transaction reference linked to the order.</a:t>
            </a:r>
            <a:endParaRPr lang="en-US" sz="400" dirty="0"/>
          </a:p>
        </p:txBody>
      </p:sp>
      <p:sp>
        <p:nvSpPr>
          <p:cNvPr id="124" name="Shape 121"/>
          <p:cNvSpPr/>
          <p:nvPr/>
        </p:nvSpPr>
        <p:spPr>
          <a:xfrm>
            <a:off x="303609" y="2679436"/>
            <a:ext cx="1280517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46472" y="2706226"/>
            <a:ext cx="601247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last4_card_digits</a:t>
            </a:r>
            <a:endParaRPr lang="en-US" sz="400" dirty="0"/>
          </a:p>
        </p:txBody>
      </p:sp>
      <p:sp>
        <p:nvSpPr>
          <p:cNvPr id="126" name="Shape 123"/>
          <p:cNvSpPr/>
          <p:nvPr/>
        </p:nvSpPr>
        <p:spPr>
          <a:xfrm>
            <a:off x="1584127" y="2679436"/>
            <a:ext cx="1109765" cy="19087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1626989" y="2693724"/>
            <a:ext cx="15716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28" name="Text 125"/>
          <p:cNvSpPr/>
          <p:nvPr/>
        </p:nvSpPr>
        <p:spPr>
          <a:xfrm>
            <a:off x="1626989" y="2770408"/>
            <a:ext cx="247576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CHAR(4)</a:t>
            </a:r>
            <a:endParaRPr lang="en-US" sz="400" dirty="0"/>
          </a:p>
        </p:txBody>
      </p:sp>
      <p:sp>
        <p:nvSpPr>
          <p:cNvPr id="129" name="Shape 126"/>
          <p:cNvSpPr/>
          <p:nvPr/>
        </p:nvSpPr>
        <p:spPr>
          <a:xfrm>
            <a:off x="2693891" y="2675865"/>
            <a:ext cx="426839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2693891" y="2675865"/>
            <a:ext cx="426839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31" name="Shape 128"/>
          <p:cNvSpPr/>
          <p:nvPr/>
        </p:nvSpPr>
        <p:spPr>
          <a:xfrm>
            <a:off x="3547570" y="2675865"/>
            <a:ext cx="2134195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3594004" y="2697296"/>
            <a:ext cx="119658" cy="7425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3" name="Text 130"/>
          <p:cNvSpPr/>
          <p:nvPr/>
        </p:nvSpPr>
        <p:spPr>
          <a:xfrm>
            <a:off x="3594004" y="2697296"/>
            <a:ext cx="119658" cy="7425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4" name="Text 131"/>
          <p:cNvSpPr/>
          <p:nvPr/>
        </p:nvSpPr>
        <p:spPr>
          <a:xfrm>
            <a:off x="3751166" y="2695510"/>
            <a:ext cx="41076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CREDIT_CARD</a:t>
            </a:r>
            <a:endParaRPr lang="en-US" sz="400" dirty="0"/>
          </a:p>
        </p:txBody>
      </p:sp>
      <p:sp>
        <p:nvSpPr>
          <p:cNvPr id="135" name="Text 132"/>
          <p:cNvSpPr/>
          <p:nvPr/>
        </p:nvSpPr>
        <p:spPr>
          <a:xfrm>
            <a:off x="4178005" y="2695510"/>
            <a:ext cx="27860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36" name="Shape 133"/>
          <p:cNvSpPr/>
          <p:nvPr/>
        </p:nvSpPr>
        <p:spPr>
          <a:xfrm>
            <a:off x="5681765" y="2675865"/>
            <a:ext cx="3158626" cy="187300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5681765" y="2675865"/>
            <a:ext cx="3158626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 suffix of the payment card used where collected.</a:t>
            </a:r>
            <a:endParaRPr lang="en-US" sz="400" dirty="0"/>
          </a:p>
        </p:txBody>
      </p:sp>
      <p:sp>
        <p:nvSpPr>
          <p:cNvPr id="138" name="Shape 135"/>
          <p:cNvSpPr/>
          <p:nvPr/>
        </p:nvSpPr>
        <p:spPr>
          <a:xfrm>
            <a:off x="303609" y="2863165"/>
            <a:ext cx="1280517" cy="19087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46472" y="2889954"/>
            <a:ext cx="424411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order_status</a:t>
            </a:r>
            <a:endParaRPr lang="en-US" sz="400" dirty="0"/>
          </a:p>
        </p:txBody>
      </p:sp>
      <p:sp>
        <p:nvSpPr>
          <p:cNvPr id="140" name="Shape 137"/>
          <p:cNvSpPr/>
          <p:nvPr/>
        </p:nvSpPr>
        <p:spPr>
          <a:xfrm>
            <a:off x="1584127" y="2863165"/>
            <a:ext cx="1109765" cy="19087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626989" y="2877452"/>
            <a:ext cx="15716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42" name="Text 139"/>
          <p:cNvSpPr/>
          <p:nvPr/>
        </p:nvSpPr>
        <p:spPr>
          <a:xfrm>
            <a:off x="1626989" y="2954136"/>
            <a:ext cx="3890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VARCHAR(30)</a:t>
            </a:r>
            <a:endParaRPr lang="en-US" sz="400" dirty="0"/>
          </a:p>
        </p:txBody>
      </p:sp>
      <p:sp>
        <p:nvSpPr>
          <p:cNvPr id="143" name="Shape 140"/>
          <p:cNvSpPr/>
          <p:nvPr/>
        </p:nvSpPr>
        <p:spPr>
          <a:xfrm>
            <a:off x="2693891" y="2859593"/>
            <a:ext cx="426839" cy="18730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2693891" y="2859593"/>
            <a:ext cx="426839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45" name="Shape 142"/>
          <p:cNvSpPr/>
          <p:nvPr/>
        </p:nvSpPr>
        <p:spPr>
          <a:xfrm>
            <a:off x="3547570" y="2859593"/>
            <a:ext cx="2134195" cy="18730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3594004" y="2881024"/>
            <a:ext cx="264319" cy="7425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7" name="Text 144"/>
          <p:cNvSpPr/>
          <p:nvPr/>
        </p:nvSpPr>
        <p:spPr>
          <a:xfrm>
            <a:off x="3594004" y="2881024"/>
            <a:ext cx="264319" cy="7425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48" name="Shape 145"/>
          <p:cNvSpPr/>
          <p:nvPr/>
        </p:nvSpPr>
        <p:spPr>
          <a:xfrm>
            <a:off x="5681765" y="2859593"/>
            <a:ext cx="3158626" cy="18730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5681765" y="2859593"/>
            <a:ext cx="3158626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state such as placed, packed, shipped, delivered, cancelled, or returned.</a:t>
            </a:r>
            <a:endParaRPr lang="en-US" sz="400" dirty="0"/>
          </a:p>
        </p:txBody>
      </p:sp>
      <p:sp>
        <p:nvSpPr>
          <p:cNvPr id="150" name="Shape 147"/>
          <p:cNvSpPr/>
          <p:nvPr/>
        </p:nvSpPr>
        <p:spPr>
          <a:xfrm>
            <a:off x="303609" y="3046893"/>
            <a:ext cx="1280517" cy="19087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346472" y="3073682"/>
            <a:ext cx="53053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order_total_egp</a:t>
            </a:r>
            <a:endParaRPr lang="en-US" sz="400" dirty="0"/>
          </a:p>
        </p:txBody>
      </p:sp>
      <p:sp>
        <p:nvSpPr>
          <p:cNvPr id="152" name="Shape 149"/>
          <p:cNvSpPr/>
          <p:nvPr/>
        </p:nvSpPr>
        <p:spPr>
          <a:xfrm>
            <a:off x="1584127" y="3046893"/>
            <a:ext cx="1109765" cy="19087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1626989" y="3061181"/>
            <a:ext cx="214313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</a:t>
            </a:r>
            <a:endParaRPr lang="en-US" sz="400" dirty="0"/>
          </a:p>
        </p:txBody>
      </p:sp>
      <p:sp>
        <p:nvSpPr>
          <p:cNvPr id="154" name="Text 151"/>
          <p:cNvSpPr/>
          <p:nvPr/>
        </p:nvSpPr>
        <p:spPr>
          <a:xfrm>
            <a:off x="1626989" y="3137864"/>
            <a:ext cx="45979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DECIMAL(12,2)</a:t>
            </a:r>
            <a:endParaRPr lang="en-US" sz="400" dirty="0"/>
          </a:p>
        </p:txBody>
      </p:sp>
      <p:sp>
        <p:nvSpPr>
          <p:cNvPr id="155" name="Shape 152"/>
          <p:cNvSpPr/>
          <p:nvPr/>
        </p:nvSpPr>
        <p:spPr>
          <a:xfrm>
            <a:off x="2693891" y="3043321"/>
            <a:ext cx="426839" cy="18730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2693891" y="3043321"/>
            <a:ext cx="426839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57" name="Shape 154"/>
          <p:cNvSpPr/>
          <p:nvPr/>
        </p:nvSpPr>
        <p:spPr>
          <a:xfrm>
            <a:off x="3547570" y="3043321"/>
            <a:ext cx="2134195" cy="18730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594004" y="3064752"/>
            <a:ext cx="264319" cy="7425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59" name="Text 156"/>
          <p:cNvSpPr/>
          <p:nvPr/>
        </p:nvSpPr>
        <p:spPr>
          <a:xfrm>
            <a:off x="3594004" y="3064752"/>
            <a:ext cx="264319" cy="7425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60" name="Shape 157"/>
          <p:cNvSpPr/>
          <p:nvPr/>
        </p:nvSpPr>
        <p:spPr>
          <a:xfrm>
            <a:off x="5681765" y="3043321"/>
            <a:ext cx="3158626" cy="187300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5681765" y="3043321"/>
            <a:ext cx="3158626" cy="187300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order amount in Egyptian pounds.</a:t>
            </a:r>
            <a:endParaRPr lang="en-US" sz="400" dirty="0"/>
          </a:p>
        </p:txBody>
      </p:sp>
      <p:sp>
        <p:nvSpPr>
          <p:cNvPr id="162" name="Shape 159"/>
          <p:cNvSpPr/>
          <p:nvPr/>
        </p:nvSpPr>
        <p:spPr>
          <a:xfrm>
            <a:off x="303609" y="3230621"/>
            <a:ext cx="1280517" cy="19087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342900" y="3257410"/>
            <a:ext cx="565891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order_created_at</a:t>
            </a:r>
            <a:endParaRPr lang="en-US" sz="400" dirty="0"/>
          </a:p>
        </p:txBody>
      </p:sp>
      <p:sp>
        <p:nvSpPr>
          <p:cNvPr id="164" name="Shape 161"/>
          <p:cNvSpPr/>
          <p:nvPr/>
        </p:nvSpPr>
        <p:spPr>
          <a:xfrm>
            <a:off x="1581085" y="3230621"/>
            <a:ext cx="1110239" cy="190872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1623947" y="3244909"/>
            <a:ext cx="29110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</a:t>
            </a:r>
            <a:endParaRPr lang="en-US" sz="400" dirty="0"/>
          </a:p>
        </p:txBody>
      </p:sp>
      <p:sp>
        <p:nvSpPr>
          <p:cNvPr id="166" name="Text 163"/>
          <p:cNvSpPr/>
          <p:nvPr/>
        </p:nvSpPr>
        <p:spPr>
          <a:xfrm>
            <a:off x="1623947" y="3321593"/>
            <a:ext cx="31831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400" dirty="0"/>
          </a:p>
        </p:txBody>
      </p:sp>
      <p:sp>
        <p:nvSpPr>
          <p:cNvPr id="167" name="Shape 164"/>
          <p:cNvSpPr/>
          <p:nvPr/>
        </p:nvSpPr>
        <p:spPr>
          <a:xfrm>
            <a:off x="2691324" y="3227050"/>
            <a:ext cx="427006" cy="18372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2691324" y="3227050"/>
            <a:ext cx="427006" cy="183728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169" name="Shape 166"/>
          <p:cNvSpPr/>
          <p:nvPr/>
        </p:nvSpPr>
        <p:spPr>
          <a:xfrm>
            <a:off x="3545337" y="3227050"/>
            <a:ext cx="2135088" cy="18372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3591771" y="3248481"/>
            <a:ext cx="264319" cy="7425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1" name="Text 168"/>
          <p:cNvSpPr/>
          <p:nvPr/>
        </p:nvSpPr>
        <p:spPr>
          <a:xfrm>
            <a:off x="3591771" y="3248481"/>
            <a:ext cx="264319" cy="7425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72" name="Shape 169"/>
          <p:cNvSpPr/>
          <p:nvPr/>
        </p:nvSpPr>
        <p:spPr>
          <a:xfrm>
            <a:off x="5680425" y="3227050"/>
            <a:ext cx="3159965" cy="18372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5680425" y="3227050"/>
            <a:ext cx="3159965" cy="183728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when the order was placed.</a:t>
            </a:r>
            <a:endParaRPr lang="en-US" sz="400" dirty="0"/>
          </a:p>
        </p:txBody>
      </p:sp>
      <p:sp>
        <p:nvSpPr>
          <p:cNvPr id="174" name="Shape 171"/>
          <p:cNvSpPr/>
          <p:nvPr/>
        </p:nvSpPr>
        <p:spPr>
          <a:xfrm>
            <a:off x="300038" y="3485787"/>
            <a:ext cx="8543925" cy="250031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75" name="Shape 172"/>
          <p:cNvSpPr/>
          <p:nvPr/>
        </p:nvSpPr>
        <p:spPr>
          <a:xfrm>
            <a:off x="300038" y="3485787"/>
            <a:ext cx="85439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6" name="Text 173"/>
          <p:cNvSpPr/>
          <p:nvPr/>
        </p:nvSpPr>
        <p:spPr>
          <a:xfrm>
            <a:off x="300038" y="3485787"/>
            <a:ext cx="8543925" cy="250031"/>
          </a:xfrm>
          <a:prstGeom prst="rect">
            <a:avLst/>
          </a:prstGeom>
          <a:noFill/>
          <a:ln/>
        </p:spPr>
        <p:txBody>
          <a:bodyPr wrap="square" lIns="85090" tIns="59563" rIns="8509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Linkability focus:</a:t>
            </a:r>
            <a:r>
              <a:rPr lang="en-US" sz="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order header bridges customer identity, merchant identity, delivery address, recipient contact, and payment references, making it a useful cross-domain test case for PII lineage and joins.</a:t>
            </a:r>
            <a:endParaRPr lang="en-US" sz="500" dirty="0"/>
          </a:p>
        </p:txBody>
      </p:sp>
      <p:sp>
        <p:nvSpPr>
          <p:cNvPr id="177" name="Text 174"/>
          <p:cNvSpPr/>
          <p:nvPr/>
        </p:nvSpPr>
        <p:spPr>
          <a:xfrm>
            <a:off x="300038" y="3800112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78" name="Text 175"/>
          <p:cNvSpPr/>
          <p:nvPr/>
        </p:nvSpPr>
        <p:spPr>
          <a:xfrm>
            <a:off x="7688461" y="3800112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6A34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E-COMMERCE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merchant_seller_registry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343900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Marketplace merchant and seller registry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Seller onboarding and compliance table for marketplace merchants, including business registration, tax, contact, and payout identifiers. 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Granularity: one row per seller, merchant, or marketplace storefront.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653653" cy="164306"/>
          </a:xfrm>
          <a:prstGeom prst="rect">
            <a:avLst/>
          </a:prstGeom>
          <a:solidFill>
            <a:srgbClr val="DCFCE7"/>
          </a:solidFill>
          <a:ln w="9144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653653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16A34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E-commerce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1010841" y="1009724"/>
            <a:ext cx="576858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0841" y="1009724"/>
            <a:ext cx="57685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11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644848" y="1009724"/>
            <a:ext cx="325041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44848" y="1009724"/>
            <a:ext cx="32504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9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2027039" y="1009724"/>
            <a:ext cx="508992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27039" y="1009724"/>
            <a:ext cx="508992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0471"/>
            <a:ext cx="1280517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0471"/>
            <a:ext cx="1280517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0471"/>
            <a:ext cx="1109765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0471"/>
            <a:ext cx="1109765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0471"/>
            <a:ext cx="426839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0471"/>
            <a:ext cx="426839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0471"/>
            <a:ext cx="426839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0471"/>
            <a:ext cx="426839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0471"/>
            <a:ext cx="2134195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0471"/>
            <a:ext cx="2134195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0471"/>
            <a:ext cx="3158626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0471"/>
            <a:ext cx="3158626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393896"/>
            <a:ext cx="1280517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22471"/>
            <a:ext cx="3866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merchant_id</a:t>
            </a:r>
            <a:endParaRPr lang="en-US" sz="400" dirty="0"/>
          </a:p>
        </p:txBody>
      </p:sp>
      <p:sp>
        <p:nvSpPr>
          <p:cNvPr id="28" name="Shape 25"/>
          <p:cNvSpPr/>
          <p:nvPr/>
        </p:nvSpPr>
        <p:spPr>
          <a:xfrm>
            <a:off x="1584127" y="1393896"/>
            <a:ext cx="1109765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13542"/>
            <a:ext cx="155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30" name="Text 27"/>
          <p:cNvSpPr/>
          <p:nvPr/>
        </p:nvSpPr>
        <p:spPr>
          <a:xfrm>
            <a:off x="1626989" y="1490393"/>
            <a:ext cx="3866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31" name="Shape 28"/>
          <p:cNvSpPr/>
          <p:nvPr/>
        </p:nvSpPr>
        <p:spPr>
          <a:xfrm>
            <a:off x="2693891" y="1393896"/>
            <a:ext cx="426839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393896"/>
            <a:ext cx="426839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33" name="Shape 30"/>
          <p:cNvSpPr/>
          <p:nvPr/>
        </p:nvSpPr>
        <p:spPr>
          <a:xfrm>
            <a:off x="3120730" y="1393896"/>
            <a:ext cx="426839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393896"/>
            <a:ext cx="426839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00" dirty="0"/>
          </a:p>
        </p:txBody>
      </p:sp>
      <p:sp>
        <p:nvSpPr>
          <p:cNvPr id="35" name="Shape 32"/>
          <p:cNvSpPr/>
          <p:nvPr/>
        </p:nvSpPr>
        <p:spPr>
          <a:xfrm>
            <a:off x="3547570" y="1393896"/>
            <a:ext cx="2134195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15328"/>
            <a:ext cx="119658" cy="7392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15328"/>
            <a:ext cx="119658" cy="7392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38" name="Text 35"/>
          <p:cNvSpPr/>
          <p:nvPr/>
        </p:nvSpPr>
        <p:spPr>
          <a:xfrm>
            <a:off x="3747595" y="1413542"/>
            <a:ext cx="43219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MERCHANT_ID</a:t>
            </a:r>
            <a:endParaRPr lang="en-US" sz="400" dirty="0"/>
          </a:p>
        </p:txBody>
      </p:sp>
      <p:sp>
        <p:nvSpPr>
          <p:cNvPr id="39" name="Text 36"/>
          <p:cNvSpPr/>
          <p:nvPr/>
        </p:nvSpPr>
        <p:spPr>
          <a:xfrm>
            <a:off x="4195865" y="1413542"/>
            <a:ext cx="27860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40" name="Shape 37"/>
          <p:cNvSpPr/>
          <p:nvPr/>
        </p:nvSpPr>
        <p:spPr>
          <a:xfrm>
            <a:off x="5681765" y="1393896"/>
            <a:ext cx="3158626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81765" y="1393896"/>
            <a:ext cx="3158626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marketplace merchant identifier.</a:t>
            </a:r>
            <a:endParaRPr lang="en-US" sz="400" dirty="0"/>
          </a:p>
        </p:txBody>
      </p:sp>
      <p:sp>
        <p:nvSpPr>
          <p:cNvPr id="42" name="Shape 39"/>
          <p:cNvSpPr/>
          <p:nvPr/>
        </p:nvSpPr>
        <p:spPr>
          <a:xfrm>
            <a:off x="303609" y="1579745"/>
            <a:ext cx="1280517" cy="19299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6472" y="1608320"/>
            <a:ext cx="527270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storefront_name</a:t>
            </a:r>
            <a:endParaRPr lang="en-US" sz="400" dirty="0"/>
          </a:p>
        </p:txBody>
      </p:sp>
      <p:sp>
        <p:nvSpPr>
          <p:cNvPr id="44" name="Shape 41"/>
          <p:cNvSpPr/>
          <p:nvPr/>
        </p:nvSpPr>
        <p:spPr>
          <a:xfrm>
            <a:off x="1584127" y="1579745"/>
            <a:ext cx="1109765" cy="19299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26989" y="1595819"/>
            <a:ext cx="155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46" name="Text 43"/>
          <p:cNvSpPr/>
          <p:nvPr/>
        </p:nvSpPr>
        <p:spPr>
          <a:xfrm>
            <a:off x="1626989" y="1672670"/>
            <a:ext cx="456949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NVARCHAR(160)</a:t>
            </a:r>
            <a:endParaRPr lang="en-US" sz="400" dirty="0"/>
          </a:p>
        </p:txBody>
      </p:sp>
      <p:sp>
        <p:nvSpPr>
          <p:cNvPr id="47" name="Shape 44"/>
          <p:cNvSpPr/>
          <p:nvPr/>
        </p:nvSpPr>
        <p:spPr>
          <a:xfrm>
            <a:off x="2693891" y="1576174"/>
            <a:ext cx="426839" cy="18942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693891" y="1576174"/>
            <a:ext cx="426839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49" name="Shape 46"/>
          <p:cNvSpPr/>
          <p:nvPr/>
        </p:nvSpPr>
        <p:spPr>
          <a:xfrm>
            <a:off x="3547570" y="1576174"/>
            <a:ext cx="2134195" cy="18942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594004" y="1597605"/>
            <a:ext cx="262533" cy="73921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1" name="Text 48"/>
          <p:cNvSpPr/>
          <p:nvPr/>
        </p:nvSpPr>
        <p:spPr>
          <a:xfrm>
            <a:off x="3594004" y="1597605"/>
            <a:ext cx="262533" cy="7392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52" name="Shape 49"/>
          <p:cNvSpPr/>
          <p:nvPr/>
        </p:nvSpPr>
        <p:spPr>
          <a:xfrm>
            <a:off x="5681765" y="1576174"/>
            <a:ext cx="3158626" cy="18942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81765" y="1576174"/>
            <a:ext cx="3158626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storefront or seller display name.</a:t>
            </a:r>
            <a:endParaRPr lang="en-US" sz="400" dirty="0"/>
          </a:p>
        </p:txBody>
      </p:sp>
      <p:sp>
        <p:nvSpPr>
          <p:cNvPr id="54" name="Shape 51"/>
          <p:cNvSpPr/>
          <p:nvPr/>
        </p:nvSpPr>
        <p:spPr>
          <a:xfrm>
            <a:off x="303609" y="1765595"/>
            <a:ext cx="1280517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46472" y="1794170"/>
            <a:ext cx="667857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legal_business_name</a:t>
            </a:r>
            <a:endParaRPr lang="en-US" sz="400" dirty="0"/>
          </a:p>
        </p:txBody>
      </p:sp>
      <p:sp>
        <p:nvSpPr>
          <p:cNvPr id="56" name="Shape 53"/>
          <p:cNvSpPr/>
          <p:nvPr/>
        </p:nvSpPr>
        <p:spPr>
          <a:xfrm>
            <a:off x="1584127" y="1765595"/>
            <a:ext cx="1109765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626989" y="1781668"/>
            <a:ext cx="155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58" name="Text 55"/>
          <p:cNvSpPr/>
          <p:nvPr/>
        </p:nvSpPr>
        <p:spPr>
          <a:xfrm>
            <a:off x="1626989" y="1858519"/>
            <a:ext cx="456949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NVARCHAR(200)</a:t>
            </a:r>
            <a:endParaRPr lang="en-US" sz="400" dirty="0"/>
          </a:p>
        </p:txBody>
      </p:sp>
      <p:sp>
        <p:nvSpPr>
          <p:cNvPr id="59" name="Shape 56"/>
          <p:cNvSpPr/>
          <p:nvPr/>
        </p:nvSpPr>
        <p:spPr>
          <a:xfrm>
            <a:off x="2693891" y="1762023"/>
            <a:ext cx="426839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693891" y="1762023"/>
            <a:ext cx="426839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61" name="Shape 58"/>
          <p:cNvSpPr/>
          <p:nvPr/>
        </p:nvSpPr>
        <p:spPr>
          <a:xfrm>
            <a:off x="3547570" y="1762023"/>
            <a:ext cx="2134195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594004" y="1783454"/>
            <a:ext cx="119658" cy="7392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3" name="Text 60"/>
          <p:cNvSpPr/>
          <p:nvPr/>
        </p:nvSpPr>
        <p:spPr>
          <a:xfrm>
            <a:off x="3594004" y="1783454"/>
            <a:ext cx="119658" cy="7392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4" name="Text 61"/>
          <p:cNvSpPr/>
          <p:nvPr/>
        </p:nvSpPr>
        <p:spPr>
          <a:xfrm>
            <a:off x="3751166" y="1781668"/>
            <a:ext cx="667941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ORGANIZATION_NAME</a:t>
            </a:r>
            <a:endParaRPr lang="en-US" sz="400" dirty="0"/>
          </a:p>
        </p:txBody>
      </p:sp>
      <p:sp>
        <p:nvSpPr>
          <p:cNvPr id="65" name="Text 62"/>
          <p:cNvSpPr/>
          <p:nvPr/>
        </p:nvSpPr>
        <p:spPr>
          <a:xfrm>
            <a:off x="4435180" y="1781668"/>
            <a:ext cx="27860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66" name="Shape 63"/>
          <p:cNvSpPr/>
          <p:nvPr/>
        </p:nvSpPr>
        <p:spPr>
          <a:xfrm>
            <a:off x="5681765" y="1762023"/>
            <a:ext cx="3158626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681765" y="1762023"/>
            <a:ext cx="3158626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business name for the seller or registered merchant entity.</a:t>
            </a:r>
            <a:endParaRPr lang="en-US" sz="400" dirty="0"/>
          </a:p>
        </p:txBody>
      </p:sp>
      <p:sp>
        <p:nvSpPr>
          <p:cNvPr id="68" name="Shape 65"/>
          <p:cNvSpPr/>
          <p:nvPr/>
        </p:nvSpPr>
        <p:spPr>
          <a:xfrm>
            <a:off x="303609" y="1951444"/>
            <a:ext cx="1280517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46472" y="1980019"/>
            <a:ext cx="527270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owner_full_name</a:t>
            </a:r>
            <a:endParaRPr lang="en-US" sz="400" dirty="0"/>
          </a:p>
        </p:txBody>
      </p:sp>
      <p:sp>
        <p:nvSpPr>
          <p:cNvPr id="70" name="Shape 67"/>
          <p:cNvSpPr/>
          <p:nvPr/>
        </p:nvSpPr>
        <p:spPr>
          <a:xfrm>
            <a:off x="1584127" y="1951444"/>
            <a:ext cx="1109765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626989" y="1967517"/>
            <a:ext cx="155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72" name="Text 69"/>
          <p:cNvSpPr/>
          <p:nvPr/>
        </p:nvSpPr>
        <p:spPr>
          <a:xfrm>
            <a:off x="1626989" y="2044368"/>
            <a:ext cx="456949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NVARCHAR(160)</a:t>
            </a:r>
            <a:endParaRPr lang="en-US" sz="400" dirty="0"/>
          </a:p>
        </p:txBody>
      </p:sp>
      <p:sp>
        <p:nvSpPr>
          <p:cNvPr id="73" name="Shape 70"/>
          <p:cNvSpPr/>
          <p:nvPr/>
        </p:nvSpPr>
        <p:spPr>
          <a:xfrm>
            <a:off x="2693891" y="1947872"/>
            <a:ext cx="426839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693891" y="1947872"/>
            <a:ext cx="426839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75" name="Shape 72"/>
          <p:cNvSpPr/>
          <p:nvPr/>
        </p:nvSpPr>
        <p:spPr>
          <a:xfrm>
            <a:off x="3547570" y="1947872"/>
            <a:ext cx="2134195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594004" y="1969303"/>
            <a:ext cx="119658" cy="7392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7" name="Text 74"/>
          <p:cNvSpPr/>
          <p:nvPr/>
        </p:nvSpPr>
        <p:spPr>
          <a:xfrm>
            <a:off x="3594004" y="1969303"/>
            <a:ext cx="119658" cy="7392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78" name="Text 75"/>
          <p:cNvSpPr/>
          <p:nvPr/>
        </p:nvSpPr>
        <p:spPr>
          <a:xfrm>
            <a:off x="3751166" y="1967517"/>
            <a:ext cx="24110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PERSON</a:t>
            </a:r>
            <a:endParaRPr lang="en-US" sz="400" dirty="0"/>
          </a:p>
        </p:txBody>
      </p:sp>
      <p:sp>
        <p:nvSpPr>
          <p:cNvPr id="79" name="Text 76"/>
          <p:cNvSpPr/>
          <p:nvPr/>
        </p:nvSpPr>
        <p:spPr>
          <a:xfrm>
            <a:off x="4008341" y="1967517"/>
            <a:ext cx="12501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80" name="Shape 77"/>
          <p:cNvSpPr/>
          <p:nvPr/>
        </p:nvSpPr>
        <p:spPr>
          <a:xfrm>
            <a:off x="5681765" y="1947872"/>
            <a:ext cx="3158626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681765" y="1947872"/>
            <a:ext cx="3158626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person who owns or legally represents the seller account.</a:t>
            </a:r>
            <a:endParaRPr lang="en-US" sz="400" dirty="0"/>
          </a:p>
        </p:txBody>
      </p:sp>
      <p:sp>
        <p:nvSpPr>
          <p:cNvPr id="82" name="Shape 79"/>
          <p:cNvSpPr/>
          <p:nvPr/>
        </p:nvSpPr>
        <p:spPr>
          <a:xfrm>
            <a:off x="303609" y="2137293"/>
            <a:ext cx="1280517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46472" y="2165868"/>
            <a:ext cx="59756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owner_national_id</a:t>
            </a:r>
            <a:endParaRPr lang="en-US" sz="400" dirty="0"/>
          </a:p>
        </p:txBody>
      </p:sp>
      <p:sp>
        <p:nvSpPr>
          <p:cNvPr id="84" name="Shape 81"/>
          <p:cNvSpPr/>
          <p:nvPr/>
        </p:nvSpPr>
        <p:spPr>
          <a:xfrm>
            <a:off x="1584127" y="2137293"/>
            <a:ext cx="1109765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626989" y="2153366"/>
            <a:ext cx="155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86" name="Text 83"/>
          <p:cNvSpPr/>
          <p:nvPr/>
        </p:nvSpPr>
        <p:spPr>
          <a:xfrm>
            <a:off x="1626989" y="2230217"/>
            <a:ext cx="281201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CHAR(14)</a:t>
            </a:r>
            <a:endParaRPr lang="en-US" sz="400" dirty="0"/>
          </a:p>
        </p:txBody>
      </p:sp>
      <p:sp>
        <p:nvSpPr>
          <p:cNvPr id="87" name="Shape 84"/>
          <p:cNvSpPr/>
          <p:nvPr/>
        </p:nvSpPr>
        <p:spPr>
          <a:xfrm>
            <a:off x="2693891" y="2133721"/>
            <a:ext cx="426839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693891" y="2133721"/>
            <a:ext cx="426839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89" name="Shape 86"/>
          <p:cNvSpPr/>
          <p:nvPr/>
        </p:nvSpPr>
        <p:spPr>
          <a:xfrm>
            <a:off x="3547570" y="2133721"/>
            <a:ext cx="2134195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94004" y="2155152"/>
            <a:ext cx="119658" cy="7392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1" name="Text 88"/>
          <p:cNvSpPr/>
          <p:nvPr/>
        </p:nvSpPr>
        <p:spPr>
          <a:xfrm>
            <a:off x="3594004" y="2155152"/>
            <a:ext cx="119658" cy="7392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2" name="Text 89"/>
          <p:cNvSpPr/>
          <p:nvPr/>
        </p:nvSpPr>
        <p:spPr>
          <a:xfrm>
            <a:off x="3751166" y="2153366"/>
            <a:ext cx="50720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EG_NATIONAL_ID</a:t>
            </a:r>
            <a:endParaRPr lang="en-US" sz="400" dirty="0"/>
          </a:p>
        </p:txBody>
      </p:sp>
      <p:sp>
        <p:nvSpPr>
          <p:cNvPr id="93" name="Text 90"/>
          <p:cNvSpPr/>
          <p:nvPr/>
        </p:nvSpPr>
        <p:spPr>
          <a:xfrm>
            <a:off x="4274446" y="2153366"/>
            <a:ext cx="19466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94" name="Shape 91"/>
          <p:cNvSpPr/>
          <p:nvPr/>
        </p:nvSpPr>
        <p:spPr>
          <a:xfrm>
            <a:off x="5681765" y="2133721"/>
            <a:ext cx="3158626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681765" y="2133721"/>
            <a:ext cx="3158626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Egyptian National ID for the business owner or authorized representative.</a:t>
            </a:r>
            <a:endParaRPr lang="en-US" sz="400" dirty="0"/>
          </a:p>
        </p:txBody>
      </p:sp>
      <p:sp>
        <p:nvSpPr>
          <p:cNvPr id="96" name="Shape 93"/>
          <p:cNvSpPr/>
          <p:nvPr/>
        </p:nvSpPr>
        <p:spPr>
          <a:xfrm>
            <a:off x="303609" y="2323142"/>
            <a:ext cx="1280517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46472" y="2351717"/>
            <a:ext cx="80844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tax_registration_number</a:t>
            </a:r>
            <a:endParaRPr lang="en-US" sz="400" dirty="0"/>
          </a:p>
        </p:txBody>
      </p:sp>
      <p:sp>
        <p:nvSpPr>
          <p:cNvPr id="98" name="Shape 95"/>
          <p:cNvSpPr/>
          <p:nvPr/>
        </p:nvSpPr>
        <p:spPr>
          <a:xfrm>
            <a:off x="1584127" y="2323142"/>
            <a:ext cx="1109765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626989" y="2339215"/>
            <a:ext cx="155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00" name="Text 97"/>
          <p:cNvSpPr/>
          <p:nvPr/>
        </p:nvSpPr>
        <p:spPr>
          <a:xfrm>
            <a:off x="1626989" y="2416066"/>
            <a:ext cx="3866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00" dirty="0"/>
          </a:p>
        </p:txBody>
      </p:sp>
      <p:sp>
        <p:nvSpPr>
          <p:cNvPr id="101" name="Shape 98"/>
          <p:cNvSpPr/>
          <p:nvPr/>
        </p:nvSpPr>
        <p:spPr>
          <a:xfrm>
            <a:off x="2693891" y="2319570"/>
            <a:ext cx="426839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693891" y="2319570"/>
            <a:ext cx="426839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03" name="Shape 100"/>
          <p:cNvSpPr/>
          <p:nvPr/>
        </p:nvSpPr>
        <p:spPr>
          <a:xfrm>
            <a:off x="3547570" y="2319570"/>
            <a:ext cx="2134195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594004" y="2341001"/>
            <a:ext cx="119658" cy="7392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5" name="Text 102"/>
          <p:cNvSpPr/>
          <p:nvPr/>
        </p:nvSpPr>
        <p:spPr>
          <a:xfrm>
            <a:off x="3594004" y="2341001"/>
            <a:ext cx="119658" cy="7392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6" name="Text 103"/>
          <p:cNvSpPr/>
          <p:nvPr/>
        </p:nvSpPr>
        <p:spPr>
          <a:xfrm>
            <a:off x="3751166" y="2339215"/>
            <a:ext cx="98583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EG_TAX_REGISTRATION_NUMBER</a:t>
            </a:r>
            <a:endParaRPr lang="en-US" sz="400" dirty="0"/>
          </a:p>
        </p:txBody>
      </p:sp>
      <p:sp>
        <p:nvSpPr>
          <p:cNvPr id="107" name="Text 104"/>
          <p:cNvSpPr/>
          <p:nvPr/>
        </p:nvSpPr>
        <p:spPr>
          <a:xfrm>
            <a:off x="4753077" y="2339215"/>
            <a:ext cx="27860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08" name="Shape 105"/>
          <p:cNvSpPr/>
          <p:nvPr/>
        </p:nvSpPr>
        <p:spPr>
          <a:xfrm>
            <a:off x="5681765" y="2319570"/>
            <a:ext cx="3158626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681765" y="2319570"/>
            <a:ext cx="3158626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Egyptian tax registration number captured during seller onboarding.</a:t>
            </a:r>
            <a:endParaRPr lang="en-US" sz="400" dirty="0"/>
          </a:p>
        </p:txBody>
      </p:sp>
      <p:sp>
        <p:nvSpPr>
          <p:cNvPr id="110" name="Shape 107"/>
          <p:cNvSpPr/>
          <p:nvPr/>
        </p:nvSpPr>
        <p:spPr>
          <a:xfrm>
            <a:off x="303609" y="2508991"/>
            <a:ext cx="1280517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346472" y="2537566"/>
            <a:ext cx="913898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commercial_registry_number</a:t>
            </a:r>
            <a:endParaRPr lang="en-US" sz="400" dirty="0"/>
          </a:p>
        </p:txBody>
      </p:sp>
      <p:sp>
        <p:nvSpPr>
          <p:cNvPr id="112" name="Shape 109"/>
          <p:cNvSpPr/>
          <p:nvPr/>
        </p:nvSpPr>
        <p:spPr>
          <a:xfrm>
            <a:off x="1584127" y="2508991"/>
            <a:ext cx="1109765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626989" y="2525064"/>
            <a:ext cx="155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14" name="Text 111"/>
          <p:cNvSpPr/>
          <p:nvPr/>
        </p:nvSpPr>
        <p:spPr>
          <a:xfrm>
            <a:off x="1626989" y="2601916"/>
            <a:ext cx="3866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00" dirty="0"/>
          </a:p>
        </p:txBody>
      </p:sp>
      <p:sp>
        <p:nvSpPr>
          <p:cNvPr id="115" name="Shape 112"/>
          <p:cNvSpPr/>
          <p:nvPr/>
        </p:nvSpPr>
        <p:spPr>
          <a:xfrm>
            <a:off x="2693891" y="2505419"/>
            <a:ext cx="426839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2693891" y="2505419"/>
            <a:ext cx="426839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17" name="Shape 114"/>
          <p:cNvSpPr/>
          <p:nvPr/>
        </p:nvSpPr>
        <p:spPr>
          <a:xfrm>
            <a:off x="3547570" y="2505419"/>
            <a:ext cx="2134195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594004" y="2526850"/>
            <a:ext cx="119658" cy="7392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9" name="Text 116"/>
          <p:cNvSpPr/>
          <p:nvPr/>
        </p:nvSpPr>
        <p:spPr>
          <a:xfrm>
            <a:off x="3594004" y="2526850"/>
            <a:ext cx="119658" cy="7392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0" name="Text 117"/>
          <p:cNvSpPr/>
          <p:nvPr/>
        </p:nvSpPr>
        <p:spPr>
          <a:xfrm>
            <a:off x="3751166" y="2525064"/>
            <a:ext cx="113228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EG_COMMERCIAL_REGISTRY_NUMBER</a:t>
            </a:r>
            <a:endParaRPr lang="en-US" sz="400" dirty="0"/>
          </a:p>
        </p:txBody>
      </p:sp>
      <p:sp>
        <p:nvSpPr>
          <p:cNvPr id="121" name="Text 118"/>
          <p:cNvSpPr/>
          <p:nvPr/>
        </p:nvSpPr>
        <p:spPr>
          <a:xfrm>
            <a:off x="4899524" y="2525064"/>
            <a:ext cx="27860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22" name="Shape 119"/>
          <p:cNvSpPr/>
          <p:nvPr/>
        </p:nvSpPr>
        <p:spPr>
          <a:xfrm>
            <a:off x="5681765" y="2505419"/>
            <a:ext cx="3158626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5681765" y="2505419"/>
            <a:ext cx="3158626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Egyptian commercial registry number for the merchant business.</a:t>
            </a:r>
            <a:endParaRPr lang="en-US" sz="400" dirty="0"/>
          </a:p>
        </p:txBody>
      </p:sp>
      <p:sp>
        <p:nvSpPr>
          <p:cNvPr id="124" name="Shape 121"/>
          <p:cNvSpPr/>
          <p:nvPr/>
        </p:nvSpPr>
        <p:spPr>
          <a:xfrm>
            <a:off x="303609" y="2694840"/>
            <a:ext cx="1280517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46472" y="2723415"/>
            <a:ext cx="456949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seller_mobile</a:t>
            </a:r>
            <a:endParaRPr lang="en-US" sz="400" dirty="0"/>
          </a:p>
        </p:txBody>
      </p:sp>
      <p:sp>
        <p:nvSpPr>
          <p:cNvPr id="126" name="Shape 123"/>
          <p:cNvSpPr/>
          <p:nvPr/>
        </p:nvSpPr>
        <p:spPr>
          <a:xfrm>
            <a:off x="1584127" y="2694840"/>
            <a:ext cx="1109765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1626989" y="2710914"/>
            <a:ext cx="155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28" name="Text 125"/>
          <p:cNvSpPr/>
          <p:nvPr/>
        </p:nvSpPr>
        <p:spPr>
          <a:xfrm>
            <a:off x="1626989" y="2787765"/>
            <a:ext cx="3866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00" dirty="0"/>
          </a:p>
        </p:txBody>
      </p:sp>
      <p:sp>
        <p:nvSpPr>
          <p:cNvPr id="129" name="Shape 126"/>
          <p:cNvSpPr/>
          <p:nvPr/>
        </p:nvSpPr>
        <p:spPr>
          <a:xfrm>
            <a:off x="2693891" y="2691268"/>
            <a:ext cx="426839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2693891" y="2691268"/>
            <a:ext cx="426839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31" name="Shape 128"/>
          <p:cNvSpPr/>
          <p:nvPr/>
        </p:nvSpPr>
        <p:spPr>
          <a:xfrm>
            <a:off x="3547570" y="2691268"/>
            <a:ext cx="2134195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3594004" y="2712700"/>
            <a:ext cx="119658" cy="7392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3" name="Text 130"/>
          <p:cNvSpPr/>
          <p:nvPr/>
        </p:nvSpPr>
        <p:spPr>
          <a:xfrm>
            <a:off x="3594004" y="2712700"/>
            <a:ext cx="119658" cy="7392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4" name="Text 131"/>
          <p:cNvSpPr/>
          <p:nvPr/>
        </p:nvSpPr>
        <p:spPr>
          <a:xfrm>
            <a:off x="3751166" y="2710914"/>
            <a:ext cx="56257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EGYPTIAN_MOBILE</a:t>
            </a:r>
            <a:endParaRPr lang="en-US" sz="400" dirty="0"/>
          </a:p>
        </p:txBody>
      </p:sp>
      <p:sp>
        <p:nvSpPr>
          <p:cNvPr id="135" name="Text 132"/>
          <p:cNvSpPr/>
          <p:nvPr/>
        </p:nvSpPr>
        <p:spPr>
          <a:xfrm>
            <a:off x="4329810" y="2710914"/>
            <a:ext cx="12501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36" name="Shape 133"/>
          <p:cNvSpPr/>
          <p:nvPr/>
        </p:nvSpPr>
        <p:spPr>
          <a:xfrm>
            <a:off x="5681765" y="2691268"/>
            <a:ext cx="3158626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5681765" y="2691268"/>
            <a:ext cx="3158626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Egyptian mobile number for seller operations, OTP, or support.</a:t>
            </a:r>
            <a:endParaRPr lang="en-US" sz="400" dirty="0"/>
          </a:p>
        </p:txBody>
      </p:sp>
      <p:sp>
        <p:nvSpPr>
          <p:cNvPr id="138" name="Shape 135"/>
          <p:cNvSpPr/>
          <p:nvPr/>
        </p:nvSpPr>
        <p:spPr>
          <a:xfrm>
            <a:off x="303609" y="2880689"/>
            <a:ext cx="1280517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46472" y="2909264"/>
            <a:ext cx="421816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seller_email</a:t>
            </a:r>
            <a:endParaRPr lang="en-US" sz="400" dirty="0"/>
          </a:p>
        </p:txBody>
      </p:sp>
      <p:sp>
        <p:nvSpPr>
          <p:cNvPr id="140" name="Shape 137"/>
          <p:cNvSpPr/>
          <p:nvPr/>
        </p:nvSpPr>
        <p:spPr>
          <a:xfrm>
            <a:off x="1584127" y="2880689"/>
            <a:ext cx="1109765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626989" y="2896763"/>
            <a:ext cx="155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42" name="Text 139"/>
          <p:cNvSpPr/>
          <p:nvPr/>
        </p:nvSpPr>
        <p:spPr>
          <a:xfrm>
            <a:off x="1626989" y="2973614"/>
            <a:ext cx="421816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VARCHAR(254)</a:t>
            </a:r>
            <a:endParaRPr lang="en-US" sz="400" dirty="0"/>
          </a:p>
        </p:txBody>
      </p:sp>
      <p:sp>
        <p:nvSpPr>
          <p:cNvPr id="143" name="Shape 140"/>
          <p:cNvSpPr/>
          <p:nvPr/>
        </p:nvSpPr>
        <p:spPr>
          <a:xfrm>
            <a:off x="2693891" y="2877117"/>
            <a:ext cx="426839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2693891" y="2877117"/>
            <a:ext cx="426839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45" name="Shape 142"/>
          <p:cNvSpPr/>
          <p:nvPr/>
        </p:nvSpPr>
        <p:spPr>
          <a:xfrm>
            <a:off x="3547570" y="2877117"/>
            <a:ext cx="2134195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3594004" y="2898549"/>
            <a:ext cx="119658" cy="7392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7" name="Text 144"/>
          <p:cNvSpPr/>
          <p:nvPr/>
        </p:nvSpPr>
        <p:spPr>
          <a:xfrm>
            <a:off x="3594004" y="2898549"/>
            <a:ext cx="119658" cy="7392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48" name="Text 145"/>
          <p:cNvSpPr/>
          <p:nvPr/>
        </p:nvSpPr>
        <p:spPr>
          <a:xfrm>
            <a:off x="3751166" y="2896763"/>
            <a:ext cx="4982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EMAIL_ADDRESS</a:t>
            </a:r>
            <a:endParaRPr lang="en-US" sz="400" dirty="0"/>
          </a:p>
        </p:txBody>
      </p:sp>
      <p:sp>
        <p:nvSpPr>
          <p:cNvPr id="149" name="Text 146"/>
          <p:cNvSpPr/>
          <p:nvPr/>
        </p:nvSpPr>
        <p:spPr>
          <a:xfrm>
            <a:off x="4265516" y="2896763"/>
            <a:ext cx="12501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50" name="Shape 147"/>
          <p:cNvSpPr/>
          <p:nvPr/>
        </p:nvSpPr>
        <p:spPr>
          <a:xfrm>
            <a:off x="5681765" y="2877117"/>
            <a:ext cx="3158626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5681765" y="2877117"/>
            <a:ext cx="3158626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email used for onboarding, support, notifications, and account recovery.</a:t>
            </a:r>
            <a:endParaRPr lang="en-US" sz="400" dirty="0"/>
          </a:p>
        </p:txBody>
      </p:sp>
      <p:sp>
        <p:nvSpPr>
          <p:cNvPr id="152" name="Shape 149"/>
          <p:cNvSpPr/>
          <p:nvPr/>
        </p:nvSpPr>
        <p:spPr>
          <a:xfrm>
            <a:off x="303609" y="3066538"/>
            <a:ext cx="1280517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46472" y="3095113"/>
            <a:ext cx="3866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payout_iban</a:t>
            </a:r>
            <a:endParaRPr lang="en-US" sz="400" dirty="0"/>
          </a:p>
        </p:txBody>
      </p:sp>
      <p:sp>
        <p:nvSpPr>
          <p:cNvPr id="154" name="Shape 151"/>
          <p:cNvSpPr/>
          <p:nvPr/>
        </p:nvSpPr>
        <p:spPr>
          <a:xfrm>
            <a:off x="1584127" y="3066538"/>
            <a:ext cx="1109765" cy="19299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626989" y="3082612"/>
            <a:ext cx="155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56" name="Text 153"/>
          <p:cNvSpPr/>
          <p:nvPr/>
        </p:nvSpPr>
        <p:spPr>
          <a:xfrm>
            <a:off x="1626989" y="3159463"/>
            <a:ext cx="3866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VARCHAR(34)</a:t>
            </a:r>
            <a:endParaRPr lang="en-US" sz="400" dirty="0"/>
          </a:p>
        </p:txBody>
      </p:sp>
      <p:sp>
        <p:nvSpPr>
          <p:cNvPr id="157" name="Shape 154"/>
          <p:cNvSpPr/>
          <p:nvPr/>
        </p:nvSpPr>
        <p:spPr>
          <a:xfrm>
            <a:off x="2693891" y="3062967"/>
            <a:ext cx="426839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2693891" y="3062967"/>
            <a:ext cx="426839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59" name="Shape 156"/>
          <p:cNvSpPr/>
          <p:nvPr/>
        </p:nvSpPr>
        <p:spPr>
          <a:xfrm>
            <a:off x="3547570" y="3062967"/>
            <a:ext cx="2134195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3594004" y="3084398"/>
            <a:ext cx="119658" cy="7392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1" name="Text 158"/>
          <p:cNvSpPr/>
          <p:nvPr/>
        </p:nvSpPr>
        <p:spPr>
          <a:xfrm>
            <a:off x="3594004" y="3084398"/>
            <a:ext cx="119658" cy="7392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62" name="Text 159"/>
          <p:cNvSpPr/>
          <p:nvPr/>
        </p:nvSpPr>
        <p:spPr>
          <a:xfrm>
            <a:off x="3751166" y="3082612"/>
            <a:ext cx="33932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IBAN_CODE</a:t>
            </a:r>
            <a:endParaRPr lang="en-US" sz="400" dirty="0"/>
          </a:p>
        </p:txBody>
      </p:sp>
      <p:sp>
        <p:nvSpPr>
          <p:cNvPr id="163" name="Text 160"/>
          <p:cNvSpPr/>
          <p:nvPr/>
        </p:nvSpPr>
        <p:spPr>
          <a:xfrm>
            <a:off x="4106568" y="3082612"/>
            <a:ext cx="19466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164" name="Shape 161"/>
          <p:cNvSpPr/>
          <p:nvPr/>
        </p:nvSpPr>
        <p:spPr>
          <a:xfrm>
            <a:off x="5681765" y="3062967"/>
            <a:ext cx="3158626" cy="189421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5681765" y="3062967"/>
            <a:ext cx="3158626" cy="18942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IBAN or bank payout destination used for merchant settlement.</a:t>
            </a:r>
            <a:endParaRPr lang="en-US" sz="400" dirty="0"/>
          </a:p>
        </p:txBody>
      </p:sp>
      <p:sp>
        <p:nvSpPr>
          <p:cNvPr id="166" name="Shape 163"/>
          <p:cNvSpPr/>
          <p:nvPr/>
        </p:nvSpPr>
        <p:spPr>
          <a:xfrm>
            <a:off x="303609" y="3252388"/>
            <a:ext cx="1280517" cy="19299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342900" y="3280963"/>
            <a:ext cx="456949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seller_status</a:t>
            </a:r>
            <a:endParaRPr lang="en-US" sz="400" dirty="0"/>
          </a:p>
        </p:txBody>
      </p:sp>
      <p:sp>
        <p:nvSpPr>
          <p:cNvPr id="168" name="Shape 165"/>
          <p:cNvSpPr/>
          <p:nvPr/>
        </p:nvSpPr>
        <p:spPr>
          <a:xfrm>
            <a:off x="1581085" y="3252388"/>
            <a:ext cx="1110239" cy="19299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623947" y="3268461"/>
            <a:ext cx="155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70" name="Text 167"/>
          <p:cNvSpPr/>
          <p:nvPr/>
        </p:nvSpPr>
        <p:spPr>
          <a:xfrm>
            <a:off x="1623947" y="3345312"/>
            <a:ext cx="38665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00" dirty="0"/>
          </a:p>
        </p:txBody>
      </p:sp>
      <p:sp>
        <p:nvSpPr>
          <p:cNvPr id="171" name="Shape 168"/>
          <p:cNvSpPr/>
          <p:nvPr/>
        </p:nvSpPr>
        <p:spPr>
          <a:xfrm>
            <a:off x="2691324" y="3248816"/>
            <a:ext cx="427006" cy="185849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2691324" y="3248816"/>
            <a:ext cx="427006" cy="18584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73" name="Shape 170"/>
          <p:cNvSpPr/>
          <p:nvPr/>
        </p:nvSpPr>
        <p:spPr>
          <a:xfrm>
            <a:off x="3545337" y="3248816"/>
            <a:ext cx="2135088" cy="185849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3591771" y="3270247"/>
            <a:ext cx="262533" cy="73921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5" name="Text 172"/>
          <p:cNvSpPr/>
          <p:nvPr/>
        </p:nvSpPr>
        <p:spPr>
          <a:xfrm>
            <a:off x="3591771" y="3270247"/>
            <a:ext cx="262533" cy="73921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76" name="Shape 173"/>
          <p:cNvSpPr/>
          <p:nvPr/>
        </p:nvSpPr>
        <p:spPr>
          <a:xfrm>
            <a:off x="5680425" y="3248816"/>
            <a:ext cx="3159965" cy="185849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5680425" y="3248816"/>
            <a:ext cx="3159965" cy="185849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seller status such as pending, active, suspended, or closed.</a:t>
            </a:r>
            <a:endParaRPr lang="en-US" sz="400" dirty="0"/>
          </a:p>
        </p:txBody>
      </p:sp>
      <p:sp>
        <p:nvSpPr>
          <p:cNvPr id="178" name="Shape 175"/>
          <p:cNvSpPr/>
          <p:nvPr/>
        </p:nvSpPr>
        <p:spPr>
          <a:xfrm>
            <a:off x="300038" y="3509674"/>
            <a:ext cx="8543925" cy="24288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79" name="Shape 176"/>
          <p:cNvSpPr/>
          <p:nvPr/>
        </p:nvSpPr>
        <p:spPr>
          <a:xfrm>
            <a:off x="300038" y="3509674"/>
            <a:ext cx="85439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0" name="Text 177"/>
          <p:cNvSpPr/>
          <p:nvPr/>
        </p:nvSpPr>
        <p:spPr>
          <a:xfrm>
            <a:off x="300038" y="3509674"/>
            <a:ext cx="8543925" cy="242888"/>
          </a:xfrm>
          <a:prstGeom prst="rect">
            <a:avLst/>
          </a:prstGeom>
          <a:noFill/>
          <a:ln/>
        </p:spPr>
        <p:txBody>
          <a:bodyPr wrap="square" lIns="85090" tIns="59563" rIns="8509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50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Scanner validation focus:</a:t>
            </a:r>
            <a:r>
              <a:rPr lang="en-US" sz="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marketplace seller records mix organization identifiers with natural-person owner data, Egyptian registration numbers, contact channels, and payout banking identifiers.</a:t>
            </a:r>
            <a:endParaRPr lang="en-US" sz="500" dirty="0"/>
          </a:p>
        </p:txBody>
      </p:sp>
      <p:sp>
        <p:nvSpPr>
          <p:cNvPr id="181" name="Text 178"/>
          <p:cNvSpPr/>
          <p:nvPr/>
        </p:nvSpPr>
        <p:spPr>
          <a:xfrm>
            <a:off x="300038" y="3816855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82" name="Text 179"/>
          <p:cNvSpPr/>
          <p:nvPr/>
        </p:nvSpPr>
        <p:spPr>
          <a:xfrm>
            <a:off x="7688461" y="3816855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EA580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FINTECH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fintech_mobile_wallet_account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343900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Egypt mobile wallet account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Mobile wallet account table for Egyptian fintech and wallet-provider use cases, including account, KYC, bank-linkage, mobile, device, and network 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identifiers. Granularity: one row per mobile wallet account.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448270" cy="164306"/>
          </a:xfrm>
          <a:prstGeom prst="rect">
            <a:avLst/>
          </a:prstGeom>
          <a:solidFill>
            <a:srgbClr val="FFEDD5"/>
          </a:solidFill>
          <a:ln w="9144">
            <a:solidFill>
              <a:srgbClr val="EA58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448270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EA580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Fintech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805458" y="1009724"/>
            <a:ext cx="576858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5458" y="1009724"/>
            <a:ext cx="57685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11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439466" y="1009724"/>
            <a:ext cx="360759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39466" y="1009724"/>
            <a:ext cx="360759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10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1857375" y="1009724"/>
            <a:ext cx="492919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57375" y="1009724"/>
            <a:ext cx="492919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0471"/>
            <a:ext cx="1280517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0471"/>
            <a:ext cx="1280517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0471"/>
            <a:ext cx="1109765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0471"/>
            <a:ext cx="1109765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0471"/>
            <a:ext cx="426839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0471"/>
            <a:ext cx="426839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0471"/>
            <a:ext cx="426839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0471"/>
            <a:ext cx="426839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0471"/>
            <a:ext cx="2134195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0471"/>
            <a:ext cx="2134195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0471"/>
            <a:ext cx="3158626" cy="13056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0471"/>
            <a:ext cx="3158626" cy="13056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393896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22471"/>
            <a:ext cx="57563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wallet_account_id</a:t>
            </a:r>
            <a:endParaRPr lang="en-US" sz="400" dirty="0"/>
          </a:p>
        </p:txBody>
      </p:sp>
      <p:sp>
        <p:nvSpPr>
          <p:cNvPr id="28" name="Shape 25"/>
          <p:cNvSpPr/>
          <p:nvPr/>
        </p:nvSpPr>
        <p:spPr>
          <a:xfrm>
            <a:off x="1584127" y="1393896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11756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30" name="Text 27"/>
          <p:cNvSpPr/>
          <p:nvPr/>
        </p:nvSpPr>
        <p:spPr>
          <a:xfrm>
            <a:off x="1626989" y="1487909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31" name="Shape 28"/>
          <p:cNvSpPr/>
          <p:nvPr/>
        </p:nvSpPr>
        <p:spPr>
          <a:xfrm>
            <a:off x="2693891" y="1393896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393896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33" name="Shape 30"/>
          <p:cNvSpPr/>
          <p:nvPr/>
        </p:nvSpPr>
        <p:spPr>
          <a:xfrm>
            <a:off x="3120730" y="1393896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393896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00" dirty="0"/>
          </a:p>
        </p:txBody>
      </p:sp>
      <p:sp>
        <p:nvSpPr>
          <p:cNvPr id="35" name="Shape 32"/>
          <p:cNvSpPr/>
          <p:nvPr/>
        </p:nvSpPr>
        <p:spPr>
          <a:xfrm>
            <a:off x="3547570" y="1393896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15328"/>
            <a:ext cx="119658" cy="7478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15328"/>
            <a:ext cx="119658" cy="7478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38" name="Text 35"/>
          <p:cNvSpPr/>
          <p:nvPr/>
        </p:nvSpPr>
        <p:spPr>
          <a:xfrm>
            <a:off x="3747595" y="1415328"/>
            <a:ext cx="59471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FINTECH_WALLET_ID</a:t>
            </a:r>
            <a:endParaRPr lang="en-US" sz="400" dirty="0"/>
          </a:p>
        </p:txBody>
      </p:sp>
      <p:sp>
        <p:nvSpPr>
          <p:cNvPr id="39" name="Text 36"/>
          <p:cNvSpPr/>
          <p:nvPr/>
        </p:nvSpPr>
        <p:spPr>
          <a:xfrm>
            <a:off x="4358385" y="1415328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40" name="Shape 37"/>
          <p:cNvSpPr/>
          <p:nvPr/>
        </p:nvSpPr>
        <p:spPr>
          <a:xfrm>
            <a:off x="5681765" y="1393896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81765" y="1393896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wallet account key used by the wallet provider.</a:t>
            </a:r>
            <a:endParaRPr lang="en-US" sz="400" dirty="0"/>
          </a:p>
        </p:txBody>
      </p:sp>
      <p:sp>
        <p:nvSpPr>
          <p:cNvPr id="42" name="Shape 39"/>
          <p:cNvSpPr/>
          <p:nvPr/>
        </p:nvSpPr>
        <p:spPr>
          <a:xfrm>
            <a:off x="303609" y="1574778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6472" y="1603353"/>
            <a:ext cx="44020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wallet_number</a:t>
            </a:r>
            <a:endParaRPr lang="en-US" sz="400" dirty="0"/>
          </a:p>
        </p:txBody>
      </p:sp>
      <p:sp>
        <p:nvSpPr>
          <p:cNvPr id="44" name="Shape 41"/>
          <p:cNvSpPr/>
          <p:nvPr/>
        </p:nvSpPr>
        <p:spPr>
          <a:xfrm>
            <a:off x="1584127" y="1574778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26989" y="1589066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46" name="Text 43"/>
          <p:cNvSpPr/>
          <p:nvPr/>
        </p:nvSpPr>
        <p:spPr>
          <a:xfrm>
            <a:off x="1626989" y="1665219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00" dirty="0"/>
          </a:p>
        </p:txBody>
      </p:sp>
      <p:sp>
        <p:nvSpPr>
          <p:cNvPr id="47" name="Shape 44"/>
          <p:cNvSpPr/>
          <p:nvPr/>
        </p:nvSpPr>
        <p:spPr>
          <a:xfrm>
            <a:off x="2693891" y="1571206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693891" y="1571206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49" name="Shape 46"/>
          <p:cNvSpPr/>
          <p:nvPr/>
        </p:nvSpPr>
        <p:spPr>
          <a:xfrm>
            <a:off x="3547570" y="1571206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594004" y="1592638"/>
            <a:ext cx="119658" cy="7478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1" name="Text 48"/>
          <p:cNvSpPr/>
          <p:nvPr/>
        </p:nvSpPr>
        <p:spPr>
          <a:xfrm>
            <a:off x="3594004" y="1592638"/>
            <a:ext cx="119658" cy="7478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2" name="Text 49"/>
          <p:cNvSpPr/>
          <p:nvPr/>
        </p:nvSpPr>
        <p:spPr>
          <a:xfrm>
            <a:off x="3751166" y="1592638"/>
            <a:ext cx="78402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FINTECH_WALLET_NUMBER</a:t>
            </a:r>
            <a:endParaRPr lang="en-US" sz="400" dirty="0"/>
          </a:p>
        </p:txBody>
      </p:sp>
      <p:sp>
        <p:nvSpPr>
          <p:cNvPr id="53" name="Text 50"/>
          <p:cNvSpPr/>
          <p:nvPr/>
        </p:nvSpPr>
        <p:spPr>
          <a:xfrm>
            <a:off x="4551266" y="1592638"/>
            <a:ext cx="192881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54" name="Shape 51"/>
          <p:cNvSpPr/>
          <p:nvPr/>
        </p:nvSpPr>
        <p:spPr>
          <a:xfrm>
            <a:off x="5681765" y="1571206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81765" y="1571206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Customer-facing wallet number or alias, commonly based on the Egyptian mobile number.</a:t>
            </a:r>
            <a:endParaRPr lang="en-US" sz="400" dirty="0"/>
          </a:p>
        </p:txBody>
      </p:sp>
      <p:sp>
        <p:nvSpPr>
          <p:cNvPr id="56" name="Shape 53"/>
          <p:cNvSpPr/>
          <p:nvPr/>
        </p:nvSpPr>
        <p:spPr>
          <a:xfrm>
            <a:off x="303609" y="1755660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46472" y="1784235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400" dirty="0"/>
          </a:p>
        </p:txBody>
      </p:sp>
      <p:sp>
        <p:nvSpPr>
          <p:cNvPr id="58" name="Shape 55"/>
          <p:cNvSpPr/>
          <p:nvPr/>
        </p:nvSpPr>
        <p:spPr>
          <a:xfrm>
            <a:off x="1584127" y="1755660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626989" y="1769948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60" name="Text 57"/>
          <p:cNvSpPr/>
          <p:nvPr/>
        </p:nvSpPr>
        <p:spPr>
          <a:xfrm>
            <a:off x="1626989" y="1846101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61" name="Shape 58"/>
          <p:cNvSpPr/>
          <p:nvPr/>
        </p:nvSpPr>
        <p:spPr>
          <a:xfrm>
            <a:off x="2693891" y="1752088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693891" y="1752088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63" name="Shape 60"/>
          <p:cNvSpPr/>
          <p:nvPr/>
        </p:nvSpPr>
        <p:spPr>
          <a:xfrm>
            <a:off x="3547570" y="1752088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594004" y="1773520"/>
            <a:ext cx="119658" cy="7478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5" name="Text 62"/>
          <p:cNvSpPr/>
          <p:nvPr/>
        </p:nvSpPr>
        <p:spPr>
          <a:xfrm>
            <a:off x="3594004" y="1773520"/>
            <a:ext cx="119658" cy="7478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6" name="Text 63"/>
          <p:cNvSpPr/>
          <p:nvPr/>
        </p:nvSpPr>
        <p:spPr>
          <a:xfrm>
            <a:off x="3751166" y="1773520"/>
            <a:ext cx="410766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CUSTOMER_ID</a:t>
            </a:r>
            <a:endParaRPr lang="en-US" sz="400" dirty="0"/>
          </a:p>
        </p:txBody>
      </p:sp>
      <p:sp>
        <p:nvSpPr>
          <p:cNvPr id="67" name="Text 64"/>
          <p:cNvSpPr/>
          <p:nvPr/>
        </p:nvSpPr>
        <p:spPr>
          <a:xfrm>
            <a:off x="4178005" y="1773520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68" name="Shape 65"/>
          <p:cNvSpPr/>
          <p:nvPr/>
        </p:nvSpPr>
        <p:spPr>
          <a:xfrm>
            <a:off x="5681765" y="1752088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81765" y="1752088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identifier linked to the wallet account.</a:t>
            </a:r>
            <a:endParaRPr lang="en-US" sz="400" dirty="0"/>
          </a:p>
        </p:txBody>
      </p:sp>
      <p:sp>
        <p:nvSpPr>
          <p:cNvPr id="70" name="Shape 67"/>
          <p:cNvSpPr/>
          <p:nvPr/>
        </p:nvSpPr>
        <p:spPr>
          <a:xfrm>
            <a:off x="303609" y="1936542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46472" y="1965117"/>
            <a:ext cx="507904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kyc_document_id</a:t>
            </a:r>
            <a:endParaRPr lang="en-US" sz="400" dirty="0"/>
          </a:p>
        </p:txBody>
      </p:sp>
      <p:sp>
        <p:nvSpPr>
          <p:cNvPr id="72" name="Shape 69"/>
          <p:cNvSpPr/>
          <p:nvPr/>
        </p:nvSpPr>
        <p:spPr>
          <a:xfrm>
            <a:off x="1584127" y="1936542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626989" y="1950830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74" name="Text 71"/>
          <p:cNvSpPr/>
          <p:nvPr/>
        </p:nvSpPr>
        <p:spPr>
          <a:xfrm>
            <a:off x="1626989" y="2026983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75" name="Shape 72"/>
          <p:cNvSpPr/>
          <p:nvPr/>
        </p:nvSpPr>
        <p:spPr>
          <a:xfrm>
            <a:off x="2693891" y="1932970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693891" y="1932970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77" name="Shape 74"/>
          <p:cNvSpPr/>
          <p:nvPr/>
        </p:nvSpPr>
        <p:spPr>
          <a:xfrm>
            <a:off x="3547570" y="1932970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594004" y="1954402"/>
            <a:ext cx="119658" cy="7478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9" name="Text 76"/>
          <p:cNvSpPr/>
          <p:nvPr/>
        </p:nvSpPr>
        <p:spPr>
          <a:xfrm>
            <a:off x="3594004" y="1954402"/>
            <a:ext cx="119658" cy="7478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80" name="Text 77"/>
          <p:cNvSpPr/>
          <p:nvPr/>
        </p:nvSpPr>
        <p:spPr>
          <a:xfrm>
            <a:off x="3751166" y="1954402"/>
            <a:ext cx="569714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KYC_DOCUMENT_ID</a:t>
            </a:r>
            <a:endParaRPr lang="en-US" sz="400" dirty="0"/>
          </a:p>
        </p:txBody>
      </p:sp>
      <p:sp>
        <p:nvSpPr>
          <p:cNvPr id="81" name="Text 78"/>
          <p:cNvSpPr/>
          <p:nvPr/>
        </p:nvSpPr>
        <p:spPr>
          <a:xfrm>
            <a:off x="4336954" y="1954402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82" name="Shape 79"/>
          <p:cNvSpPr/>
          <p:nvPr/>
        </p:nvSpPr>
        <p:spPr>
          <a:xfrm>
            <a:off x="5681765" y="1932970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681765" y="1932970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to the KYC identity document used to onboard the wallet holder.</a:t>
            </a:r>
            <a:endParaRPr lang="en-US" sz="400" dirty="0"/>
          </a:p>
        </p:txBody>
      </p:sp>
      <p:sp>
        <p:nvSpPr>
          <p:cNvPr id="84" name="Shape 81"/>
          <p:cNvSpPr/>
          <p:nvPr/>
        </p:nvSpPr>
        <p:spPr>
          <a:xfrm>
            <a:off x="303609" y="2117424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46472" y="2145999"/>
            <a:ext cx="57563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registered_mobile</a:t>
            </a:r>
            <a:endParaRPr lang="en-US" sz="400" dirty="0"/>
          </a:p>
        </p:txBody>
      </p:sp>
      <p:sp>
        <p:nvSpPr>
          <p:cNvPr id="86" name="Shape 83"/>
          <p:cNvSpPr/>
          <p:nvPr/>
        </p:nvSpPr>
        <p:spPr>
          <a:xfrm>
            <a:off x="1584127" y="2117424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626989" y="2131712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88" name="Text 85"/>
          <p:cNvSpPr/>
          <p:nvPr/>
        </p:nvSpPr>
        <p:spPr>
          <a:xfrm>
            <a:off x="1626989" y="2207865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00" dirty="0"/>
          </a:p>
        </p:txBody>
      </p:sp>
      <p:sp>
        <p:nvSpPr>
          <p:cNvPr id="89" name="Shape 86"/>
          <p:cNvSpPr/>
          <p:nvPr/>
        </p:nvSpPr>
        <p:spPr>
          <a:xfrm>
            <a:off x="2693891" y="2113852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693891" y="2113852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91" name="Shape 88"/>
          <p:cNvSpPr/>
          <p:nvPr/>
        </p:nvSpPr>
        <p:spPr>
          <a:xfrm>
            <a:off x="3547570" y="2113852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594004" y="2135284"/>
            <a:ext cx="119658" cy="7478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3" name="Text 90"/>
          <p:cNvSpPr/>
          <p:nvPr/>
        </p:nvSpPr>
        <p:spPr>
          <a:xfrm>
            <a:off x="3594004" y="2135284"/>
            <a:ext cx="119658" cy="7478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4" name="Text 91"/>
          <p:cNvSpPr/>
          <p:nvPr/>
        </p:nvSpPr>
        <p:spPr>
          <a:xfrm>
            <a:off x="3751166" y="2135284"/>
            <a:ext cx="541139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EGYPTIAN_MOBILE</a:t>
            </a:r>
            <a:endParaRPr lang="en-US" sz="400" dirty="0"/>
          </a:p>
        </p:txBody>
      </p:sp>
      <p:sp>
        <p:nvSpPr>
          <p:cNvPr id="95" name="Text 92"/>
          <p:cNvSpPr/>
          <p:nvPr/>
        </p:nvSpPr>
        <p:spPr>
          <a:xfrm>
            <a:off x="4308379" y="2135284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96" name="Shape 93"/>
          <p:cNvSpPr/>
          <p:nvPr/>
        </p:nvSpPr>
        <p:spPr>
          <a:xfrm>
            <a:off x="5681765" y="2113852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681765" y="2113852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Egyptian mobile number registered for wallet ownership, OTP, and alerts.</a:t>
            </a:r>
            <a:endParaRPr lang="en-US" sz="400" dirty="0"/>
          </a:p>
        </p:txBody>
      </p:sp>
      <p:sp>
        <p:nvSpPr>
          <p:cNvPr id="98" name="Shape 95"/>
          <p:cNvSpPr/>
          <p:nvPr/>
        </p:nvSpPr>
        <p:spPr>
          <a:xfrm>
            <a:off x="303609" y="2298306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46472" y="2326881"/>
            <a:ext cx="64335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linked_bank_account</a:t>
            </a:r>
            <a:endParaRPr lang="en-US" sz="400" dirty="0"/>
          </a:p>
        </p:txBody>
      </p:sp>
      <p:sp>
        <p:nvSpPr>
          <p:cNvPr id="100" name="Shape 97"/>
          <p:cNvSpPr/>
          <p:nvPr/>
        </p:nvSpPr>
        <p:spPr>
          <a:xfrm>
            <a:off x="1584127" y="2298306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626989" y="2312594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02" name="Text 99"/>
          <p:cNvSpPr/>
          <p:nvPr/>
        </p:nvSpPr>
        <p:spPr>
          <a:xfrm>
            <a:off x="1626989" y="2388747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VARCHAR(34)</a:t>
            </a:r>
            <a:endParaRPr lang="en-US" sz="400" dirty="0"/>
          </a:p>
        </p:txBody>
      </p:sp>
      <p:sp>
        <p:nvSpPr>
          <p:cNvPr id="103" name="Shape 100"/>
          <p:cNvSpPr/>
          <p:nvPr/>
        </p:nvSpPr>
        <p:spPr>
          <a:xfrm>
            <a:off x="2693891" y="2294734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2693891" y="2294734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05" name="Shape 102"/>
          <p:cNvSpPr/>
          <p:nvPr/>
        </p:nvSpPr>
        <p:spPr>
          <a:xfrm>
            <a:off x="3547570" y="2294734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594004" y="2316166"/>
            <a:ext cx="119658" cy="7478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7" name="Text 104"/>
          <p:cNvSpPr/>
          <p:nvPr/>
        </p:nvSpPr>
        <p:spPr>
          <a:xfrm>
            <a:off x="3594004" y="2316166"/>
            <a:ext cx="119658" cy="7478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8" name="Text 105"/>
          <p:cNvSpPr/>
          <p:nvPr/>
        </p:nvSpPr>
        <p:spPr>
          <a:xfrm>
            <a:off x="3751166" y="2316166"/>
            <a:ext cx="753666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BANK_ACCOUNT_NUMBER</a:t>
            </a:r>
            <a:endParaRPr lang="en-US" sz="400" dirty="0"/>
          </a:p>
        </p:txBody>
      </p:sp>
      <p:sp>
        <p:nvSpPr>
          <p:cNvPr id="109" name="Text 106"/>
          <p:cNvSpPr/>
          <p:nvPr/>
        </p:nvSpPr>
        <p:spPr>
          <a:xfrm>
            <a:off x="4520905" y="2316166"/>
            <a:ext cx="192881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110" name="Shape 107"/>
          <p:cNvSpPr/>
          <p:nvPr/>
        </p:nvSpPr>
        <p:spPr>
          <a:xfrm>
            <a:off x="5681765" y="2294734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681765" y="2294734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bank account or account token used for cash-in, cash-out, transfer, or settlement flows.</a:t>
            </a:r>
            <a:endParaRPr lang="en-US" sz="400" dirty="0"/>
          </a:p>
        </p:txBody>
      </p:sp>
      <p:sp>
        <p:nvSpPr>
          <p:cNvPr id="112" name="Shape 109"/>
          <p:cNvSpPr/>
          <p:nvPr/>
        </p:nvSpPr>
        <p:spPr>
          <a:xfrm>
            <a:off x="303609" y="2479188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46472" y="2507763"/>
            <a:ext cx="57563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linked_card_last4</a:t>
            </a:r>
            <a:endParaRPr lang="en-US" sz="400" dirty="0"/>
          </a:p>
        </p:txBody>
      </p:sp>
      <p:sp>
        <p:nvSpPr>
          <p:cNvPr id="114" name="Shape 111"/>
          <p:cNvSpPr/>
          <p:nvPr/>
        </p:nvSpPr>
        <p:spPr>
          <a:xfrm>
            <a:off x="1584127" y="2479188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1626989" y="2493476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16" name="Text 113"/>
          <p:cNvSpPr/>
          <p:nvPr/>
        </p:nvSpPr>
        <p:spPr>
          <a:xfrm>
            <a:off x="1626989" y="2569629"/>
            <a:ext cx="237027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CHAR(4)</a:t>
            </a:r>
            <a:endParaRPr lang="en-US" sz="400" dirty="0"/>
          </a:p>
        </p:txBody>
      </p:sp>
      <p:sp>
        <p:nvSpPr>
          <p:cNvPr id="117" name="Shape 114"/>
          <p:cNvSpPr/>
          <p:nvPr/>
        </p:nvSpPr>
        <p:spPr>
          <a:xfrm>
            <a:off x="2693891" y="2475616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2693891" y="2475616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19" name="Shape 116"/>
          <p:cNvSpPr/>
          <p:nvPr/>
        </p:nvSpPr>
        <p:spPr>
          <a:xfrm>
            <a:off x="3547570" y="2475616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3594004" y="2497048"/>
            <a:ext cx="119658" cy="7478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1" name="Text 118"/>
          <p:cNvSpPr/>
          <p:nvPr/>
        </p:nvSpPr>
        <p:spPr>
          <a:xfrm>
            <a:off x="3594004" y="2497048"/>
            <a:ext cx="119658" cy="7478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2" name="Text 119"/>
          <p:cNvSpPr/>
          <p:nvPr/>
        </p:nvSpPr>
        <p:spPr>
          <a:xfrm>
            <a:off x="3751166" y="2497048"/>
            <a:ext cx="392906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CREDIT_CARD</a:t>
            </a:r>
            <a:endParaRPr lang="en-US" sz="400" dirty="0"/>
          </a:p>
        </p:txBody>
      </p:sp>
      <p:sp>
        <p:nvSpPr>
          <p:cNvPr id="123" name="Text 120"/>
          <p:cNvSpPr/>
          <p:nvPr/>
        </p:nvSpPr>
        <p:spPr>
          <a:xfrm>
            <a:off x="4160146" y="2497048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24" name="Shape 121"/>
          <p:cNvSpPr/>
          <p:nvPr/>
        </p:nvSpPr>
        <p:spPr>
          <a:xfrm>
            <a:off x="5681765" y="2475616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5681765" y="2475616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 suffix of a linked payment card.</a:t>
            </a:r>
            <a:endParaRPr lang="en-US" sz="400" dirty="0"/>
          </a:p>
        </p:txBody>
      </p:sp>
      <p:sp>
        <p:nvSpPr>
          <p:cNvPr id="126" name="Shape 123"/>
          <p:cNvSpPr/>
          <p:nvPr/>
        </p:nvSpPr>
        <p:spPr>
          <a:xfrm>
            <a:off x="303609" y="2660070"/>
            <a:ext cx="1280517" cy="18802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346472" y="2688645"/>
            <a:ext cx="44020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wallet_status</a:t>
            </a:r>
            <a:endParaRPr lang="en-US" sz="400" dirty="0"/>
          </a:p>
        </p:txBody>
      </p:sp>
      <p:sp>
        <p:nvSpPr>
          <p:cNvPr id="128" name="Shape 125"/>
          <p:cNvSpPr/>
          <p:nvPr/>
        </p:nvSpPr>
        <p:spPr>
          <a:xfrm>
            <a:off x="1584127" y="2660070"/>
            <a:ext cx="1109765" cy="18802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626989" y="2674358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30" name="Text 127"/>
          <p:cNvSpPr/>
          <p:nvPr/>
        </p:nvSpPr>
        <p:spPr>
          <a:xfrm>
            <a:off x="1626989" y="2750511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400" dirty="0"/>
          </a:p>
        </p:txBody>
      </p:sp>
      <p:sp>
        <p:nvSpPr>
          <p:cNvPr id="131" name="Shape 128"/>
          <p:cNvSpPr/>
          <p:nvPr/>
        </p:nvSpPr>
        <p:spPr>
          <a:xfrm>
            <a:off x="2693891" y="2656498"/>
            <a:ext cx="426839" cy="184454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2693891" y="2656498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133" name="Shape 130"/>
          <p:cNvSpPr/>
          <p:nvPr/>
        </p:nvSpPr>
        <p:spPr>
          <a:xfrm>
            <a:off x="3547570" y="2656498"/>
            <a:ext cx="2134195" cy="184454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3594004" y="2677930"/>
            <a:ext cx="264319" cy="7478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5" name="Text 132"/>
          <p:cNvSpPr/>
          <p:nvPr/>
        </p:nvSpPr>
        <p:spPr>
          <a:xfrm>
            <a:off x="3594004" y="2677930"/>
            <a:ext cx="264319" cy="7478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36" name="Shape 133"/>
          <p:cNvSpPr/>
          <p:nvPr/>
        </p:nvSpPr>
        <p:spPr>
          <a:xfrm>
            <a:off x="5681765" y="2656498"/>
            <a:ext cx="3158626" cy="184454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5681765" y="2656498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lifecycle state, such as active, suspended, closed, or pending verification.</a:t>
            </a:r>
            <a:endParaRPr lang="en-US" sz="400" dirty="0"/>
          </a:p>
        </p:txBody>
      </p:sp>
      <p:sp>
        <p:nvSpPr>
          <p:cNvPr id="138" name="Shape 135"/>
          <p:cNvSpPr/>
          <p:nvPr/>
        </p:nvSpPr>
        <p:spPr>
          <a:xfrm>
            <a:off x="303609" y="2840952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46472" y="2869527"/>
            <a:ext cx="677205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registered_device_id</a:t>
            </a:r>
            <a:endParaRPr lang="en-US" sz="400" dirty="0"/>
          </a:p>
        </p:txBody>
      </p:sp>
      <p:sp>
        <p:nvSpPr>
          <p:cNvPr id="140" name="Shape 137"/>
          <p:cNvSpPr/>
          <p:nvPr/>
        </p:nvSpPr>
        <p:spPr>
          <a:xfrm>
            <a:off x="1584127" y="2840952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626989" y="2855240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42" name="Text 139"/>
          <p:cNvSpPr/>
          <p:nvPr/>
        </p:nvSpPr>
        <p:spPr>
          <a:xfrm>
            <a:off x="1626989" y="2931393"/>
            <a:ext cx="40632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VARCHAR(128)</a:t>
            </a:r>
            <a:endParaRPr lang="en-US" sz="400" dirty="0"/>
          </a:p>
        </p:txBody>
      </p:sp>
      <p:sp>
        <p:nvSpPr>
          <p:cNvPr id="143" name="Shape 140"/>
          <p:cNvSpPr/>
          <p:nvPr/>
        </p:nvSpPr>
        <p:spPr>
          <a:xfrm>
            <a:off x="2693891" y="2837380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2693891" y="2837380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45" name="Shape 142"/>
          <p:cNvSpPr/>
          <p:nvPr/>
        </p:nvSpPr>
        <p:spPr>
          <a:xfrm>
            <a:off x="3547570" y="2837380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3594004" y="2858812"/>
            <a:ext cx="119658" cy="7478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7" name="Text 144"/>
          <p:cNvSpPr/>
          <p:nvPr/>
        </p:nvSpPr>
        <p:spPr>
          <a:xfrm>
            <a:off x="3594004" y="2858812"/>
            <a:ext cx="119658" cy="7478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48" name="Text 145"/>
          <p:cNvSpPr/>
          <p:nvPr/>
        </p:nvSpPr>
        <p:spPr>
          <a:xfrm>
            <a:off x="3751166" y="2858812"/>
            <a:ext cx="296466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DEVICE_ID</a:t>
            </a:r>
            <a:endParaRPr lang="en-US" sz="400" dirty="0"/>
          </a:p>
        </p:txBody>
      </p:sp>
      <p:sp>
        <p:nvSpPr>
          <p:cNvPr id="149" name="Text 146"/>
          <p:cNvSpPr/>
          <p:nvPr/>
        </p:nvSpPr>
        <p:spPr>
          <a:xfrm>
            <a:off x="4063705" y="2858812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50" name="Shape 147"/>
          <p:cNvSpPr/>
          <p:nvPr/>
        </p:nvSpPr>
        <p:spPr>
          <a:xfrm>
            <a:off x="5681765" y="2837380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5681765" y="2837380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identifier registered for wallet access, fraud controls, or trusted-device checks.</a:t>
            </a:r>
            <a:endParaRPr lang="en-US" sz="400" dirty="0"/>
          </a:p>
        </p:txBody>
      </p:sp>
      <p:sp>
        <p:nvSpPr>
          <p:cNvPr id="152" name="Shape 149"/>
          <p:cNvSpPr/>
          <p:nvPr/>
        </p:nvSpPr>
        <p:spPr>
          <a:xfrm>
            <a:off x="303609" y="3021834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46472" y="3050409"/>
            <a:ext cx="57563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registered_sim_id</a:t>
            </a:r>
            <a:endParaRPr lang="en-US" sz="400" dirty="0"/>
          </a:p>
        </p:txBody>
      </p:sp>
      <p:sp>
        <p:nvSpPr>
          <p:cNvPr id="154" name="Shape 151"/>
          <p:cNvSpPr/>
          <p:nvPr/>
        </p:nvSpPr>
        <p:spPr>
          <a:xfrm>
            <a:off x="1584127" y="3021834"/>
            <a:ext cx="1109765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626989" y="3036122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56" name="Text 153"/>
          <p:cNvSpPr/>
          <p:nvPr/>
        </p:nvSpPr>
        <p:spPr>
          <a:xfrm>
            <a:off x="1626989" y="3112275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157" name="Shape 154"/>
          <p:cNvSpPr/>
          <p:nvPr/>
        </p:nvSpPr>
        <p:spPr>
          <a:xfrm>
            <a:off x="2693891" y="3018262"/>
            <a:ext cx="426839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2693891" y="3018262"/>
            <a:ext cx="426839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59" name="Shape 156"/>
          <p:cNvSpPr/>
          <p:nvPr/>
        </p:nvSpPr>
        <p:spPr>
          <a:xfrm>
            <a:off x="3547570" y="3018262"/>
            <a:ext cx="2134195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3594004" y="3039694"/>
            <a:ext cx="119658" cy="7478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1" name="Text 158"/>
          <p:cNvSpPr/>
          <p:nvPr/>
        </p:nvSpPr>
        <p:spPr>
          <a:xfrm>
            <a:off x="3594004" y="3039694"/>
            <a:ext cx="119658" cy="7478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62" name="Text 159"/>
          <p:cNvSpPr/>
          <p:nvPr/>
        </p:nvSpPr>
        <p:spPr>
          <a:xfrm>
            <a:off x="3751166" y="3039694"/>
            <a:ext cx="44469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SUBSCRIBER_ID</a:t>
            </a:r>
            <a:endParaRPr lang="en-US" sz="400" dirty="0"/>
          </a:p>
        </p:txBody>
      </p:sp>
      <p:sp>
        <p:nvSpPr>
          <p:cNvPr id="163" name="Text 160"/>
          <p:cNvSpPr/>
          <p:nvPr/>
        </p:nvSpPr>
        <p:spPr>
          <a:xfrm>
            <a:off x="4211938" y="3039694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64" name="Shape 161"/>
          <p:cNvSpPr/>
          <p:nvPr/>
        </p:nvSpPr>
        <p:spPr>
          <a:xfrm>
            <a:off x="5681765" y="3018262"/>
            <a:ext cx="3158626" cy="18445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5681765" y="3018262"/>
            <a:ext cx="3158626" cy="18445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subscription reference associated with wallet registration or SIM-swap controls.</a:t>
            </a:r>
            <a:endParaRPr lang="en-US" sz="400" dirty="0"/>
          </a:p>
        </p:txBody>
      </p:sp>
      <p:sp>
        <p:nvSpPr>
          <p:cNvPr id="166" name="Shape 163"/>
          <p:cNvSpPr/>
          <p:nvPr/>
        </p:nvSpPr>
        <p:spPr>
          <a:xfrm>
            <a:off x="303609" y="3202716"/>
            <a:ext cx="1280517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342900" y="3231291"/>
            <a:ext cx="44020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last_login_ip</a:t>
            </a:r>
            <a:endParaRPr lang="en-US" sz="400" dirty="0"/>
          </a:p>
        </p:txBody>
      </p:sp>
      <p:sp>
        <p:nvSpPr>
          <p:cNvPr id="168" name="Shape 165"/>
          <p:cNvSpPr/>
          <p:nvPr/>
        </p:nvSpPr>
        <p:spPr>
          <a:xfrm>
            <a:off x="1581085" y="3202716"/>
            <a:ext cx="1110239" cy="18802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623947" y="3217004"/>
            <a:ext cx="15180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70" name="Text 167"/>
          <p:cNvSpPr/>
          <p:nvPr/>
        </p:nvSpPr>
        <p:spPr>
          <a:xfrm>
            <a:off x="1623947" y="3293157"/>
            <a:ext cx="3724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VARCHAR(45)</a:t>
            </a:r>
            <a:endParaRPr lang="en-US" sz="400" dirty="0"/>
          </a:p>
        </p:txBody>
      </p:sp>
      <p:sp>
        <p:nvSpPr>
          <p:cNvPr id="171" name="Shape 168"/>
          <p:cNvSpPr/>
          <p:nvPr/>
        </p:nvSpPr>
        <p:spPr>
          <a:xfrm>
            <a:off x="2691324" y="3199144"/>
            <a:ext cx="427006" cy="1808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2691324" y="3199144"/>
            <a:ext cx="427006" cy="180882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73" name="Shape 170"/>
          <p:cNvSpPr/>
          <p:nvPr/>
        </p:nvSpPr>
        <p:spPr>
          <a:xfrm>
            <a:off x="3545337" y="3199144"/>
            <a:ext cx="2135088" cy="1808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3591771" y="3220576"/>
            <a:ext cx="119658" cy="7478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5" name="Text 172"/>
          <p:cNvSpPr/>
          <p:nvPr/>
        </p:nvSpPr>
        <p:spPr>
          <a:xfrm>
            <a:off x="3591771" y="3220576"/>
            <a:ext cx="119658" cy="74786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76" name="Text 173"/>
          <p:cNvSpPr/>
          <p:nvPr/>
        </p:nvSpPr>
        <p:spPr>
          <a:xfrm>
            <a:off x="3748934" y="3220576"/>
            <a:ext cx="3518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IP_ADDRESS</a:t>
            </a:r>
            <a:endParaRPr lang="en-US" sz="400" dirty="0"/>
          </a:p>
        </p:txBody>
      </p:sp>
      <p:sp>
        <p:nvSpPr>
          <p:cNvPr id="177" name="Text 174"/>
          <p:cNvSpPr/>
          <p:nvPr/>
        </p:nvSpPr>
        <p:spPr>
          <a:xfrm>
            <a:off x="4116837" y="3220576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78" name="Shape 175"/>
          <p:cNvSpPr/>
          <p:nvPr/>
        </p:nvSpPr>
        <p:spPr>
          <a:xfrm>
            <a:off x="5680425" y="3199144"/>
            <a:ext cx="3159965" cy="180882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5680425" y="3199144"/>
            <a:ext cx="3159965" cy="180882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observed IP address used for wallet application login or risk assessment.</a:t>
            </a:r>
            <a:endParaRPr lang="en-US" sz="400" dirty="0"/>
          </a:p>
        </p:txBody>
      </p:sp>
      <p:sp>
        <p:nvSpPr>
          <p:cNvPr id="180" name="Shape 177"/>
          <p:cNvSpPr/>
          <p:nvPr/>
        </p:nvSpPr>
        <p:spPr>
          <a:xfrm>
            <a:off x="300038" y="3455036"/>
            <a:ext cx="8543925" cy="24288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81" name="Shape 178"/>
          <p:cNvSpPr/>
          <p:nvPr/>
        </p:nvSpPr>
        <p:spPr>
          <a:xfrm>
            <a:off x="300038" y="3455036"/>
            <a:ext cx="85439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2" name="Text 179"/>
          <p:cNvSpPr/>
          <p:nvPr/>
        </p:nvSpPr>
        <p:spPr>
          <a:xfrm>
            <a:off x="300038" y="3455036"/>
            <a:ext cx="8543925" cy="242888"/>
          </a:xfrm>
          <a:prstGeom prst="rect">
            <a:avLst/>
          </a:prstGeom>
          <a:noFill/>
          <a:ln/>
        </p:spPr>
        <p:txBody>
          <a:bodyPr wrap="square" lIns="85090" tIns="59563" rIns="8509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Scanner validation focus:</a:t>
            </a:r>
            <a:r>
              <a:rPr lang="en-US" sz="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wallet account joins financial account identifiers with mobile, KYC, SIM, device, and IP evidence, making it a strong cross-domain test for Egyptian fintech PII classification.</a:t>
            </a:r>
            <a:endParaRPr lang="en-US" sz="500" dirty="0"/>
          </a:p>
        </p:txBody>
      </p:sp>
      <p:sp>
        <p:nvSpPr>
          <p:cNvPr id="183" name="Text 180"/>
          <p:cNvSpPr/>
          <p:nvPr/>
        </p:nvSpPr>
        <p:spPr>
          <a:xfrm>
            <a:off x="300038" y="3762217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84" name="Text 181"/>
          <p:cNvSpPr/>
          <p:nvPr/>
        </p:nvSpPr>
        <p:spPr>
          <a:xfrm>
            <a:off x="7688461" y="3762217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EA580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FINTECH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fintech_payment_transaction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343900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Egypt fintech payment transaction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Synthetic mobile-wallet and digital-payment transaction records for evaluating PII detection across wallet, payment, card, IP, device, and merchant-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fields. Granularity: one row per payment, transfer, refund, or wallet transaction event.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448270" cy="164306"/>
          </a:xfrm>
          <a:prstGeom prst="rect">
            <a:avLst/>
          </a:prstGeom>
          <a:solidFill>
            <a:srgbClr val="FFEDD5"/>
          </a:solidFill>
          <a:ln w="9144">
            <a:solidFill>
              <a:srgbClr val="EA58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448270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EA580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Fintech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805458" y="1009724"/>
            <a:ext cx="594717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5458" y="1009724"/>
            <a:ext cx="594717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13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457325" y="1009724"/>
            <a:ext cx="325041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57325" y="1009724"/>
            <a:ext cx="32504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9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1839516" y="1009724"/>
            <a:ext cx="512564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39516" y="1009724"/>
            <a:ext cx="512564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0471"/>
            <a:ext cx="1280517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0471"/>
            <a:ext cx="1280517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0471"/>
            <a:ext cx="1109765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0471"/>
            <a:ext cx="1109765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0471"/>
            <a:ext cx="426839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0471"/>
            <a:ext cx="426839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0471"/>
            <a:ext cx="426839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0471"/>
            <a:ext cx="426839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0471"/>
            <a:ext cx="2134195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0471"/>
            <a:ext cx="2134195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0471"/>
            <a:ext cx="3158626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0471"/>
            <a:ext cx="3158626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392501"/>
            <a:ext cx="1280517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19290"/>
            <a:ext cx="73536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payment_transaction_id</a:t>
            </a:r>
            <a:endParaRPr lang="en-US" sz="400" dirty="0"/>
          </a:p>
        </p:txBody>
      </p:sp>
      <p:sp>
        <p:nvSpPr>
          <p:cNvPr id="28" name="Shape 25"/>
          <p:cNvSpPr/>
          <p:nvPr/>
        </p:nvSpPr>
        <p:spPr>
          <a:xfrm>
            <a:off x="1584127" y="1392501"/>
            <a:ext cx="1109765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10360"/>
            <a:ext cx="14823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30" name="Text 27"/>
          <p:cNvSpPr/>
          <p:nvPr/>
        </p:nvSpPr>
        <p:spPr>
          <a:xfrm>
            <a:off x="1626989" y="1483361"/>
            <a:ext cx="3676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VARCHAR(40)</a:t>
            </a:r>
            <a:endParaRPr lang="en-US" sz="400" dirty="0"/>
          </a:p>
        </p:txBody>
      </p:sp>
      <p:sp>
        <p:nvSpPr>
          <p:cNvPr id="31" name="Shape 28"/>
          <p:cNvSpPr/>
          <p:nvPr/>
        </p:nvSpPr>
        <p:spPr>
          <a:xfrm>
            <a:off x="2693891" y="1392501"/>
            <a:ext cx="426839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392501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33" name="Shape 30"/>
          <p:cNvSpPr/>
          <p:nvPr/>
        </p:nvSpPr>
        <p:spPr>
          <a:xfrm>
            <a:off x="3120730" y="1392501"/>
            <a:ext cx="426839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392501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00" dirty="0"/>
          </a:p>
        </p:txBody>
      </p:sp>
      <p:sp>
        <p:nvSpPr>
          <p:cNvPr id="35" name="Shape 32"/>
          <p:cNvSpPr/>
          <p:nvPr/>
        </p:nvSpPr>
        <p:spPr>
          <a:xfrm>
            <a:off x="3547570" y="1392501"/>
            <a:ext cx="2134195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13932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13932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38" name="Text 35"/>
          <p:cNvSpPr/>
          <p:nvPr/>
        </p:nvSpPr>
        <p:spPr>
          <a:xfrm>
            <a:off x="3747595" y="1415718"/>
            <a:ext cx="800100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PAYMENT_TRANSACTION_ID</a:t>
            </a:r>
            <a:endParaRPr lang="en-US" sz="400" dirty="0"/>
          </a:p>
        </p:txBody>
      </p:sp>
      <p:sp>
        <p:nvSpPr>
          <p:cNvPr id="39" name="Text 36"/>
          <p:cNvSpPr/>
          <p:nvPr/>
        </p:nvSpPr>
        <p:spPr>
          <a:xfrm>
            <a:off x="4563768" y="1415718"/>
            <a:ext cx="264319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40" name="Shape 37"/>
          <p:cNvSpPr/>
          <p:nvPr/>
        </p:nvSpPr>
        <p:spPr>
          <a:xfrm>
            <a:off x="5681765" y="1392501"/>
            <a:ext cx="3158626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81765" y="1392501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payment transaction identifier generated by the wallet, PSP, or transaction switch.</a:t>
            </a:r>
            <a:endParaRPr lang="en-US" sz="400" dirty="0"/>
          </a:p>
        </p:txBody>
      </p:sp>
      <p:sp>
        <p:nvSpPr>
          <p:cNvPr id="42" name="Shape 39"/>
          <p:cNvSpPr/>
          <p:nvPr/>
        </p:nvSpPr>
        <p:spPr>
          <a:xfrm>
            <a:off x="303609" y="1568862"/>
            <a:ext cx="1280517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6472" y="1595651"/>
            <a:ext cx="568235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wallet_account_id</a:t>
            </a:r>
            <a:endParaRPr lang="en-US" sz="400" dirty="0"/>
          </a:p>
        </p:txBody>
      </p:sp>
      <p:sp>
        <p:nvSpPr>
          <p:cNvPr id="44" name="Shape 41"/>
          <p:cNvSpPr/>
          <p:nvPr/>
        </p:nvSpPr>
        <p:spPr>
          <a:xfrm>
            <a:off x="1584127" y="1568862"/>
            <a:ext cx="1109765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26989" y="1583150"/>
            <a:ext cx="14823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46" name="Text 43"/>
          <p:cNvSpPr/>
          <p:nvPr/>
        </p:nvSpPr>
        <p:spPr>
          <a:xfrm>
            <a:off x="1626989" y="1656150"/>
            <a:ext cx="3676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47" name="Shape 44"/>
          <p:cNvSpPr/>
          <p:nvPr/>
        </p:nvSpPr>
        <p:spPr>
          <a:xfrm>
            <a:off x="2693891" y="1565291"/>
            <a:ext cx="426839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693891" y="1565291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49" name="Shape 46"/>
          <p:cNvSpPr/>
          <p:nvPr/>
        </p:nvSpPr>
        <p:spPr>
          <a:xfrm>
            <a:off x="3547570" y="1565291"/>
            <a:ext cx="2134195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594004" y="1586722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1" name="Text 48"/>
          <p:cNvSpPr/>
          <p:nvPr/>
        </p:nvSpPr>
        <p:spPr>
          <a:xfrm>
            <a:off x="3594004" y="1586722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2" name="Text 49"/>
          <p:cNvSpPr/>
          <p:nvPr/>
        </p:nvSpPr>
        <p:spPr>
          <a:xfrm>
            <a:off x="3751166" y="1588508"/>
            <a:ext cx="316111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WALLET_ID</a:t>
            </a:r>
            <a:endParaRPr lang="en-US" sz="400" dirty="0"/>
          </a:p>
        </p:txBody>
      </p:sp>
      <p:sp>
        <p:nvSpPr>
          <p:cNvPr id="53" name="Text 50"/>
          <p:cNvSpPr/>
          <p:nvPr/>
        </p:nvSpPr>
        <p:spPr>
          <a:xfrm>
            <a:off x="4083351" y="1588508"/>
            <a:ext cx="264319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54" name="Shape 51"/>
          <p:cNvSpPr/>
          <p:nvPr/>
        </p:nvSpPr>
        <p:spPr>
          <a:xfrm>
            <a:off x="5681765" y="1565291"/>
            <a:ext cx="3158626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81765" y="1565291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wallet account participating in the transaction.</a:t>
            </a:r>
            <a:endParaRPr lang="en-US" sz="400" dirty="0"/>
          </a:p>
        </p:txBody>
      </p:sp>
      <p:sp>
        <p:nvSpPr>
          <p:cNvPr id="56" name="Shape 53"/>
          <p:cNvSpPr/>
          <p:nvPr/>
        </p:nvSpPr>
        <p:spPr>
          <a:xfrm>
            <a:off x="303609" y="1745224"/>
            <a:ext cx="1280517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46472" y="1772013"/>
            <a:ext cx="63509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payer_mobile_number</a:t>
            </a:r>
            <a:endParaRPr lang="en-US" sz="400" dirty="0"/>
          </a:p>
        </p:txBody>
      </p:sp>
      <p:sp>
        <p:nvSpPr>
          <p:cNvPr id="58" name="Shape 55"/>
          <p:cNvSpPr/>
          <p:nvPr/>
        </p:nvSpPr>
        <p:spPr>
          <a:xfrm>
            <a:off x="1584127" y="1745224"/>
            <a:ext cx="1109765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626989" y="1759511"/>
            <a:ext cx="14823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60" name="Text 57"/>
          <p:cNvSpPr/>
          <p:nvPr/>
        </p:nvSpPr>
        <p:spPr>
          <a:xfrm>
            <a:off x="1626989" y="1832511"/>
            <a:ext cx="3676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00" dirty="0"/>
          </a:p>
        </p:txBody>
      </p:sp>
      <p:sp>
        <p:nvSpPr>
          <p:cNvPr id="61" name="Shape 58"/>
          <p:cNvSpPr/>
          <p:nvPr/>
        </p:nvSpPr>
        <p:spPr>
          <a:xfrm>
            <a:off x="2693891" y="1741652"/>
            <a:ext cx="426839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693891" y="1741652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63" name="Shape 60"/>
          <p:cNvSpPr/>
          <p:nvPr/>
        </p:nvSpPr>
        <p:spPr>
          <a:xfrm>
            <a:off x="3547570" y="1741652"/>
            <a:ext cx="2134195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594004" y="1763083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5" name="Text 62"/>
          <p:cNvSpPr/>
          <p:nvPr/>
        </p:nvSpPr>
        <p:spPr>
          <a:xfrm>
            <a:off x="3594004" y="1763083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6" name="Text 63"/>
          <p:cNvSpPr/>
          <p:nvPr/>
        </p:nvSpPr>
        <p:spPr>
          <a:xfrm>
            <a:off x="3751166" y="1764869"/>
            <a:ext cx="53399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EGYPTIAN_MOBILE</a:t>
            </a:r>
            <a:endParaRPr lang="en-US" sz="400" dirty="0"/>
          </a:p>
        </p:txBody>
      </p:sp>
      <p:sp>
        <p:nvSpPr>
          <p:cNvPr id="67" name="Text 64"/>
          <p:cNvSpPr/>
          <p:nvPr/>
        </p:nvSpPr>
        <p:spPr>
          <a:xfrm>
            <a:off x="4301235" y="1764869"/>
            <a:ext cx="117872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68" name="Shape 65"/>
          <p:cNvSpPr/>
          <p:nvPr/>
        </p:nvSpPr>
        <p:spPr>
          <a:xfrm>
            <a:off x="5681765" y="1741652"/>
            <a:ext cx="3158626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81765" y="1741652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Payer mobile number used for wallet payment, person-to-person transfer, or OTP flow.</a:t>
            </a:r>
            <a:endParaRPr lang="en-US" sz="400" dirty="0"/>
          </a:p>
        </p:txBody>
      </p:sp>
      <p:sp>
        <p:nvSpPr>
          <p:cNvPr id="70" name="Shape 67"/>
          <p:cNvSpPr/>
          <p:nvPr/>
        </p:nvSpPr>
        <p:spPr>
          <a:xfrm>
            <a:off x="303609" y="1921585"/>
            <a:ext cx="1280517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46472" y="1948374"/>
            <a:ext cx="63509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payee_mobile_number</a:t>
            </a:r>
            <a:endParaRPr lang="en-US" sz="400" dirty="0"/>
          </a:p>
        </p:txBody>
      </p:sp>
      <p:sp>
        <p:nvSpPr>
          <p:cNvPr id="72" name="Shape 69"/>
          <p:cNvSpPr/>
          <p:nvPr/>
        </p:nvSpPr>
        <p:spPr>
          <a:xfrm>
            <a:off x="1584127" y="1921585"/>
            <a:ext cx="1109765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626989" y="1935873"/>
            <a:ext cx="14823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74" name="Text 71"/>
          <p:cNvSpPr/>
          <p:nvPr/>
        </p:nvSpPr>
        <p:spPr>
          <a:xfrm>
            <a:off x="1626989" y="2008873"/>
            <a:ext cx="3676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00" dirty="0"/>
          </a:p>
        </p:txBody>
      </p:sp>
      <p:sp>
        <p:nvSpPr>
          <p:cNvPr id="75" name="Shape 72"/>
          <p:cNvSpPr/>
          <p:nvPr/>
        </p:nvSpPr>
        <p:spPr>
          <a:xfrm>
            <a:off x="2693891" y="1918013"/>
            <a:ext cx="426839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693891" y="1918013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77" name="Shape 74"/>
          <p:cNvSpPr/>
          <p:nvPr/>
        </p:nvSpPr>
        <p:spPr>
          <a:xfrm>
            <a:off x="3547570" y="1918013"/>
            <a:ext cx="2134195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594004" y="1939444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9" name="Text 76"/>
          <p:cNvSpPr/>
          <p:nvPr/>
        </p:nvSpPr>
        <p:spPr>
          <a:xfrm>
            <a:off x="3594004" y="1939444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80" name="Text 77"/>
          <p:cNvSpPr/>
          <p:nvPr/>
        </p:nvSpPr>
        <p:spPr>
          <a:xfrm>
            <a:off x="3751166" y="1941230"/>
            <a:ext cx="53399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EGYPTIAN_MOBILE</a:t>
            </a:r>
            <a:endParaRPr lang="en-US" sz="400" dirty="0"/>
          </a:p>
        </p:txBody>
      </p:sp>
      <p:sp>
        <p:nvSpPr>
          <p:cNvPr id="81" name="Text 78"/>
          <p:cNvSpPr/>
          <p:nvPr/>
        </p:nvSpPr>
        <p:spPr>
          <a:xfrm>
            <a:off x="4301235" y="1941230"/>
            <a:ext cx="117872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82" name="Shape 79"/>
          <p:cNvSpPr/>
          <p:nvPr/>
        </p:nvSpPr>
        <p:spPr>
          <a:xfrm>
            <a:off x="5681765" y="1918013"/>
            <a:ext cx="3158626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681765" y="1918013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Payee mobile number for wallet transfer or merchant/customer payout scenarios.</a:t>
            </a:r>
            <a:endParaRPr lang="en-US" sz="400" dirty="0"/>
          </a:p>
        </p:txBody>
      </p:sp>
      <p:sp>
        <p:nvSpPr>
          <p:cNvPr id="84" name="Shape 81"/>
          <p:cNvSpPr/>
          <p:nvPr/>
        </p:nvSpPr>
        <p:spPr>
          <a:xfrm>
            <a:off x="303609" y="2097946"/>
            <a:ext cx="1280517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46472" y="2124735"/>
            <a:ext cx="3676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merchant_id</a:t>
            </a:r>
            <a:endParaRPr lang="en-US" sz="400" dirty="0"/>
          </a:p>
        </p:txBody>
      </p:sp>
      <p:sp>
        <p:nvSpPr>
          <p:cNvPr id="86" name="Shape 83"/>
          <p:cNvSpPr/>
          <p:nvPr/>
        </p:nvSpPr>
        <p:spPr>
          <a:xfrm>
            <a:off x="1584127" y="2097946"/>
            <a:ext cx="1109765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626989" y="2112234"/>
            <a:ext cx="14823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88" name="Text 85"/>
          <p:cNvSpPr/>
          <p:nvPr/>
        </p:nvSpPr>
        <p:spPr>
          <a:xfrm>
            <a:off x="1626989" y="2185234"/>
            <a:ext cx="3676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89" name="Shape 86"/>
          <p:cNvSpPr/>
          <p:nvPr/>
        </p:nvSpPr>
        <p:spPr>
          <a:xfrm>
            <a:off x="2693891" y="2094374"/>
            <a:ext cx="426839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693891" y="2094374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91" name="Shape 88"/>
          <p:cNvSpPr/>
          <p:nvPr/>
        </p:nvSpPr>
        <p:spPr>
          <a:xfrm>
            <a:off x="3547570" y="2094374"/>
            <a:ext cx="2134195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594004" y="2115806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3" name="Text 90"/>
          <p:cNvSpPr/>
          <p:nvPr/>
        </p:nvSpPr>
        <p:spPr>
          <a:xfrm>
            <a:off x="3594004" y="2115806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4" name="Text 91"/>
          <p:cNvSpPr/>
          <p:nvPr/>
        </p:nvSpPr>
        <p:spPr>
          <a:xfrm>
            <a:off x="3751166" y="2117592"/>
            <a:ext cx="410766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MERCHANT_ID</a:t>
            </a:r>
            <a:endParaRPr lang="en-US" sz="400" dirty="0"/>
          </a:p>
        </p:txBody>
      </p:sp>
      <p:sp>
        <p:nvSpPr>
          <p:cNvPr id="95" name="Text 92"/>
          <p:cNvSpPr/>
          <p:nvPr/>
        </p:nvSpPr>
        <p:spPr>
          <a:xfrm>
            <a:off x="4178005" y="2117592"/>
            <a:ext cx="264319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96" name="Shape 93"/>
          <p:cNvSpPr/>
          <p:nvPr/>
        </p:nvSpPr>
        <p:spPr>
          <a:xfrm>
            <a:off x="5681765" y="2094374"/>
            <a:ext cx="3158626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681765" y="2094374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Merchant, seller, or biller identifier linked to the payment transaction.</a:t>
            </a:r>
            <a:endParaRPr lang="en-US" sz="400" dirty="0"/>
          </a:p>
        </p:txBody>
      </p:sp>
      <p:sp>
        <p:nvSpPr>
          <p:cNvPr id="98" name="Shape 95"/>
          <p:cNvSpPr/>
          <p:nvPr/>
        </p:nvSpPr>
        <p:spPr>
          <a:xfrm>
            <a:off x="303609" y="2274308"/>
            <a:ext cx="1280517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46472" y="2301097"/>
            <a:ext cx="26741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400" dirty="0"/>
          </a:p>
        </p:txBody>
      </p:sp>
      <p:sp>
        <p:nvSpPr>
          <p:cNvPr id="100" name="Shape 97"/>
          <p:cNvSpPr/>
          <p:nvPr/>
        </p:nvSpPr>
        <p:spPr>
          <a:xfrm>
            <a:off x="1584127" y="2274308"/>
            <a:ext cx="1109765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626989" y="2288595"/>
            <a:ext cx="14823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02" name="Text 99"/>
          <p:cNvSpPr/>
          <p:nvPr/>
        </p:nvSpPr>
        <p:spPr>
          <a:xfrm>
            <a:off x="1626989" y="2361595"/>
            <a:ext cx="3676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103" name="Shape 100"/>
          <p:cNvSpPr/>
          <p:nvPr/>
        </p:nvSpPr>
        <p:spPr>
          <a:xfrm>
            <a:off x="2693891" y="2270736"/>
            <a:ext cx="426839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2693891" y="2270736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05" name="Shape 102"/>
          <p:cNvSpPr/>
          <p:nvPr/>
        </p:nvSpPr>
        <p:spPr>
          <a:xfrm>
            <a:off x="3547570" y="2270736"/>
            <a:ext cx="2134195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594004" y="2292167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7" name="Text 104"/>
          <p:cNvSpPr/>
          <p:nvPr/>
        </p:nvSpPr>
        <p:spPr>
          <a:xfrm>
            <a:off x="3594004" y="2292167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8" name="Text 105"/>
          <p:cNvSpPr/>
          <p:nvPr/>
        </p:nvSpPr>
        <p:spPr>
          <a:xfrm>
            <a:off x="3751166" y="2293953"/>
            <a:ext cx="278606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ORDER_ID</a:t>
            </a:r>
            <a:endParaRPr lang="en-US" sz="400" dirty="0"/>
          </a:p>
        </p:txBody>
      </p:sp>
      <p:sp>
        <p:nvSpPr>
          <p:cNvPr id="109" name="Text 106"/>
          <p:cNvSpPr/>
          <p:nvPr/>
        </p:nvSpPr>
        <p:spPr>
          <a:xfrm>
            <a:off x="4045846" y="2293953"/>
            <a:ext cx="264319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10" name="Shape 107"/>
          <p:cNvSpPr/>
          <p:nvPr/>
        </p:nvSpPr>
        <p:spPr>
          <a:xfrm>
            <a:off x="5681765" y="2270736"/>
            <a:ext cx="3158626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681765" y="2270736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order or checkout reference associated with the payment.</a:t>
            </a:r>
            <a:endParaRPr lang="en-US" sz="400" dirty="0"/>
          </a:p>
        </p:txBody>
      </p:sp>
      <p:sp>
        <p:nvSpPr>
          <p:cNvPr id="112" name="Shape 109"/>
          <p:cNvSpPr/>
          <p:nvPr/>
        </p:nvSpPr>
        <p:spPr>
          <a:xfrm>
            <a:off x="303609" y="2450669"/>
            <a:ext cx="1280517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46472" y="2477458"/>
            <a:ext cx="33424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card_token</a:t>
            </a:r>
            <a:endParaRPr lang="en-US" sz="400" dirty="0"/>
          </a:p>
        </p:txBody>
      </p:sp>
      <p:sp>
        <p:nvSpPr>
          <p:cNvPr id="114" name="Shape 111"/>
          <p:cNvSpPr/>
          <p:nvPr/>
        </p:nvSpPr>
        <p:spPr>
          <a:xfrm>
            <a:off x="1584127" y="2450669"/>
            <a:ext cx="1109765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1626989" y="2464957"/>
            <a:ext cx="14823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16" name="Text 113"/>
          <p:cNvSpPr/>
          <p:nvPr/>
        </p:nvSpPr>
        <p:spPr>
          <a:xfrm>
            <a:off x="1626989" y="2537957"/>
            <a:ext cx="40111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VARCHAR(128)</a:t>
            </a:r>
            <a:endParaRPr lang="en-US" sz="400" dirty="0"/>
          </a:p>
        </p:txBody>
      </p:sp>
      <p:sp>
        <p:nvSpPr>
          <p:cNvPr id="117" name="Shape 114"/>
          <p:cNvSpPr/>
          <p:nvPr/>
        </p:nvSpPr>
        <p:spPr>
          <a:xfrm>
            <a:off x="2693891" y="2447097"/>
            <a:ext cx="426839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2693891" y="2447097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19" name="Shape 116"/>
          <p:cNvSpPr/>
          <p:nvPr/>
        </p:nvSpPr>
        <p:spPr>
          <a:xfrm>
            <a:off x="3547570" y="2447097"/>
            <a:ext cx="2134195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3594004" y="2468528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1" name="Text 118"/>
          <p:cNvSpPr/>
          <p:nvPr/>
        </p:nvSpPr>
        <p:spPr>
          <a:xfrm>
            <a:off x="3594004" y="2468528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2" name="Text 119"/>
          <p:cNvSpPr/>
          <p:nvPr/>
        </p:nvSpPr>
        <p:spPr>
          <a:xfrm>
            <a:off x="3751166" y="2470314"/>
            <a:ext cx="675084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PAYMENT_CARD_TOKEN</a:t>
            </a:r>
            <a:endParaRPr lang="en-US" sz="400" dirty="0"/>
          </a:p>
        </p:txBody>
      </p:sp>
      <p:sp>
        <p:nvSpPr>
          <p:cNvPr id="123" name="Text 120"/>
          <p:cNvSpPr/>
          <p:nvPr/>
        </p:nvSpPr>
        <p:spPr>
          <a:xfrm>
            <a:off x="4442324" y="2470314"/>
            <a:ext cx="182166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124" name="Shape 121"/>
          <p:cNvSpPr/>
          <p:nvPr/>
        </p:nvSpPr>
        <p:spPr>
          <a:xfrm>
            <a:off x="5681765" y="2447097"/>
            <a:ext cx="3158626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5681765" y="2447097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Tokenized payment-card reference retained by the PSP or payment gateway.</a:t>
            </a:r>
            <a:endParaRPr lang="en-US" sz="400" dirty="0"/>
          </a:p>
        </p:txBody>
      </p:sp>
      <p:sp>
        <p:nvSpPr>
          <p:cNvPr id="126" name="Shape 123"/>
          <p:cNvSpPr/>
          <p:nvPr/>
        </p:nvSpPr>
        <p:spPr>
          <a:xfrm>
            <a:off x="303609" y="2627030"/>
            <a:ext cx="1280517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346472" y="2653819"/>
            <a:ext cx="33424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card_last4</a:t>
            </a:r>
            <a:endParaRPr lang="en-US" sz="400" dirty="0"/>
          </a:p>
        </p:txBody>
      </p:sp>
      <p:sp>
        <p:nvSpPr>
          <p:cNvPr id="128" name="Shape 125"/>
          <p:cNvSpPr/>
          <p:nvPr/>
        </p:nvSpPr>
        <p:spPr>
          <a:xfrm>
            <a:off x="1584127" y="2627030"/>
            <a:ext cx="1109765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626989" y="2641318"/>
            <a:ext cx="14823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30" name="Text 127"/>
          <p:cNvSpPr/>
          <p:nvPr/>
        </p:nvSpPr>
        <p:spPr>
          <a:xfrm>
            <a:off x="1626989" y="2714318"/>
            <a:ext cx="23398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CHAR(4)</a:t>
            </a:r>
            <a:endParaRPr lang="en-US" sz="400" dirty="0"/>
          </a:p>
        </p:txBody>
      </p:sp>
      <p:sp>
        <p:nvSpPr>
          <p:cNvPr id="131" name="Shape 128"/>
          <p:cNvSpPr/>
          <p:nvPr/>
        </p:nvSpPr>
        <p:spPr>
          <a:xfrm>
            <a:off x="2693891" y="2623458"/>
            <a:ext cx="426839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2693891" y="2623458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33" name="Shape 130"/>
          <p:cNvSpPr/>
          <p:nvPr/>
        </p:nvSpPr>
        <p:spPr>
          <a:xfrm>
            <a:off x="3547570" y="2623458"/>
            <a:ext cx="2134195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3594004" y="2644890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5" name="Text 132"/>
          <p:cNvSpPr/>
          <p:nvPr/>
        </p:nvSpPr>
        <p:spPr>
          <a:xfrm>
            <a:off x="3594004" y="2644890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6" name="Text 133"/>
          <p:cNvSpPr/>
          <p:nvPr/>
        </p:nvSpPr>
        <p:spPr>
          <a:xfrm>
            <a:off x="3751166" y="2646676"/>
            <a:ext cx="389334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CREDIT_CARD</a:t>
            </a:r>
            <a:endParaRPr lang="en-US" sz="400" dirty="0"/>
          </a:p>
        </p:txBody>
      </p:sp>
      <p:sp>
        <p:nvSpPr>
          <p:cNvPr id="137" name="Text 134"/>
          <p:cNvSpPr/>
          <p:nvPr/>
        </p:nvSpPr>
        <p:spPr>
          <a:xfrm>
            <a:off x="4156574" y="2646676"/>
            <a:ext cx="264319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138" name="Shape 135"/>
          <p:cNvSpPr/>
          <p:nvPr/>
        </p:nvSpPr>
        <p:spPr>
          <a:xfrm>
            <a:off x="5681765" y="2623458"/>
            <a:ext cx="3158626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5681765" y="2623458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 card suffix used for receipts, dispute handling, or customer support.</a:t>
            </a:r>
            <a:endParaRPr lang="en-US" sz="400" dirty="0"/>
          </a:p>
        </p:txBody>
      </p:sp>
      <p:sp>
        <p:nvSpPr>
          <p:cNvPr id="140" name="Shape 137"/>
          <p:cNvSpPr/>
          <p:nvPr/>
        </p:nvSpPr>
        <p:spPr>
          <a:xfrm>
            <a:off x="303609" y="2803392"/>
            <a:ext cx="1280517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346472" y="2830181"/>
            <a:ext cx="60166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device_fingerprint</a:t>
            </a:r>
            <a:endParaRPr lang="en-US" sz="400" dirty="0"/>
          </a:p>
        </p:txBody>
      </p:sp>
      <p:sp>
        <p:nvSpPr>
          <p:cNvPr id="142" name="Shape 139"/>
          <p:cNvSpPr/>
          <p:nvPr/>
        </p:nvSpPr>
        <p:spPr>
          <a:xfrm>
            <a:off x="1584127" y="2803392"/>
            <a:ext cx="1109765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626989" y="2817679"/>
            <a:ext cx="14823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44" name="Text 141"/>
          <p:cNvSpPr/>
          <p:nvPr/>
        </p:nvSpPr>
        <p:spPr>
          <a:xfrm>
            <a:off x="1626989" y="2890679"/>
            <a:ext cx="40111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VARCHAR(128)</a:t>
            </a:r>
            <a:endParaRPr lang="en-US" sz="400" dirty="0"/>
          </a:p>
        </p:txBody>
      </p:sp>
      <p:sp>
        <p:nvSpPr>
          <p:cNvPr id="145" name="Shape 142"/>
          <p:cNvSpPr/>
          <p:nvPr/>
        </p:nvSpPr>
        <p:spPr>
          <a:xfrm>
            <a:off x="2693891" y="2799820"/>
            <a:ext cx="426839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2693891" y="2799820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47" name="Shape 144"/>
          <p:cNvSpPr/>
          <p:nvPr/>
        </p:nvSpPr>
        <p:spPr>
          <a:xfrm>
            <a:off x="3547570" y="2799820"/>
            <a:ext cx="2134195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594004" y="2821251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9" name="Text 146"/>
          <p:cNvSpPr/>
          <p:nvPr/>
        </p:nvSpPr>
        <p:spPr>
          <a:xfrm>
            <a:off x="3594004" y="2821251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50" name="Text 147"/>
          <p:cNvSpPr/>
          <p:nvPr/>
        </p:nvSpPr>
        <p:spPr>
          <a:xfrm>
            <a:off x="3751166" y="2823037"/>
            <a:ext cx="610791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DEVICE_FINGERPRINT</a:t>
            </a:r>
            <a:endParaRPr lang="en-US" sz="400" dirty="0"/>
          </a:p>
        </p:txBody>
      </p:sp>
      <p:sp>
        <p:nvSpPr>
          <p:cNvPr id="151" name="Text 148"/>
          <p:cNvSpPr/>
          <p:nvPr/>
        </p:nvSpPr>
        <p:spPr>
          <a:xfrm>
            <a:off x="4378030" y="2823037"/>
            <a:ext cx="117872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52" name="Shape 149"/>
          <p:cNvSpPr/>
          <p:nvPr/>
        </p:nvSpPr>
        <p:spPr>
          <a:xfrm>
            <a:off x="5681765" y="2799820"/>
            <a:ext cx="3158626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5681765" y="2799820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fingerprint or risk-engine identifier observed during transaction authorization.</a:t>
            </a:r>
            <a:endParaRPr lang="en-US" sz="400" dirty="0"/>
          </a:p>
        </p:txBody>
      </p:sp>
      <p:sp>
        <p:nvSpPr>
          <p:cNvPr id="154" name="Shape 151"/>
          <p:cNvSpPr/>
          <p:nvPr/>
        </p:nvSpPr>
        <p:spPr>
          <a:xfrm>
            <a:off x="303609" y="2979753"/>
            <a:ext cx="1280517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346472" y="3006542"/>
            <a:ext cx="300847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source_ip</a:t>
            </a:r>
            <a:endParaRPr lang="en-US" sz="400" dirty="0"/>
          </a:p>
        </p:txBody>
      </p:sp>
      <p:sp>
        <p:nvSpPr>
          <p:cNvPr id="156" name="Shape 153"/>
          <p:cNvSpPr/>
          <p:nvPr/>
        </p:nvSpPr>
        <p:spPr>
          <a:xfrm>
            <a:off x="1584127" y="2979753"/>
            <a:ext cx="1109765" cy="18350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1626989" y="2994041"/>
            <a:ext cx="14823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58" name="Text 155"/>
          <p:cNvSpPr/>
          <p:nvPr/>
        </p:nvSpPr>
        <p:spPr>
          <a:xfrm>
            <a:off x="1626989" y="3067041"/>
            <a:ext cx="3676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VARCHAR(45)</a:t>
            </a:r>
            <a:endParaRPr lang="en-US" sz="400" dirty="0"/>
          </a:p>
        </p:txBody>
      </p:sp>
      <p:sp>
        <p:nvSpPr>
          <p:cNvPr id="159" name="Shape 156"/>
          <p:cNvSpPr/>
          <p:nvPr/>
        </p:nvSpPr>
        <p:spPr>
          <a:xfrm>
            <a:off x="2693891" y="2976181"/>
            <a:ext cx="426839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2693891" y="2976181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61" name="Shape 158"/>
          <p:cNvSpPr/>
          <p:nvPr/>
        </p:nvSpPr>
        <p:spPr>
          <a:xfrm>
            <a:off x="3547570" y="2976181"/>
            <a:ext cx="2134195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3594004" y="2997612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3" name="Text 160"/>
          <p:cNvSpPr/>
          <p:nvPr/>
        </p:nvSpPr>
        <p:spPr>
          <a:xfrm>
            <a:off x="3594004" y="2997612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64" name="Text 161"/>
          <p:cNvSpPr/>
          <p:nvPr/>
        </p:nvSpPr>
        <p:spPr>
          <a:xfrm>
            <a:off x="3751166" y="2999398"/>
            <a:ext cx="350044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IP_ADDRESS</a:t>
            </a:r>
            <a:endParaRPr lang="en-US" sz="400" dirty="0"/>
          </a:p>
        </p:txBody>
      </p:sp>
      <p:sp>
        <p:nvSpPr>
          <p:cNvPr id="165" name="Text 162"/>
          <p:cNvSpPr/>
          <p:nvPr/>
        </p:nvSpPr>
        <p:spPr>
          <a:xfrm>
            <a:off x="4117284" y="2999398"/>
            <a:ext cx="117872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66" name="Shape 163"/>
          <p:cNvSpPr/>
          <p:nvPr/>
        </p:nvSpPr>
        <p:spPr>
          <a:xfrm>
            <a:off x="5681765" y="2976181"/>
            <a:ext cx="3158626" cy="17993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5681765" y="2976181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Originating IP address captured for wallet app, web checkout, or fraud monitoring.</a:t>
            </a:r>
            <a:endParaRPr lang="en-US" sz="400" dirty="0"/>
          </a:p>
        </p:txBody>
      </p:sp>
      <p:sp>
        <p:nvSpPr>
          <p:cNvPr id="168" name="Shape 165"/>
          <p:cNvSpPr/>
          <p:nvPr/>
        </p:nvSpPr>
        <p:spPr>
          <a:xfrm>
            <a:off x="303609" y="3156114"/>
            <a:ext cx="1280517" cy="18350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346472" y="3182903"/>
            <a:ext cx="70192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transaction_timestamp</a:t>
            </a:r>
            <a:endParaRPr lang="en-US" sz="400" dirty="0"/>
          </a:p>
        </p:txBody>
      </p:sp>
      <p:sp>
        <p:nvSpPr>
          <p:cNvPr id="170" name="Shape 167"/>
          <p:cNvSpPr/>
          <p:nvPr/>
        </p:nvSpPr>
        <p:spPr>
          <a:xfrm>
            <a:off x="1584127" y="3156114"/>
            <a:ext cx="1109765" cy="18350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1626989" y="3170402"/>
            <a:ext cx="273248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</a:t>
            </a:r>
            <a:endParaRPr lang="en-US" sz="400" dirty="0"/>
          </a:p>
        </p:txBody>
      </p:sp>
      <p:sp>
        <p:nvSpPr>
          <p:cNvPr id="172" name="Text 169"/>
          <p:cNvSpPr/>
          <p:nvPr/>
        </p:nvSpPr>
        <p:spPr>
          <a:xfrm>
            <a:off x="1626989" y="3243402"/>
            <a:ext cx="300847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400" dirty="0"/>
          </a:p>
        </p:txBody>
      </p:sp>
      <p:sp>
        <p:nvSpPr>
          <p:cNvPr id="173" name="Shape 170"/>
          <p:cNvSpPr/>
          <p:nvPr/>
        </p:nvSpPr>
        <p:spPr>
          <a:xfrm>
            <a:off x="2693891" y="3152542"/>
            <a:ext cx="426839" cy="17993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2693891" y="3152542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175" name="Shape 172"/>
          <p:cNvSpPr/>
          <p:nvPr/>
        </p:nvSpPr>
        <p:spPr>
          <a:xfrm>
            <a:off x="3547570" y="3152542"/>
            <a:ext cx="2134195" cy="17993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3594004" y="3173974"/>
            <a:ext cx="262533" cy="73419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7" name="Text 174"/>
          <p:cNvSpPr/>
          <p:nvPr/>
        </p:nvSpPr>
        <p:spPr>
          <a:xfrm>
            <a:off x="3594004" y="3173974"/>
            <a:ext cx="262533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78" name="Shape 175"/>
          <p:cNvSpPr/>
          <p:nvPr/>
        </p:nvSpPr>
        <p:spPr>
          <a:xfrm>
            <a:off x="5681765" y="3152542"/>
            <a:ext cx="3158626" cy="17993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5681765" y="3152542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when the payment transaction was initiated or authorized.</a:t>
            </a:r>
            <a:endParaRPr lang="en-US" sz="400" dirty="0"/>
          </a:p>
        </p:txBody>
      </p:sp>
      <p:sp>
        <p:nvSpPr>
          <p:cNvPr id="180" name="Shape 177"/>
          <p:cNvSpPr/>
          <p:nvPr/>
        </p:nvSpPr>
        <p:spPr>
          <a:xfrm>
            <a:off x="303609" y="3332476"/>
            <a:ext cx="1280517" cy="18350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346472" y="3359265"/>
            <a:ext cx="33424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amount_egp</a:t>
            </a:r>
            <a:endParaRPr lang="en-US" sz="400" dirty="0"/>
          </a:p>
        </p:txBody>
      </p:sp>
      <p:sp>
        <p:nvSpPr>
          <p:cNvPr id="182" name="Shape 179"/>
          <p:cNvSpPr/>
          <p:nvPr/>
        </p:nvSpPr>
        <p:spPr>
          <a:xfrm>
            <a:off x="1584127" y="3332476"/>
            <a:ext cx="1109765" cy="18350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1626989" y="3346763"/>
            <a:ext cx="20002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</a:t>
            </a:r>
            <a:endParaRPr lang="en-US" sz="400" dirty="0"/>
          </a:p>
        </p:txBody>
      </p:sp>
      <p:sp>
        <p:nvSpPr>
          <p:cNvPr id="184" name="Text 181"/>
          <p:cNvSpPr/>
          <p:nvPr/>
        </p:nvSpPr>
        <p:spPr>
          <a:xfrm>
            <a:off x="1626989" y="3419763"/>
            <a:ext cx="434541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DECIMAL(12,2)</a:t>
            </a:r>
            <a:endParaRPr lang="en-US" sz="400" dirty="0"/>
          </a:p>
        </p:txBody>
      </p:sp>
      <p:sp>
        <p:nvSpPr>
          <p:cNvPr id="185" name="Shape 182"/>
          <p:cNvSpPr/>
          <p:nvPr/>
        </p:nvSpPr>
        <p:spPr>
          <a:xfrm>
            <a:off x="2693891" y="3328904"/>
            <a:ext cx="426839" cy="17993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2693891" y="3328904"/>
            <a:ext cx="426839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187" name="Shape 184"/>
          <p:cNvSpPr/>
          <p:nvPr/>
        </p:nvSpPr>
        <p:spPr>
          <a:xfrm>
            <a:off x="3547570" y="3328904"/>
            <a:ext cx="2134195" cy="17993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3594004" y="3350335"/>
            <a:ext cx="262533" cy="73419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9" name="Text 186"/>
          <p:cNvSpPr/>
          <p:nvPr/>
        </p:nvSpPr>
        <p:spPr>
          <a:xfrm>
            <a:off x="3594004" y="3350335"/>
            <a:ext cx="262533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90" name="Shape 187"/>
          <p:cNvSpPr/>
          <p:nvPr/>
        </p:nvSpPr>
        <p:spPr>
          <a:xfrm>
            <a:off x="5681765" y="3328904"/>
            <a:ext cx="3158626" cy="17993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681765" y="3328904"/>
            <a:ext cx="3158626" cy="17993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amount in Egyptian pounds.</a:t>
            </a:r>
            <a:endParaRPr lang="en-US" sz="400" dirty="0"/>
          </a:p>
        </p:txBody>
      </p:sp>
      <p:sp>
        <p:nvSpPr>
          <p:cNvPr id="192" name="Shape 189"/>
          <p:cNvSpPr/>
          <p:nvPr/>
        </p:nvSpPr>
        <p:spPr>
          <a:xfrm>
            <a:off x="303609" y="3508837"/>
            <a:ext cx="1280517" cy="18350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342900" y="3535626"/>
            <a:ext cx="601666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transaction_status</a:t>
            </a:r>
            <a:endParaRPr lang="en-US" sz="400" dirty="0"/>
          </a:p>
        </p:txBody>
      </p:sp>
      <p:sp>
        <p:nvSpPr>
          <p:cNvPr id="194" name="Shape 191"/>
          <p:cNvSpPr/>
          <p:nvPr/>
        </p:nvSpPr>
        <p:spPr>
          <a:xfrm>
            <a:off x="1581085" y="3508837"/>
            <a:ext cx="1110239" cy="18350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1623947" y="3523124"/>
            <a:ext cx="14823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96" name="Text 193"/>
          <p:cNvSpPr/>
          <p:nvPr/>
        </p:nvSpPr>
        <p:spPr>
          <a:xfrm>
            <a:off x="1623947" y="3596125"/>
            <a:ext cx="3676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VARCHAR(24)</a:t>
            </a:r>
            <a:endParaRPr lang="en-US" sz="400" dirty="0"/>
          </a:p>
        </p:txBody>
      </p:sp>
      <p:sp>
        <p:nvSpPr>
          <p:cNvPr id="197" name="Shape 194"/>
          <p:cNvSpPr/>
          <p:nvPr/>
        </p:nvSpPr>
        <p:spPr>
          <a:xfrm>
            <a:off x="2691324" y="3505265"/>
            <a:ext cx="427006" cy="17636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2691324" y="3505265"/>
            <a:ext cx="427006" cy="17636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199" name="Shape 196"/>
          <p:cNvSpPr/>
          <p:nvPr/>
        </p:nvSpPr>
        <p:spPr>
          <a:xfrm>
            <a:off x="3545337" y="3505265"/>
            <a:ext cx="2135088" cy="17636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3591771" y="3526696"/>
            <a:ext cx="262533" cy="73419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01" name="Text 198"/>
          <p:cNvSpPr/>
          <p:nvPr/>
        </p:nvSpPr>
        <p:spPr>
          <a:xfrm>
            <a:off x="3591771" y="3526696"/>
            <a:ext cx="262533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202" name="Shape 199"/>
          <p:cNvSpPr/>
          <p:nvPr/>
        </p:nvSpPr>
        <p:spPr>
          <a:xfrm>
            <a:off x="5680425" y="3505265"/>
            <a:ext cx="3159965" cy="17636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5680425" y="3505265"/>
            <a:ext cx="3159965" cy="17636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status such as authorized, captured, failed, reversed, refunded, or disputed.</a:t>
            </a:r>
            <a:endParaRPr lang="en-US" sz="400" dirty="0"/>
          </a:p>
        </p:txBody>
      </p:sp>
      <p:sp>
        <p:nvSpPr>
          <p:cNvPr id="204" name="Shape 201"/>
          <p:cNvSpPr/>
          <p:nvPr/>
        </p:nvSpPr>
        <p:spPr>
          <a:xfrm>
            <a:off x="300038" y="3756636"/>
            <a:ext cx="8543925" cy="257175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05" name="Shape 202"/>
          <p:cNvSpPr/>
          <p:nvPr/>
        </p:nvSpPr>
        <p:spPr>
          <a:xfrm>
            <a:off x="300038" y="3756636"/>
            <a:ext cx="85439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6" name="Text 203"/>
          <p:cNvSpPr/>
          <p:nvPr/>
        </p:nvSpPr>
        <p:spPr>
          <a:xfrm>
            <a:off x="300038" y="3756636"/>
            <a:ext cx="8543925" cy="257175"/>
          </a:xfrm>
          <a:prstGeom prst="rect">
            <a:avLst/>
          </a:prstGeom>
          <a:noFill/>
          <a:ln/>
        </p:spPr>
        <p:txBody>
          <a:bodyPr wrap="square" lIns="85090" tIns="59563" rIns="8509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Scanner validation focus:</a:t>
            </a:r>
            <a:r>
              <a:rPr lang="en-US" sz="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transaction table deliberately combines wallet identifiers, mobile numbers, merchant/order references, card artifacts, device fingerprinting, and IP evidence, so PII detection should evaluate both direct identifiers and </a:t>
            </a:r>
            <a:r>
              <a:rPr lang="en-US" sz="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high-linkability payment metadata.</a:t>
            </a:r>
            <a:endParaRPr lang="en-US" sz="500" dirty="0"/>
          </a:p>
        </p:txBody>
      </p:sp>
      <p:sp>
        <p:nvSpPr>
          <p:cNvPr id="207" name="Text 204"/>
          <p:cNvSpPr/>
          <p:nvPr/>
        </p:nvSpPr>
        <p:spPr>
          <a:xfrm>
            <a:off x="300038" y="4078105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208" name="Text 205"/>
          <p:cNvSpPr/>
          <p:nvPr/>
        </p:nvSpPr>
        <p:spPr>
          <a:xfrm>
            <a:off x="7688461" y="4078105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DB277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SUPPORT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support_ticket_free_text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343900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 ticket and free-text interaction log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Customer-service ticket table for testing structured contact fields and unstructured free-text PII entered by customers, agents, or chat/call-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center systems. Granularity: one row per support ticket or interaction record.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471488" cy="164306"/>
          </a:xfrm>
          <a:prstGeom prst="rect">
            <a:avLst/>
          </a:prstGeom>
          <a:solidFill>
            <a:srgbClr val="FCE7F3"/>
          </a:solidFill>
          <a:ln w="9144">
            <a:solidFill>
              <a:srgbClr val="DB277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47148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DB277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Support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828675" y="1009724"/>
            <a:ext cx="576858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8675" y="1009724"/>
            <a:ext cx="57685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11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462683" y="1009724"/>
            <a:ext cx="325041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2683" y="1009724"/>
            <a:ext cx="32504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8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1844873" y="1009724"/>
            <a:ext cx="510778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44873" y="1009724"/>
            <a:ext cx="51077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0471"/>
            <a:ext cx="1280517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0471"/>
            <a:ext cx="1280517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0471"/>
            <a:ext cx="1109765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0471"/>
            <a:ext cx="1109765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0471"/>
            <a:ext cx="426839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0471"/>
            <a:ext cx="426839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0471"/>
            <a:ext cx="426839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0471"/>
            <a:ext cx="426839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0471"/>
            <a:ext cx="2134195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0471"/>
            <a:ext cx="2134195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0471"/>
            <a:ext cx="3158626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0471"/>
            <a:ext cx="3158626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392501"/>
            <a:ext cx="1280517" cy="18612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21076"/>
            <a:ext cx="30280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ticket_id</a:t>
            </a:r>
            <a:endParaRPr lang="en-US" sz="400" dirty="0"/>
          </a:p>
        </p:txBody>
      </p:sp>
      <p:sp>
        <p:nvSpPr>
          <p:cNvPr id="28" name="Shape 25"/>
          <p:cNvSpPr/>
          <p:nvPr/>
        </p:nvSpPr>
        <p:spPr>
          <a:xfrm>
            <a:off x="1584127" y="1392501"/>
            <a:ext cx="1109765" cy="18612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12146"/>
            <a:ext cx="15180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30" name="Text 27"/>
          <p:cNvSpPr/>
          <p:nvPr/>
        </p:nvSpPr>
        <p:spPr>
          <a:xfrm>
            <a:off x="1626989" y="1485565"/>
            <a:ext cx="3700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31" name="Shape 28"/>
          <p:cNvSpPr/>
          <p:nvPr/>
        </p:nvSpPr>
        <p:spPr>
          <a:xfrm>
            <a:off x="2693891" y="1392501"/>
            <a:ext cx="426839" cy="18255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392501"/>
            <a:ext cx="426839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33" name="Shape 30"/>
          <p:cNvSpPr/>
          <p:nvPr/>
        </p:nvSpPr>
        <p:spPr>
          <a:xfrm>
            <a:off x="3120730" y="1392501"/>
            <a:ext cx="426839" cy="18255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392501"/>
            <a:ext cx="426839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00" dirty="0"/>
          </a:p>
        </p:txBody>
      </p:sp>
      <p:sp>
        <p:nvSpPr>
          <p:cNvPr id="35" name="Shape 32"/>
          <p:cNvSpPr/>
          <p:nvPr/>
        </p:nvSpPr>
        <p:spPr>
          <a:xfrm>
            <a:off x="3547570" y="1392501"/>
            <a:ext cx="2134195" cy="18255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13932"/>
            <a:ext cx="262533" cy="73419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13932"/>
            <a:ext cx="262533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38" name="Shape 35"/>
          <p:cNvSpPr/>
          <p:nvPr/>
        </p:nvSpPr>
        <p:spPr>
          <a:xfrm>
            <a:off x="5681765" y="1392501"/>
            <a:ext cx="3158626" cy="18255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81765" y="1392501"/>
            <a:ext cx="3158626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support ticket or interaction identifier.</a:t>
            </a:r>
            <a:endParaRPr lang="en-US" sz="400" dirty="0"/>
          </a:p>
        </p:txBody>
      </p:sp>
      <p:sp>
        <p:nvSpPr>
          <p:cNvPr id="40" name="Shape 37"/>
          <p:cNvSpPr/>
          <p:nvPr/>
        </p:nvSpPr>
        <p:spPr>
          <a:xfrm>
            <a:off x="303609" y="1571485"/>
            <a:ext cx="1280517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46472" y="1600060"/>
            <a:ext cx="3700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400" dirty="0"/>
          </a:p>
        </p:txBody>
      </p:sp>
      <p:sp>
        <p:nvSpPr>
          <p:cNvPr id="42" name="Shape 39"/>
          <p:cNvSpPr/>
          <p:nvPr/>
        </p:nvSpPr>
        <p:spPr>
          <a:xfrm>
            <a:off x="1584127" y="1571485"/>
            <a:ext cx="1109765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26989" y="1587559"/>
            <a:ext cx="15180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44" name="Text 41"/>
          <p:cNvSpPr/>
          <p:nvPr/>
        </p:nvSpPr>
        <p:spPr>
          <a:xfrm>
            <a:off x="1626989" y="1660978"/>
            <a:ext cx="3700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45" name="Shape 42"/>
          <p:cNvSpPr/>
          <p:nvPr/>
        </p:nvSpPr>
        <p:spPr>
          <a:xfrm>
            <a:off x="2693891" y="1567914"/>
            <a:ext cx="426839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693891" y="1567914"/>
            <a:ext cx="426839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47" name="Shape 44"/>
          <p:cNvSpPr/>
          <p:nvPr/>
        </p:nvSpPr>
        <p:spPr>
          <a:xfrm>
            <a:off x="3547570" y="1567914"/>
            <a:ext cx="2134195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594004" y="1589345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9" name="Text 46"/>
          <p:cNvSpPr/>
          <p:nvPr/>
        </p:nvSpPr>
        <p:spPr>
          <a:xfrm>
            <a:off x="3594004" y="1589345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0" name="Text 47"/>
          <p:cNvSpPr/>
          <p:nvPr/>
        </p:nvSpPr>
        <p:spPr>
          <a:xfrm>
            <a:off x="3751166" y="1591131"/>
            <a:ext cx="408980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CUSTOMER_ID</a:t>
            </a:r>
            <a:endParaRPr lang="en-US" sz="400" dirty="0"/>
          </a:p>
        </p:txBody>
      </p:sp>
      <p:sp>
        <p:nvSpPr>
          <p:cNvPr id="51" name="Text 48"/>
          <p:cNvSpPr/>
          <p:nvPr/>
        </p:nvSpPr>
        <p:spPr>
          <a:xfrm>
            <a:off x="4176220" y="1591131"/>
            <a:ext cx="27146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52" name="Shape 49"/>
          <p:cNvSpPr/>
          <p:nvPr/>
        </p:nvSpPr>
        <p:spPr>
          <a:xfrm>
            <a:off x="5681765" y="1567914"/>
            <a:ext cx="3158626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81765" y="1567914"/>
            <a:ext cx="3158626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profile, account, wallet, or commerce customer reference associated with the ticket.</a:t>
            </a:r>
            <a:endParaRPr lang="en-US" sz="400" dirty="0"/>
          </a:p>
        </p:txBody>
      </p:sp>
      <p:sp>
        <p:nvSpPr>
          <p:cNvPr id="54" name="Shape 51"/>
          <p:cNvSpPr/>
          <p:nvPr/>
        </p:nvSpPr>
        <p:spPr>
          <a:xfrm>
            <a:off x="303609" y="1750470"/>
            <a:ext cx="1280517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46472" y="1779045"/>
            <a:ext cx="471013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contact_mobile</a:t>
            </a:r>
            <a:endParaRPr lang="en-US" sz="400" dirty="0"/>
          </a:p>
        </p:txBody>
      </p:sp>
      <p:sp>
        <p:nvSpPr>
          <p:cNvPr id="56" name="Shape 53"/>
          <p:cNvSpPr/>
          <p:nvPr/>
        </p:nvSpPr>
        <p:spPr>
          <a:xfrm>
            <a:off x="1584127" y="1750470"/>
            <a:ext cx="1109765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626989" y="1766543"/>
            <a:ext cx="15180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58" name="Text 55"/>
          <p:cNvSpPr/>
          <p:nvPr/>
        </p:nvSpPr>
        <p:spPr>
          <a:xfrm>
            <a:off x="1626989" y="1839962"/>
            <a:ext cx="3700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VARCHAR(16)</a:t>
            </a:r>
            <a:endParaRPr lang="en-US" sz="400" dirty="0"/>
          </a:p>
        </p:txBody>
      </p:sp>
      <p:sp>
        <p:nvSpPr>
          <p:cNvPr id="59" name="Shape 56"/>
          <p:cNvSpPr/>
          <p:nvPr/>
        </p:nvSpPr>
        <p:spPr>
          <a:xfrm>
            <a:off x="2693891" y="1746898"/>
            <a:ext cx="426839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693891" y="1746898"/>
            <a:ext cx="426839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61" name="Shape 58"/>
          <p:cNvSpPr/>
          <p:nvPr/>
        </p:nvSpPr>
        <p:spPr>
          <a:xfrm>
            <a:off x="3547570" y="1746898"/>
            <a:ext cx="2134195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594004" y="1768329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3" name="Text 60"/>
          <p:cNvSpPr/>
          <p:nvPr/>
        </p:nvSpPr>
        <p:spPr>
          <a:xfrm>
            <a:off x="3594004" y="1768329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4" name="Text 61"/>
          <p:cNvSpPr/>
          <p:nvPr/>
        </p:nvSpPr>
        <p:spPr>
          <a:xfrm>
            <a:off x="3751166" y="1770115"/>
            <a:ext cx="53935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EGYPTIAN_MOBILE</a:t>
            </a:r>
            <a:endParaRPr lang="en-US" sz="400" dirty="0"/>
          </a:p>
        </p:txBody>
      </p:sp>
      <p:sp>
        <p:nvSpPr>
          <p:cNvPr id="65" name="Text 62"/>
          <p:cNvSpPr/>
          <p:nvPr/>
        </p:nvSpPr>
        <p:spPr>
          <a:xfrm>
            <a:off x="4306593" y="1770115"/>
            <a:ext cx="123230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66" name="Shape 63"/>
          <p:cNvSpPr/>
          <p:nvPr/>
        </p:nvSpPr>
        <p:spPr>
          <a:xfrm>
            <a:off x="5681765" y="1746898"/>
            <a:ext cx="3158626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681765" y="1746898"/>
            <a:ext cx="3158626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number provided for callback, OTP troubleshooting, delivery support, or service follow-up.</a:t>
            </a:r>
            <a:endParaRPr lang="en-US" sz="400" dirty="0"/>
          </a:p>
        </p:txBody>
      </p:sp>
      <p:sp>
        <p:nvSpPr>
          <p:cNvPr id="68" name="Shape 65"/>
          <p:cNvSpPr/>
          <p:nvPr/>
        </p:nvSpPr>
        <p:spPr>
          <a:xfrm>
            <a:off x="303609" y="1929454"/>
            <a:ext cx="1280517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46472" y="1958029"/>
            <a:ext cx="43735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contact_email</a:t>
            </a:r>
            <a:endParaRPr lang="en-US" sz="400" dirty="0"/>
          </a:p>
        </p:txBody>
      </p:sp>
      <p:sp>
        <p:nvSpPr>
          <p:cNvPr id="70" name="Shape 67"/>
          <p:cNvSpPr/>
          <p:nvPr/>
        </p:nvSpPr>
        <p:spPr>
          <a:xfrm>
            <a:off x="1584127" y="1929454"/>
            <a:ext cx="1109765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626989" y="1945528"/>
            <a:ext cx="15180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72" name="Text 69"/>
          <p:cNvSpPr/>
          <p:nvPr/>
        </p:nvSpPr>
        <p:spPr>
          <a:xfrm>
            <a:off x="1626989" y="2018947"/>
            <a:ext cx="403733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VARCHAR(254)</a:t>
            </a:r>
            <a:endParaRPr lang="en-US" sz="400" dirty="0"/>
          </a:p>
        </p:txBody>
      </p:sp>
      <p:sp>
        <p:nvSpPr>
          <p:cNvPr id="73" name="Shape 70"/>
          <p:cNvSpPr/>
          <p:nvPr/>
        </p:nvSpPr>
        <p:spPr>
          <a:xfrm>
            <a:off x="2693891" y="1925882"/>
            <a:ext cx="426839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693891" y="1925882"/>
            <a:ext cx="426839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75" name="Shape 72"/>
          <p:cNvSpPr/>
          <p:nvPr/>
        </p:nvSpPr>
        <p:spPr>
          <a:xfrm>
            <a:off x="3547570" y="1925882"/>
            <a:ext cx="2134195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594004" y="1947314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7" name="Text 74"/>
          <p:cNvSpPr/>
          <p:nvPr/>
        </p:nvSpPr>
        <p:spPr>
          <a:xfrm>
            <a:off x="3594004" y="1947314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78" name="Text 75"/>
          <p:cNvSpPr/>
          <p:nvPr/>
        </p:nvSpPr>
        <p:spPr>
          <a:xfrm>
            <a:off x="3751166" y="1949100"/>
            <a:ext cx="47684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EMAIL_ADDRESS</a:t>
            </a:r>
            <a:endParaRPr lang="en-US" sz="400" dirty="0"/>
          </a:p>
        </p:txBody>
      </p:sp>
      <p:sp>
        <p:nvSpPr>
          <p:cNvPr id="79" name="Text 76"/>
          <p:cNvSpPr/>
          <p:nvPr/>
        </p:nvSpPr>
        <p:spPr>
          <a:xfrm>
            <a:off x="4244085" y="1949100"/>
            <a:ext cx="123230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80" name="Shape 77"/>
          <p:cNvSpPr/>
          <p:nvPr/>
        </p:nvSpPr>
        <p:spPr>
          <a:xfrm>
            <a:off x="5681765" y="1925882"/>
            <a:ext cx="3158626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681765" y="1925882"/>
            <a:ext cx="3158626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address used for customer support replies, case escalation, or account recovery.</a:t>
            </a:r>
            <a:endParaRPr lang="en-US" sz="400" dirty="0"/>
          </a:p>
        </p:txBody>
      </p:sp>
      <p:sp>
        <p:nvSpPr>
          <p:cNvPr id="82" name="Shape 79"/>
          <p:cNvSpPr/>
          <p:nvPr/>
        </p:nvSpPr>
        <p:spPr>
          <a:xfrm>
            <a:off x="303609" y="2108439"/>
            <a:ext cx="1280517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46472" y="2137014"/>
            <a:ext cx="43735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agent_user_id</a:t>
            </a:r>
            <a:endParaRPr lang="en-US" sz="400" dirty="0"/>
          </a:p>
        </p:txBody>
      </p:sp>
      <p:sp>
        <p:nvSpPr>
          <p:cNvPr id="84" name="Shape 81"/>
          <p:cNvSpPr/>
          <p:nvPr/>
        </p:nvSpPr>
        <p:spPr>
          <a:xfrm>
            <a:off x="1584127" y="2108439"/>
            <a:ext cx="1109765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626989" y="2124512"/>
            <a:ext cx="15180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86" name="Text 83"/>
          <p:cNvSpPr/>
          <p:nvPr/>
        </p:nvSpPr>
        <p:spPr>
          <a:xfrm>
            <a:off x="1626989" y="2197931"/>
            <a:ext cx="3700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VARCHAR(64)</a:t>
            </a:r>
            <a:endParaRPr lang="en-US" sz="400" dirty="0"/>
          </a:p>
        </p:txBody>
      </p:sp>
      <p:sp>
        <p:nvSpPr>
          <p:cNvPr id="87" name="Shape 84"/>
          <p:cNvSpPr/>
          <p:nvPr/>
        </p:nvSpPr>
        <p:spPr>
          <a:xfrm>
            <a:off x="2693891" y="2104867"/>
            <a:ext cx="426839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693891" y="2104867"/>
            <a:ext cx="426839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89" name="Shape 86"/>
          <p:cNvSpPr/>
          <p:nvPr/>
        </p:nvSpPr>
        <p:spPr>
          <a:xfrm>
            <a:off x="3547570" y="2104867"/>
            <a:ext cx="2134195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94004" y="2126298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1" name="Text 88"/>
          <p:cNvSpPr/>
          <p:nvPr/>
        </p:nvSpPr>
        <p:spPr>
          <a:xfrm>
            <a:off x="3594004" y="2126298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2" name="Text 89"/>
          <p:cNvSpPr/>
          <p:nvPr/>
        </p:nvSpPr>
        <p:spPr>
          <a:xfrm>
            <a:off x="3751166" y="2128084"/>
            <a:ext cx="391120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EMPLOYEE_ID</a:t>
            </a:r>
            <a:endParaRPr lang="en-US" sz="400" dirty="0"/>
          </a:p>
        </p:txBody>
      </p:sp>
      <p:sp>
        <p:nvSpPr>
          <p:cNvPr id="93" name="Text 90"/>
          <p:cNvSpPr/>
          <p:nvPr/>
        </p:nvSpPr>
        <p:spPr>
          <a:xfrm>
            <a:off x="4158360" y="2128084"/>
            <a:ext cx="271463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94" name="Shape 91"/>
          <p:cNvSpPr/>
          <p:nvPr/>
        </p:nvSpPr>
        <p:spPr>
          <a:xfrm>
            <a:off x="5681765" y="2104867"/>
            <a:ext cx="3158626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681765" y="2104867"/>
            <a:ext cx="3158626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agent or back-office user identifier linked to ticket handling.</a:t>
            </a:r>
            <a:endParaRPr lang="en-US" sz="400" dirty="0"/>
          </a:p>
        </p:txBody>
      </p:sp>
      <p:sp>
        <p:nvSpPr>
          <p:cNvPr id="96" name="Shape 93"/>
          <p:cNvSpPr/>
          <p:nvPr/>
        </p:nvSpPr>
        <p:spPr>
          <a:xfrm>
            <a:off x="303609" y="2287423"/>
            <a:ext cx="1280517" cy="18612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46472" y="2315998"/>
            <a:ext cx="50463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support_channel</a:t>
            </a:r>
            <a:endParaRPr lang="en-US" sz="400" dirty="0"/>
          </a:p>
        </p:txBody>
      </p:sp>
      <p:sp>
        <p:nvSpPr>
          <p:cNvPr id="98" name="Shape 95"/>
          <p:cNvSpPr/>
          <p:nvPr/>
        </p:nvSpPr>
        <p:spPr>
          <a:xfrm>
            <a:off x="1584127" y="2287423"/>
            <a:ext cx="1109765" cy="18612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626989" y="2303497"/>
            <a:ext cx="15180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00" name="Text 97"/>
          <p:cNvSpPr/>
          <p:nvPr/>
        </p:nvSpPr>
        <p:spPr>
          <a:xfrm>
            <a:off x="1626989" y="2376915"/>
            <a:ext cx="3700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VARCHAR(30)</a:t>
            </a:r>
            <a:endParaRPr lang="en-US" sz="400" dirty="0"/>
          </a:p>
        </p:txBody>
      </p:sp>
      <p:sp>
        <p:nvSpPr>
          <p:cNvPr id="101" name="Shape 98"/>
          <p:cNvSpPr/>
          <p:nvPr/>
        </p:nvSpPr>
        <p:spPr>
          <a:xfrm>
            <a:off x="2693891" y="2283851"/>
            <a:ext cx="426839" cy="18255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693891" y="2283851"/>
            <a:ext cx="426839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03" name="Shape 100"/>
          <p:cNvSpPr/>
          <p:nvPr/>
        </p:nvSpPr>
        <p:spPr>
          <a:xfrm>
            <a:off x="3547570" y="2283851"/>
            <a:ext cx="2134195" cy="18255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594004" y="2305283"/>
            <a:ext cx="262533" cy="73419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5" name="Text 102"/>
          <p:cNvSpPr/>
          <p:nvPr/>
        </p:nvSpPr>
        <p:spPr>
          <a:xfrm>
            <a:off x="3594004" y="2305283"/>
            <a:ext cx="262533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06" name="Shape 103"/>
          <p:cNvSpPr/>
          <p:nvPr/>
        </p:nvSpPr>
        <p:spPr>
          <a:xfrm>
            <a:off x="5681765" y="2283851"/>
            <a:ext cx="3158626" cy="18255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681765" y="2283851"/>
            <a:ext cx="3158626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such as call center, WhatsApp, live chat, email, social media, branch, or in-app support.</a:t>
            </a:r>
            <a:endParaRPr lang="en-US" sz="400" dirty="0"/>
          </a:p>
        </p:txBody>
      </p:sp>
      <p:sp>
        <p:nvSpPr>
          <p:cNvPr id="108" name="Shape 105"/>
          <p:cNvSpPr/>
          <p:nvPr/>
        </p:nvSpPr>
        <p:spPr>
          <a:xfrm>
            <a:off x="303609" y="2466408"/>
            <a:ext cx="1280517" cy="18612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46472" y="2494983"/>
            <a:ext cx="50463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ticket_category</a:t>
            </a:r>
            <a:endParaRPr lang="en-US" sz="400" dirty="0"/>
          </a:p>
        </p:txBody>
      </p:sp>
      <p:sp>
        <p:nvSpPr>
          <p:cNvPr id="110" name="Shape 107"/>
          <p:cNvSpPr/>
          <p:nvPr/>
        </p:nvSpPr>
        <p:spPr>
          <a:xfrm>
            <a:off x="1584127" y="2466408"/>
            <a:ext cx="1109765" cy="186128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626989" y="2482481"/>
            <a:ext cx="15180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12" name="Text 109"/>
          <p:cNvSpPr/>
          <p:nvPr/>
        </p:nvSpPr>
        <p:spPr>
          <a:xfrm>
            <a:off x="1626989" y="2555900"/>
            <a:ext cx="3700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VARCHAR(60)</a:t>
            </a:r>
            <a:endParaRPr lang="en-US" sz="400" dirty="0"/>
          </a:p>
        </p:txBody>
      </p:sp>
      <p:sp>
        <p:nvSpPr>
          <p:cNvPr id="113" name="Shape 110"/>
          <p:cNvSpPr/>
          <p:nvPr/>
        </p:nvSpPr>
        <p:spPr>
          <a:xfrm>
            <a:off x="2693891" y="2462836"/>
            <a:ext cx="426839" cy="18255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2693891" y="2462836"/>
            <a:ext cx="426839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15" name="Shape 112"/>
          <p:cNvSpPr/>
          <p:nvPr/>
        </p:nvSpPr>
        <p:spPr>
          <a:xfrm>
            <a:off x="3547570" y="2462836"/>
            <a:ext cx="2134195" cy="18255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3594004" y="2484267"/>
            <a:ext cx="262533" cy="73419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7" name="Text 114"/>
          <p:cNvSpPr/>
          <p:nvPr/>
        </p:nvSpPr>
        <p:spPr>
          <a:xfrm>
            <a:off x="3594004" y="2484267"/>
            <a:ext cx="262533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18" name="Shape 115"/>
          <p:cNvSpPr/>
          <p:nvPr/>
        </p:nvSpPr>
        <p:spPr>
          <a:xfrm>
            <a:off x="5681765" y="2462836"/>
            <a:ext cx="3158626" cy="182556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5681765" y="2462836"/>
            <a:ext cx="3158626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category such as billing dispute, delivery issue, wallet access, SIM replacement, refund, or complaint.</a:t>
            </a:r>
            <a:endParaRPr lang="en-US" sz="400" dirty="0"/>
          </a:p>
        </p:txBody>
      </p:sp>
      <p:sp>
        <p:nvSpPr>
          <p:cNvPr id="120" name="Shape 117"/>
          <p:cNvSpPr/>
          <p:nvPr/>
        </p:nvSpPr>
        <p:spPr>
          <a:xfrm>
            <a:off x="303609" y="2645392"/>
            <a:ext cx="1280517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346472" y="2673967"/>
            <a:ext cx="471013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ticket_subject</a:t>
            </a:r>
            <a:endParaRPr lang="en-US" sz="400" dirty="0"/>
          </a:p>
        </p:txBody>
      </p:sp>
      <p:sp>
        <p:nvSpPr>
          <p:cNvPr id="122" name="Shape 119"/>
          <p:cNvSpPr/>
          <p:nvPr/>
        </p:nvSpPr>
        <p:spPr>
          <a:xfrm>
            <a:off x="1584127" y="2645392"/>
            <a:ext cx="1109765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1626989" y="2661465"/>
            <a:ext cx="15180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24" name="Text 121"/>
          <p:cNvSpPr/>
          <p:nvPr/>
        </p:nvSpPr>
        <p:spPr>
          <a:xfrm>
            <a:off x="1626989" y="2734884"/>
            <a:ext cx="437359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NVARCHAR(250)</a:t>
            </a:r>
            <a:endParaRPr lang="en-US" sz="400" dirty="0"/>
          </a:p>
        </p:txBody>
      </p:sp>
      <p:sp>
        <p:nvSpPr>
          <p:cNvPr id="125" name="Shape 122"/>
          <p:cNvSpPr/>
          <p:nvPr/>
        </p:nvSpPr>
        <p:spPr>
          <a:xfrm>
            <a:off x="2693891" y="2641820"/>
            <a:ext cx="426839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2693891" y="2641820"/>
            <a:ext cx="426839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27" name="Shape 124"/>
          <p:cNvSpPr/>
          <p:nvPr/>
        </p:nvSpPr>
        <p:spPr>
          <a:xfrm>
            <a:off x="3547570" y="2641820"/>
            <a:ext cx="2134195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594004" y="2663251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9" name="Text 126"/>
          <p:cNvSpPr/>
          <p:nvPr/>
        </p:nvSpPr>
        <p:spPr>
          <a:xfrm>
            <a:off x="3594004" y="2663251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0" name="Text 127"/>
          <p:cNvSpPr/>
          <p:nvPr/>
        </p:nvSpPr>
        <p:spPr>
          <a:xfrm>
            <a:off x="3751166" y="2665037"/>
            <a:ext cx="403622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FREE_TEXT_PII</a:t>
            </a:r>
            <a:endParaRPr lang="en-US" sz="400" dirty="0"/>
          </a:p>
        </p:txBody>
      </p:sp>
      <p:sp>
        <p:nvSpPr>
          <p:cNvPr id="131" name="Text 128"/>
          <p:cNvSpPr/>
          <p:nvPr/>
        </p:nvSpPr>
        <p:spPr>
          <a:xfrm>
            <a:off x="4170862" y="2665037"/>
            <a:ext cx="123230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32" name="Shape 129"/>
          <p:cNvSpPr/>
          <p:nvPr/>
        </p:nvSpPr>
        <p:spPr>
          <a:xfrm>
            <a:off x="5681765" y="2641820"/>
            <a:ext cx="3158626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5681765" y="2641820"/>
            <a:ext cx="3158626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free-text subject that may contain names, phone numbers, account numbers, addresses, or complaint details.</a:t>
            </a:r>
            <a:endParaRPr lang="en-US" sz="400" dirty="0"/>
          </a:p>
        </p:txBody>
      </p:sp>
      <p:sp>
        <p:nvSpPr>
          <p:cNvPr id="134" name="Shape 131"/>
          <p:cNvSpPr/>
          <p:nvPr/>
        </p:nvSpPr>
        <p:spPr>
          <a:xfrm>
            <a:off x="303609" y="2824376"/>
            <a:ext cx="1280517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346472" y="2852951"/>
            <a:ext cx="3700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ticket_body</a:t>
            </a:r>
            <a:endParaRPr lang="en-US" sz="400" dirty="0"/>
          </a:p>
        </p:txBody>
      </p:sp>
      <p:sp>
        <p:nvSpPr>
          <p:cNvPr id="136" name="Shape 133"/>
          <p:cNvSpPr/>
          <p:nvPr/>
        </p:nvSpPr>
        <p:spPr>
          <a:xfrm>
            <a:off x="1584127" y="2824376"/>
            <a:ext cx="1109765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1626989" y="2840450"/>
            <a:ext cx="15180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38" name="Text 135"/>
          <p:cNvSpPr/>
          <p:nvPr/>
        </p:nvSpPr>
        <p:spPr>
          <a:xfrm>
            <a:off x="1626989" y="2913869"/>
            <a:ext cx="471013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NVARCHAR(4000)</a:t>
            </a:r>
            <a:endParaRPr lang="en-US" sz="400" dirty="0"/>
          </a:p>
        </p:txBody>
      </p:sp>
      <p:sp>
        <p:nvSpPr>
          <p:cNvPr id="139" name="Shape 136"/>
          <p:cNvSpPr/>
          <p:nvPr/>
        </p:nvSpPr>
        <p:spPr>
          <a:xfrm>
            <a:off x="2693891" y="2820805"/>
            <a:ext cx="426839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0" name="Text 137"/>
          <p:cNvSpPr/>
          <p:nvPr/>
        </p:nvSpPr>
        <p:spPr>
          <a:xfrm>
            <a:off x="2693891" y="2820805"/>
            <a:ext cx="426839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41" name="Shape 138"/>
          <p:cNvSpPr/>
          <p:nvPr/>
        </p:nvSpPr>
        <p:spPr>
          <a:xfrm>
            <a:off x="3547570" y="2820805"/>
            <a:ext cx="2134195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3594004" y="2842236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3" name="Text 140"/>
          <p:cNvSpPr/>
          <p:nvPr/>
        </p:nvSpPr>
        <p:spPr>
          <a:xfrm>
            <a:off x="3594004" y="2842236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44" name="Text 141"/>
          <p:cNvSpPr/>
          <p:nvPr/>
        </p:nvSpPr>
        <p:spPr>
          <a:xfrm>
            <a:off x="3751166" y="2844022"/>
            <a:ext cx="403622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FREE_TEXT_PII</a:t>
            </a:r>
            <a:endParaRPr lang="en-US" sz="400" dirty="0"/>
          </a:p>
        </p:txBody>
      </p:sp>
      <p:sp>
        <p:nvSpPr>
          <p:cNvPr id="145" name="Text 142"/>
          <p:cNvSpPr/>
          <p:nvPr/>
        </p:nvSpPr>
        <p:spPr>
          <a:xfrm>
            <a:off x="4170862" y="2844022"/>
            <a:ext cx="189309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146" name="Shape 143"/>
          <p:cNvSpPr/>
          <p:nvPr/>
        </p:nvSpPr>
        <p:spPr>
          <a:xfrm>
            <a:off x="5681765" y="2820805"/>
            <a:ext cx="3158626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5681765" y="2820805"/>
            <a:ext cx="3158626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Long-form customer or agent text that may include national IDs, wallet numbers, addresses, payment references, medical or financial details, and other unstructured PII.</a:t>
            </a:r>
            <a:endParaRPr lang="en-US" sz="400" dirty="0"/>
          </a:p>
        </p:txBody>
      </p:sp>
      <p:sp>
        <p:nvSpPr>
          <p:cNvPr id="148" name="Shape 145"/>
          <p:cNvSpPr/>
          <p:nvPr/>
        </p:nvSpPr>
        <p:spPr>
          <a:xfrm>
            <a:off x="303609" y="3003361"/>
            <a:ext cx="1280517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46472" y="3031936"/>
            <a:ext cx="471013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attachment_ref</a:t>
            </a:r>
            <a:endParaRPr lang="en-US" sz="400" dirty="0"/>
          </a:p>
        </p:txBody>
      </p:sp>
      <p:sp>
        <p:nvSpPr>
          <p:cNvPr id="150" name="Shape 147"/>
          <p:cNvSpPr/>
          <p:nvPr/>
        </p:nvSpPr>
        <p:spPr>
          <a:xfrm>
            <a:off x="1584127" y="3003361"/>
            <a:ext cx="1109765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1626989" y="3019434"/>
            <a:ext cx="15180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52" name="Text 149"/>
          <p:cNvSpPr/>
          <p:nvPr/>
        </p:nvSpPr>
        <p:spPr>
          <a:xfrm>
            <a:off x="1626989" y="3092853"/>
            <a:ext cx="403733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VARCHAR(256)</a:t>
            </a:r>
            <a:endParaRPr lang="en-US" sz="400" dirty="0"/>
          </a:p>
        </p:txBody>
      </p:sp>
      <p:sp>
        <p:nvSpPr>
          <p:cNvPr id="153" name="Shape 150"/>
          <p:cNvSpPr/>
          <p:nvPr/>
        </p:nvSpPr>
        <p:spPr>
          <a:xfrm>
            <a:off x="2693891" y="2999789"/>
            <a:ext cx="426839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2693891" y="2999789"/>
            <a:ext cx="426839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55" name="Shape 152"/>
          <p:cNvSpPr/>
          <p:nvPr/>
        </p:nvSpPr>
        <p:spPr>
          <a:xfrm>
            <a:off x="3547570" y="2999789"/>
            <a:ext cx="2134195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3594004" y="3021220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7" name="Text 154"/>
          <p:cNvSpPr/>
          <p:nvPr/>
        </p:nvSpPr>
        <p:spPr>
          <a:xfrm>
            <a:off x="3594004" y="3021220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58" name="Text 155"/>
          <p:cNvSpPr/>
          <p:nvPr/>
        </p:nvSpPr>
        <p:spPr>
          <a:xfrm>
            <a:off x="3751166" y="3023006"/>
            <a:ext cx="678656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DOCUMENT_IMAGE_REF</a:t>
            </a:r>
            <a:endParaRPr lang="en-US" sz="400" dirty="0"/>
          </a:p>
        </p:txBody>
      </p:sp>
      <p:sp>
        <p:nvSpPr>
          <p:cNvPr id="159" name="Text 156"/>
          <p:cNvSpPr/>
          <p:nvPr/>
        </p:nvSpPr>
        <p:spPr>
          <a:xfrm>
            <a:off x="4445896" y="3023006"/>
            <a:ext cx="189309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160" name="Shape 157"/>
          <p:cNvSpPr/>
          <p:nvPr/>
        </p:nvSpPr>
        <p:spPr>
          <a:xfrm>
            <a:off x="5681765" y="2999789"/>
            <a:ext cx="3158626" cy="182556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5681765" y="2999789"/>
            <a:ext cx="3158626" cy="182556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Object-store reference to an uploaded screenshot, invoice, ID document, or proof-of-payment file; synthetic data should not include real attachments.</a:t>
            </a:r>
            <a:endParaRPr lang="en-US" sz="400" dirty="0"/>
          </a:p>
        </p:txBody>
      </p:sp>
      <p:sp>
        <p:nvSpPr>
          <p:cNvPr id="162" name="Shape 159"/>
          <p:cNvSpPr/>
          <p:nvPr/>
        </p:nvSpPr>
        <p:spPr>
          <a:xfrm>
            <a:off x="303609" y="3182345"/>
            <a:ext cx="1280517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342900" y="3210920"/>
            <a:ext cx="30280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source_ip</a:t>
            </a:r>
            <a:endParaRPr lang="en-US" sz="400" dirty="0"/>
          </a:p>
        </p:txBody>
      </p:sp>
      <p:sp>
        <p:nvSpPr>
          <p:cNvPr id="164" name="Shape 161"/>
          <p:cNvSpPr/>
          <p:nvPr/>
        </p:nvSpPr>
        <p:spPr>
          <a:xfrm>
            <a:off x="1581085" y="3182345"/>
            <a:ext cx="1110239" cy="186128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1623947" y="3198419"/>
            <a:ext cx="15180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66" name="Text 163"/>
          <p:cNvSpPr/>
          <p:nvPr/>
        </p:nvSpPr>
        <p:spPr>
          <a:xfrm>
            <a:off x="1623947" y="3271838"/>
            <a:ext cx="370080" cy="62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VARCHAR(45)</a:t>
            </a:r>
            <a:endParaRPr lang="en-US" sz="400" dirty="0"/>
          </a:p>
        </p:txBody>
      </p:sp>
      <p:sp>
        <p:nvSpPr>
          <p:cNvPr id="167" name="Shape 164"/>
          <p:cNvSpPr/>
          <p:nvPr/>
        </p:nvSpPr>
        <p:spPr>
          <a:xfrm>
            <a:off x="2691324" y="3178773"/>
            <a:ext cx="427006" cy="17898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2691324" y="3178773"/>
            <a:ext cx="427006" cy="17898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69" name="Shape 166"/>
          <p:cNvSpPr/>
          <p:nvPr/>
        </p:nvSpPr>
        <p:spPr>
          <a:xfrm>
            <a:off x="3545337" y="3178773"/>
            <a:ext cx="2135088" cy="17898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3591771" y="3200205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1" name="Text 168"/>
          <p:cNvSpPr/>
          <p:nvPr/>
        </p:nvSpPr>
        <p:spPr>
          <a:xfrm>
            <a:off x="3591771" y="3200205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72" name="Text 169"/>
          <p:cNvSpPr/>
          <p:nvPr/>
        </p:nvSpPr>
        <p:spPr>
          <a:xfrm>
            <a:off x="3748934" y="3201991"/>
            <a:ext cx="350044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IP_ADDRESS</a:t>
            </a:r>
            <a:endParaRPr lang="en-US" sz="400" dirty="0"/>
          </a:p>
        </p:txBody>
      </p:sp>
      <p:sp>
        <p:nvSpPr>
          <p:cNvPr id="173" name="Text 170"/>
          <p:cNvSpPr/>
          <p:nvPr/>
        </p:nvSpPr>
        <p:spPr>
          <a:xfrm>
            <a:off x="4115051" y="3201991"/>
            <a:ext cx="123230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74" name="Shape 171"/>
          <p:cNvSpPr/>
          <p:nvPr/>
        </p:nvSpPr>
        <p:spPr>
          <a:xfrm>
            <a:off x="5680425" y="3178773"/>
            <a:ext cx="3159965" cy="178984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5680425" y="3178773"/>
            <a:ext cx="3159965" cy="17898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address observed for in-app, web, chat, or portal-originated support interactions.</a:t>
            </a:r>
            <a:endParaRPr lang="en-US" sz="400" dirty="0"/>
          </a:p>
        </p:txBody>
      </p:sp>
      <p:sp>
        <p:nvSpPr>
          <p:cNvPr id="176" name="Shape 173"/>
          <p:cNvSpPr/>
          <p:nvPr/>
        </p:nvSpPr>
        <p:spPr>
          <a:xfrm>
            <a:off x="300038" y="3432767"/>
            <a:ext cx="8543925" cy="257175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77" name="Shape 174"/>
          <p:cNvSpPr/>
          <p:nvPr/>
        </p:nvSpPr>
        <p:spPr>
          <a:xfrm>
            <a:off x="300038" y="3432767"/>
            <a:ext cx="85439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8" name="Text 175"/>
          <p:cNvSpPr/>
          <p:nvPr/>
        </p:nvSpPr>
        <p:spPr>
          <a:xfrm>
            <a:off x="300038" y="3432767"/>
            <a:ext cx="8543925" cy="257175"/>
          </a:xfrm>
          <a:prstGeom prst="rect">
            <a:avLst/>
          </a:prstGeom>
          <a:noFill/>
          <a:ln/>
        </p:spPr>
        <p:txBody>
          <a:bodyPr wrap="square" lIns="85090" tIns="59563" rIns="8509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Scanner validation focus:</a:t>
            </a:r>
            <a:r>
              <a:rPr lang="en-US" sz="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support data is a high-risk free-text test case because customers and agents may paste national IDs, wallet numbers, addresses, screenshots, card suffixes, or health and financial details into narrative fields.</a:t>
            </a:r>
            <a:endParaRPr lang="en-US" sz="500" dirty="0"/>
          </a:p>
        </p:txBody>
      </p:sp>
      <p:sp>
        <p:nvSpPr>
          <p:cNvPr id="179" name="Text 176"/>
          <p:cNvSpPr/>
          <p:nvPr/>
        </p:nvSpPr>
        <p:spPr>
          <a:xfrm>
            <a:off x="300038" y="3754236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80" name="Text 177"/>
          <p:cNvSpPr/>
          <p:nvPr/>
        </p:nvSpPr>
        <p:spPr>
          <a:xfrm>
            <a:off x="7688461" y="3754236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242888"/>
            <a:ext cx="8543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6B72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CROSS-DOMAIN SENSITIVE TABLE SPECIFICATION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00038" y="398264"/>
            <a:ext cx="85439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sensitive_customer_risk_profile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0038" y="680442"/>
            <a:ext cx="8343900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Sensitive customer risk and eligibility profile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Synthetic cross-domain table for evaluating detection of legally sensitive profiling, eligibility, vulnerability, fraud-risk, sanctions, and 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watchlist attributes. Granularity: one row per customer risk profile snapshot.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00038" y="1009724"/>
            <a:ext cx="710803" cy="164306"/>
          </a:xfrm>
          <a:prstGeom prst="rect">
            <a:avLst/>
          </a:prstGeom>
          <a:solidFill>
            <a:srgbClr val="F3F4F6"/>
          </a:solidFill>
          <a:ln w="9144">
            <a:solidFill>
              <a:srgbClr val="6B72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0038" y="1009724"/>
            <a:ext cx="710803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7415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Cross-domain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1067991" y="1009724"/>
            <a:ext cx="576858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7991" y="1009724"/>
            <a:ext cx="57685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11 columns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701998" y="1009724"/>
            <a:ext cx="325041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01998" y="1009724"/>
            <a:ext cx="325041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8 PII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2084189" y="1009724"/>
            <a:ext cx="510778" cy="164306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84189" y="1009724"/>
            <a:ext cx="510778" cy="16430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78350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 non-PII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03609" y="1270471"/>
            <a:ext cx="1280517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3609" y="1270471"/>
            <a:ext cx="1280517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</a:t>
            </a:r>
            <a:endParaRPr lang="en-US" sz="400" dirty="0"/>
          </a:p>
        </p:txBody>
      </p:sp>
      <p:sp>
        <p:nvSpPr>
          <p:cNvPr id="16" name="Shape 13"/>
          <p:cNvSpPr/>
          <p:nvPr/>
        </p:nvSpPr>
        <p:spPr>
          <a:xfrm>
            <a:off x="1584127" y="1270471"/>
            <a:ext cx="1109765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84127" y="1270471"/>
            <a:ext cx="1109765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2693891" y="1270471"/>
            <a:ext cx="426839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3891" y="1270471"/>
            <a:ext cx="426839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</a:t>
            </a:r>
            <a:endParaRPr lang="en-US" sz="400" dirty="0"/>
          </a:p>
        </p:txBody>
      </p:sp>
      <p:sp>
        <p:nvSpPr>
          <p:cNvPr id="20" name="Shape 17"/>
          <p:cNvSpPr/>
          <p:nvPr/>
        </p:nvSpPr>
        <p:spPr>
          <a:xfrm>
            <a:off x="3120730" y="1270471"/>
            <a:ext cx="426839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20730" y="1270471"/>
            <a:ext cx="426839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400" dirty="0"/>
          </a:p>
        </p:txBody>
      </p:sp>
      <p:sp>
        <p:nvSpPr>
          <p:cNvPr id="22" name="Shape 19"/>
          <p:cNvSpPr/>
          <p:nvPr/>
        </p:nvSpPr>
        <p:spPr>
          <a:xfrm>
            <a:off x="3547570" y="1270471"/>
            <a:ext cx="2134195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570" y="1270471"/>
            <a:ext cx="2134195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PII status / semantic type</a:t>
            </a:r>
            <a:endParaRPr lang="en-US" sz="400" dirty="0"/>
          </a:p>
        </p:txBody>
      </p:sp>
      <p:sp>
        <p:nvSpPr>
          <p:cNvPr id="24" name="Shape 21"/>
          <p:cNvSpPr/>
          <p:nvPr/>
        </p:nvSpPr>
        <p:spPr>
          <a:xfrm>
            <a:off x="5681765" y="1270471"/>
            <a:ext cx="3158626" cy="129174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1765" y="1270471"/>
            <a:ext cx="3158626" cy="12917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400" dirty="0"/>
          </a:p>
        </p:txBody>
      </p:sp>
      <p:sp>
        <p:nvSpPr>
          <p:cNvPr id="26" name="Shape 23"/>
          <p:cNvSpPr/>
          <p:nvPr/>
        </p:nvSpPr>
        <p:spPr>
          <a:xfrm>
            <a:off x="303609" y="1392501"/>
            <a:ext cx="1280517" cy="18763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472" y="1419290"/>
            <a:ext cx="51747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risk_profile_id</a:t>
            </a:r>
            <a:endParaRPr lang="en-US" sz="400" dirty="0"/>
          </a:p>
        </p:txBody>
      </p:sp>
      <p:sp>
        <p:nvSpPr>
          <p:cNvPr id="28" name="Shape 25"/>
          <p:cNvSpPr/>
          <p:nvPr/>
        </p:nvSpPr>
        <p:spPr>
          <a:xfrm>
            <a:off x="1584127" y="1392501"/>
            <a:ext cx="1109765" cy="18763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26989" y="1412146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30" name="Text 27"/>
          <p:cNvSpPr/>
          <p:nvPr/>
        </p:nvSpPr>
        <p:spPr>
          <a:xfrm>
            <a:off x="1626989" y="1485426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31" name="Shape 28"/>
          <p:cNvSpPr/>
          <p:nvPr/>
        </p:nvSpPr>
        <p:spPr>
          <a:xfrm>
            <a:off x="2693891" y="1392501"/>
            <a:ext cx="426839" cy="18406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3891" y="1392501"/>
            <a:ext cx="426839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33" name="Shape 30"/>
          <p:cNvSpPr/>
          <p:nvPr/>
        </p:nvSpPr>
        <p:spPr>
          <a:xfrm>
            <a:off x="3120730" y="1392501"/>
            <a:ext cx="426839" cy="18406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0730" y="1392501"/>
            <a:ext cx="426839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400" dirty="0"/>
          </a:p>
        </p:txBody>
      </p:sp>
      <p:sp>
        <p:nvSpPr>
          <p:cNvPr id="35" name="Shape 32"/>
          <p:cNvSpPr/>
          <p:nvPr/>
        </p:nvSpPr>
        <p:spPr>
          <a:xfrm>
            <a:off x="3547570" y="1392501"/>
            <a:ext cx="2134195" cy="18406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0432" y="1413932"/>
            <a:ext cx="262533" cy="73419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7" name="Text 34"/>
          <p:cNvSpPr/>
          <p:nvPr/>
        </p:nvSpPr>
        <p:spPr>
          <a:xfrm>
            <a:off x="3590432" y="1413932"/>
            <a:ext cx="262533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38" name="Shape 35"/>
          <p:cNvSpPr/>
          <p:nvPr/>
        </p:nvSpPr>
        <p:spPr>
          <a:xfrm>
            <a:off x="5681765" y="1392501"/>
            <a:ext cx="3158626" cy="18406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81765" y="1392501"/>
            <a:ext cx="3158626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risk profile snapshot identifier.</a:t>
            </a:r>
            <a:endParaRPr lang="en-US" sz="400" dirty="0"/>
          </a:p>
        </p:txBody>
      </p:sp>
      <p:sp>
        <p:nvSpPr>
          <p:cNvPr id="40" name="Shape 37"/>
          <p:cNvSpPr/>
          <p:nvPr/>
        </p:nvSpPr>
        <p:spPr>
          <a:xfrm>
            <a:off x="303609" y="1572992"/>
            <a:ext cx="1280517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46472" y="1599781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400" dirty="0"/>
          </a:p>
        </p:txBody>
      </p:sp>
      <p:sp>
        <p:nvSpPr>
          <p:cNvPr id="42" name="Shape 39"/>
          <p:cNvSpPr/>
          <p:nvPr/>
        </p:nvSpPr>
        <p:spPr>
          <a:xfrm>
            <a:off x="1584127" y="1572992"/>
            <a:ext cx="1109765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26989" y="1589066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44" name="Text 41"/>
          <p:cNvSpPr/>
          <p:nvPr/>
        </p:nvSpPr>
        <p:spPr>
          <a:xfrm>
            <a:off x="1626989" y="1662345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VARCHAR(36)</a:t>
            </a:r>
            <a:endParaRPr lang="en-US" sz="400" dirty="0"/>
          </a:p>
        </p:txBody>
      </p:sp>
      <p:sp>
        <p:nvSpPr>
          <p:cNvPr id="45" name="Shape 42"/>
          <p:cNvSpPr/>
          <p:nvPr/>
        </p:nvSpPr>
        <p:spPr>
          <a:xfrm>
            <a:off x="2693891" y="1569420"/>
            <a:ext cx="426839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693891" y="1569420"/>
            <a:ext cx="426839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47" name="Shape 44"/>
          <p:cNvSpPr/>
          <p:nvPr/>
        </p:nvSpPr>
        <p:spPr>
          <a:xfrm>
            <a:off x="3547570" y="1569420"/>
            <a:ext cx="2134195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594004" y="1590852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9" name="Text 46"/>
          <p:cNvSpPr/>
          <p:nvPr/>
        </p:nvSpPr>
        <p:spPr>
          <a:xfrm>
            <a:off x="3594004" y="1590852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50" name="Text 47"/>
          <p:cNvSpPr/>
          <p:nvPr/>
        </p:nvSpPr>
        <p:spPr>
          <a:xfrm>
            <a:off x="3751166" y="1590852"/>
            <a:ext cx="417909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CUSTOMER_ID</a:t>
            </a:r>
            <a:endParaRPr lang="en-US" sz="400" dirty="0"/>
          </a:p>
        </p:txBody>
      </p:sp>
      <p:sp>
        <p:nvSpPr>
          <p:cNvPr id="51" name="Text 48"/>
          <p:cNvSpPr/>
          <p:nvPr/>
        </p:nvSpPr>
        <p:spPr>
          <a:xfrm>
            <a:off x="4185149" y="1590852"/>
            <a:ext cx="2732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restricted</a:t>
            </a:r>
            <a:endParaRPr lang="en-US" sz="400" dirty="0"/>
          </a:p>
        </p:txBody>
      </p:sp>
      <p:sp>
        <p:nvSpPr>
          <p:cNvPr id="52" name="Shape 49"/>
          <p:cNvSpPr/>
          <p:nvPr/>
        </p:nvSpPr>
        <p:spPr>
          <a:xfrm>
            <a:off x="5681765" y="1569420"/>
            <a:ext cx="3158626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81765" y="1569420"/>
            <a:ext cx="3158626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identifier linking the risk profile to telecom, e-commerce, or fintech records.</a:t>
            </a:r>
            <a:endParaRPr lang="en-US" sz="400" dirty="0"/>
          </a:p>
        </p:txBody>
      </p:sp>
      <p:sp>
        <p:nvSpPr>
          <p:cNvPr id="54" name="Shape 51"/>
          <p:cNvSpPr/>
          <p:nvPr/>
        </p:nvSpPr>
        <p:spPr>
          <a:xfrm>
            <a:off x="303609" y="1753484"/>
            <a:ext cx="1280517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46472" y="1780273"/>
            <a:ext cx="827922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risk_subject_national_id</a:t>
            </a:r>
            <a:endParaRPr lang="en-US" sz="400" dirty="0"/>
          </a:p>
        </p:txBody>
      </p:sp>
      <p:sp>
        <p:nvSpPr>
          <p:cNvPr id="56" name="Shape 53"/>
          <p:cNvSpPr/>
          <p:nvPr/>
        </p:nvSpPr>
        <p:spPr>
          <a:xfrm>
            <a:off x="1584127" y="1753484"/>
            <a:ext cx="1109765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626989" y="1769557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58" name="Text 55"/>
          <p:cNvSpPr/>
          <p:nvPr/>
        </p:nvSpPr>
        <p:spPr>
          <a:xfrm>
            <a:off x="1626989" y="1842836"/>
            <a:ext cx="275983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CHAR(14)</a:t>
            </a:r>
            <a:endParaRPr lang="en-US" sz="400" dirty="0"/>
          </a:p>
        </p:txBody>
      </p:sp>
      <p:sp>
        <p:nvSpPr>
          <p:cNvPr id="59" name="Shape 56"/>
          <p:cNvSpPr/>
          <p:nvPr/>
        </p:nvSpPr>
        <p:spPr>
          <a:xfrm>
            <a:off x="2693891" y="1749912"/>
            <a:ext cx="426839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693891" y="1749912"/>
            <a:ext cx="426839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61" name="Shape 58"/>
          <p:cNvSpPr/>
          <p:nvPr/>
        </p:nvSpPr>
        <p:spPr>
          <a:xfrm>
            <a:off x="3547570" y="1749912"/>
            <a:ext cx="2134195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594004" y="1771343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3" name="Text 60"/>
          <p:cNvSpPr/>
          <p:nvPr/>
        </p:nvSpPr>
        <p:spPr>
          <a:xfrm>
            <a:off x="3594004" y="1771343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64" name="Text 61"/>
          <p:cNvSpPr/>
          <p:nvPr/>
        </p:nvSpPr>
        <p:spPr>
          <a:xfrm>
            <a:off x="3751166" y="1771343"/>
            <a:ext cx="501848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EG_NATIONAL_ID</a:t>
            </a:r>
            <a:endParaRPr lang="en-US" sz="400" dirty="0"/>
          </a:p>
        </p:txBody>
      </p:sp>
      <p:sp>
        <p:nvSpPr>
          <p:cNvPr id="65" name="Text 62"/>
          <p:cNvSpPr/>
          <p:nvPr/>
        </p:nvSpPr>
        <p:spPr>
          <a:xfrm>
            <a:off x="4269088" y="1771343"/>
            <a:ext cx="19466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66" name="Shape 63"/>
          <p:cNvSpPr/>
          <p:nvPr/>
        </p:nvSpPr>
        <p:spPr>
          <a:xfrm>
            <a:off x="5681765" y="1749912"/>
            <a:ext cx="3158626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681765" y="1749912"/>
            <a:ext cx="3158626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Egyptian National ID used where risk, eligibility, or KYC matching requires a strong identifier.</a:t>
            </a:r>
            <a:endParaRPr lang="en-US" sz="400" dirty="0"/>
          </a:p>
        </p:txBody>
      </p:sp>
      <p:sp>
        <p:nvSpPr>
          <p:cNvPr id="68" name="Shape 65"/>
          <p:cNvSpPr/>
          <p:nvPr/>
        </p:nvSpPr>
        <p:spPr>
          <a:xfrm>
            <a:off x="303609" y="1933975"/>
            <a:ext cx="1280517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46472" y="1960764"/>
            <a:ext cx="106941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politically_exposed_person_flag</a:t>
            </a:r>
            <a:endParaRPr lang="en-US" sz="400" dirty="0"/>
          </a:p>
        </p:txBody>
      </p:sp>
      <p:sp>
        <p:nvSpPr>
          <p:cNvPr id="70" name="Shape 67"/>
          <p:cNvSpPr/>
          <p:nvPr/>
        </p:nvSpPr>
        <p:spPr>
          <a:xfrm>
            <a:off x="1584127" y="1933975"/>
            <a:ext cx="1109765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626989" y="1950048"/>
            <a:ext cx="217884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</a:t>
            </a:r>
            <a:endParaRPr lang="en-US" sz="400" dirty="0"/>
          </a:p>
        </p:txBody>
      </p:sp>
      <p:sp>
        <p:nvSpPr>
          <p:cNvPr id="72" name="Text 69"/>
          <p:cNvSpPr/>
          <p:nvPr/>
        </p:nvSpPr>
        <p:spPr>
          <a:xfrm>
            <a:off x="1626989" y="2023328"/>
            <a:ext cx="241492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400" dirty="0"/>
          </a:p>
        </p:txBody>
      </p:sp>
      <p:sp>
        <p:nvSpPr>
          <p:cNvPr id="73" name="Shape 70"/>
          <p:cNvSpPr/>
          <p:nvPr/>
        </p:nvSpPr>
        <p:spPr>
          <a:xfrm>
            <a:off x="2693891" y="1930403"/>
            <a:ext cx="426839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693891" y="1930403"/>
            <a:ext cx="426839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75" name="Shape 72"/>
          <p:cNvSpPr/>
          <p:nvPr/>
        </p:nvSpPr>
        <p:spPr>
          <a:xfrm>
            <a:off x="3547570" y="1930403"/>
            <a:ext cx="2134195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594004" y="1951834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7" name="Text 74"/>
          <p:cNvSpPr/>
          <p:nvPr/>
        </p:nvSpPr>
        <p:spPr>
          <a:xfrm>
            <a:off x="3594004" y="1951834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78" name="Text 75"/>
          <p:cNvSpPr/>
          <p:nvPr/>
        </p:nvSpPr>
        <p:spPr>
          <a:xfrm>
            <a:off x="3751166" y="1951834"/>
            <a:ext cx="367903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PEP_STATUS</a:t>
            </a:r>
            <a:endParaRPr lang="en-US" sz="400" dirty="0"/>
          </a:p>
        </p:txBody>
      </p:sp>
      <p:sp>
        <p:nvSpPr>
          <p:cNvPr id="79" name="Text 76"/>
          <p:cNvSpPr/>
          <p:nvPr/>
        </p:nvSpPr>
        <p:spPr>
          <a:xfrm>
            <a:off x="4135143" y="1951834"/>
            <a:ext cx="19466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80" name="Shape 77"/>
          <p:cNvSpPr/>
          <p:nvPr/>
        </p:nvSpPr>
        <p:spPr>
          <a:xfrm>
            <a:off x="5681765" y="1930403"/>
            <a:ext cx="3158626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681765" y="1930403"/>
            <a:ext cx="3158626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Indicates whether the customer is treated as a politically exposed person in due-diligence screening.</a:t>
            </a:r>
            <a:endParaRPr lang="en-US" sz="400" dirty="0"/>
          </a:p>
        </p:txBody>
      </p:sp>
      <p:sp>
        <p:nvSpPr>
          <p:cNvPr id="82" name="Shape 79"/>
          <p:cNvSpPr/>
          <p:nvPr/>
        </p:nvSpPr>
        <p:spPr>
          <a:xfrm>
            <a:off x="303609" y="2114466"/>
            <a:ext cx="1280517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46472" y="2141255"/>
            <a:ext cx="827922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sanctions_watchlist_flag</a:t>
            </a:r>
            <a:endParaRPr lang="en-US" sz="400" dirty="0"/>
          </a:p>
        </p:txBody>
      </p:sp>
      <p:sp>
        <p:nvSpPr>
          <p:cNvPr id="84" name="Shape 81"/>
          <p:cNvSpPr/>
          <p:nvPr/>
        </p:nvSpPr>
        <p:spPr>
          <a:xfrm>
            <a:off x="1584127" y="2114466"/>
            <a:ext cx="1109765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626989" y="2130540"/>
            <a:ext cx="217884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</a:t>
            </a:r>
            <a:endParaRPr lang="en-US" sz="400" dirty="0"/>
          </a:p>
        </p:txBody>
      </p:sp>
      <p:sp>
        <p:nvSpPr>
          <p:cNvPr id="86" name="Text 83"/>
          <p:cNvSpPr/>
          <p:nvPr/>
        </p:nvSpPr>
        <p:spPr>
          <a:xfrm>
            <a:off x="1626989" y="2203819"/>
            <a:ext cx="241492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400" dirty="0"/>
          </a:p>
        </p:txBody>
      </p:sp>
      <p:sp>
        <p:nvSpPr>
          <p:cNvPr id="87" name="Shape 84"/>
          <p:cNvSpPr/>
          <p:nvPr/>
        </p:nvSpPr>
        <p:spPr>
          <a:xfrm>
            <a:off x="2693891" y="2110894"/>
            <a:ext cx="426839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693891" y="2110894"/>
            <a:ext cx="426839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89" name="Shape 86"/>
          <p:cNvSpPr/>
          <p:nvPr/>
        </p:nvSpPr>
        <p:spPr>
          <a:xfrm>
            <a:off x="3547570" y="2110894"/>
            <a:ext cx="2134195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594004" y="2132326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1" name="Text 88"/>
          <p:cNvSpPr/>
          <p:nvPr/>
        </p:nvSpPr>
        <p:spPr>
          <a:xfrm>
            <a:off x="3594004" y="2132326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92" name="Text 89"/>
          <p:cNvSpPr/>
          <p:nvPr/>
        </p:nvSpPr>
        <p:spPr>
          <a:xfrm>
            <a:off x="3751166" y="2132326"/>
            <a:ext cx="975122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SANCTIONS_WATCHLIST_STATUS</a:t>
            </a:r>
            <a:endParaRPr lang="en-US" sz="400" dirty="0"/>
          </a:p>
        </p:txBody>
      </p:sp>
      <p:sp>
        <p:nvSpPr>
          <p:cNvPr id="93" name="Text 90"/>
          <p:cNvSpPr/>
          <p:nvPr/>
        </p:nvSpPr>
        <p:spPr>
          <a:xfrm>
            <a:off x="4742362" y="2132326"/>
            <a:ext cx="19466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94" name="Shape 91"/>
          <p:cNvSpPr/>
          <p:nvPr/>
        </p:nvSpPr>
        <p:spPr>
          <a:xfrm>
            <a:off x="5681765" y="2110894"/>
            <a:ext cx="3158626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681765" y="2110894"/>
            <a:ext cx="3158626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Indicates potential match or screening status against sanctions, adverse media, or watchlist sources.</a:t>
            </a:r>
            <a:endParaRPr lang="en-US" sz="400" dirty="0"/>
          </a:p>
        </p:txBody>
      </p:sp>
      <p:sp>
        <p:nvSpPr>
          <p:cNvPr id="96" name="Shape 93"/>
          <p:cNvSpPr/>
          <p:nvPr/>
        </p:nvSpPr>
        <p:spPr>
          <a:xfrm>
            <a:off x="303609" y="2294958"/>
            <a:ext cx="1280517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46472" y="2321747"/>
            <a:ext cx="551966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fraud_risk_score</a:t>
            </a:r>
            <a:endParaRPr lang="en-US" sz="400" dirty="0"/>
          </a:p>
        </p:txBody>
      </p:sp>
      <p:sp>
        <p:nvSpPr>
          <p:cNvPr id="98" name="Shape 95"/>
          <p:cNvSpPr/>
          <p:nvPr/>
        </p:nvSpPr>
        <p:spPr>
          <a:xfrm>
            <a:off x="1584127" y="2294958"/>
            <a:ext cx="1109765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626989" y="2311031"/>
            <a:ext cx="208955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</a:t>
            </a:r>
            <a:endParaRPr lang="en-US" sz="400" dirty="0"/>
          </a:p>
        </p:txBody>
      </p:sp>
      <p:sp>
        <p:nvSpPr>
          <p:cNvPr id="100" name="Text 97"/>
          <p:cNvSpPr/>
          <p:nvPr/>
        </p:nvSpPr>
        <p:spPr>
          <a:xfrm>
            <a:off x="1626989" y="2384310"/>
            <a:ext cx="413975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DECIMAL(5,2)</a:t>
            </a:r>
            <a:endParaRPr lang="en-US" sz="400" dirty="0"/>
          </a:p>
        </p:txBody>
      </p:sp>
      <p:sp>
        <p:nvSpPr>
          <p:cNvPr id="101" name="Shape 98"/>
          <p:cNvSpPr/>
          <p:nvPr/>
        </p:nvSpPr>
        <p:spPr>
          <a:xfrm>
            <a:off x="2693891" y="2291386"/>
            <a:ext cx="426839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693891" y="2291386"/>
            <a:ext cx="426839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03" name="Shape 100"/>
          <p:cNvSpPr/>
          <p:nvPr/>
        </p:nvSpPr>
        <p:spPr>
          <a:xfrm>
            <a:off x="3547570" y="2291386"/>
            <a:ext cx="2134195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594004" y="2312817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5" name="Text 102"/>
          <p:cNvSpPr/>
          <p:nvPr/>
        </p:nvSpPr>
        <p:spPr>
          <a:xfrm>
            <a:off x="3594004" y="2312817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06" name="Text 103"/>
          <p:cNvSpPr/>
          <p:nvPr/>
        </p:nvSpPr>
        <p:spPr>
          <a:xfrm>
            <a:off x="3751166" y="2312817"/>
            <a:ext cx="360759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RISK_SCORE</a:t>
            </a:r>
            <a:endParaRPr lang="en-US" sz="400" dirty="0"/>
          </a:p>
        </p:txBody>
      </p:sp>
      <p:sp>
        <p:nvSpPr>
          <p:cNvPr id="107" name="Text 104"/>
          <p:cNvSpPr/>
          <p:nvPr/>
        </p:nvSpPr>
        <p:spPr>
          <a:xfrm>
            <a:off x="4127999" y="2312817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08" name="Shape 105"/>
          <p:cNvSpPr/>
          <p:nvPr/>
        </p:nvSpPr>
        <p:spPr>
          <a:xfrm>
            <a:off x="5681765" y="2291386"/>
            <a:ext cx="3158626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681765" y="2291386"/>
            <a:ext cx="3158626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Customer-level fraud or abuse risk score used for monitoring, eligibility, or enhanced review.</a:t>
            </a:r>
            <a:endParaRPr lang="en-US" sz="400" dirty="0"/>
          </a:p>
        </p:txBody>
      </p:sp>
      <p:sp>
        <p:nvSpPr>
          <p:cNvPr id="110" name="Shape 107"/>
          <p:cNvSpPr/>
          <p:nvPr/>
        </p:nvSpPr>
        <p:spPr>
          <a:xfrm>
            <a:off x="303609" y="2475449"/>
            <a:ext cx="1280517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346472" y="2502238"/>
            <a:ext cx="793431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credit_eligibility_band</a:t>
            </a:r>
            <a:endParaRPr lang="en-US" sz="400" dirty="0"/>
          </a:p>
        </p:txBody>
      </p:sp>
      <p:sp>
        <p:nvSpPr>
          <p:cNvPr id="112" name="Shape 109"/>
          <p:cNvSpPr/>
          <p:nvPr/>
        </p:nvSpPr>
        <p:spPr>
          <a:xfrm>
            <a:off x="1584127" y="2475449"/>
            <a:ext cx="1109765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626989" y="2491522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14" name="Text 111"/>
          <p:cNvSpPr/>
          <p:nvPr/>
        </p:nvSpPr>
        <p:spPr>
          <a:xfrm>
            <a:off x="1626989" y="2564802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VARCHAR(30)</a:t>
            </a:r>
            <a:endParaRPr lang="en-US" sz="400" dirty="0"/>
          </a:p>
        </p:txBody>
      </p:sp>
      <p:sp>
        <p:nvSpPr>
          <p:cNvPr id="115" name="Shape 112"/>
          <p:cNvSpPr/>
          <p:nvPr/>
        </p:nvSpPr>
        <p:spPr>
          <a:xfrm>
            <a:off x="2693891" y="2471877"/>
            <a:ext cx="426839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2693891" y="2471877"/>
            <a:ext cx="426839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17" name="Shape 114"/>
          <p:cNvSpPr/>
          <p:nvPr/>
        </p:nvSpPr>
        <p:spPr>
          <a:xfrm>
            <a:off x="3547570" y="2471877"/>
            <a:ext cx="2134195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594004" y="2493308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9" name="Text 116"/>
          <p:cNvSpPr/>
          <p:nvPr/>
        </p:nvSpPr>
        <p:spPr>
          <a:xfrm>
            <a:off x="3594004" y="2493308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20" name="Text 117"/>
          <p:cNvSpPr/>
          <p:nvPr/>
        </p:nvSpPr>
        <p:spPr>
          <a:xfrm>
            <a:off x="3751166" y="2493308"/>
            <a:ext cx="566142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CREDIT_ELIGIBILITY</a:t>
            </a:r>
            <a:endParaRPr lang="en-US" sz="400" dirty="0"/>
          </a:p>
        </p:txBody>
      </p:sp>
      <p:sp>
        <p:nvSpPr>
          <p:cNvPr id="121" name="Text 118"/>
          <p:cNvSpPr/>
          <p:nvPr/>
        </p:nvSpPr>
        <p:spPr>
          <a:xfrm>
            <a:off x="4333382" y="2493308"/>
            <a:ext cx="12323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400" dirty="0"/>
          </a:p>
        </p:txBody>
      </p:sp>
      <p:sp>
        <p:nvSpPr>
          <p:cNvPr id="122" name="Shape 119"/>
          <p:cNvSpPr/>
          <p:nvPr/>
        </p:nvSpPr>
        <p:spPr>
          <a:xfrm>
            <a:off x="5681765" y="2471877"/>
            <a:ext cx="3158626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5681765" y="2471877"/>
            <a:ext cx="3158626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Eligibility band used for wallet limits, postpaid approval, deferred payment, or merchant risk decisions.</a:t>
            </a:r>
            <a:endParaRPr lang="en-US" sz="400" dirty="0"/>
          </a:p>
        </p:txBody>
      </p:sp>
      <p:sp>
        <p:nvSpPr>
          <p:cNvPr id="124" name="Shape 121"/>
          <p:cNvSpPr/>
          <p:nvPr/>
        </p:nvSpPr>
        <p:spPr>
          <a:xfrm>
            <a:off x="303609" y="2655940"/>
            <a:ext cx="1280517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46472" y="2682729"/>
            <a:ext cx="793431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vulnerability_indicator</a:t>
            </a:r>
            <a:endParaRPr lang="en-US" sz="400" dirty="0"/>
          </a:p>
        </p:txBody>
      </p:sp>
      <p:sp>
        <p:nvSpPr>
          <p:cNvPr id="126" name="Shape 123"/>
          <p:cNvSpPr/>
          <p:nvPr/>
        </p:nvSpPr>
        <p:spPr>
          <a:xfrm>
            <a:off x="1584127" y="2655940"/>
            <a:ext cx="1109765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1626989" y="2672014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28" name="Text 125"/>
          <p:cNvSpPr/>
          <p:nvPr/>
        </p:nvSpPr>
        <p:spPr>
          <a:xfrm>
            <a:off x="1626989" y="2745293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VARCHAR(40)</a:t>
            </a:r>
            <a:endParaRPr lang="en-US" sz="400" dirty="0"/>
          </a:p>
        </p:txBody>
      </p:sp>
      <p:sp>
        <p:nvSpPr>
          <p:cNvPr id="129" name="Shape 126"/>
          <p:cNvSpPr/>
          <p:nvPr/>
        </p:nvSpPr>
        <p:spPr>
          <a:xfrm>
            <a:off x="2693891" y="2652368"/>
            <a:ext cx="426839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2693891" y="2652368"/>
            <a:ext cx="426839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31" name="Shape 128"/>
          <p:cNvSpPr/>
          <p:nvPr/>
        </p:nvSpPr>
        <p:spPr>
          <a:xfrm>
            <a:off x="3547570" y="2652368"/>
            <a:ext cx="2134195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3594004" y="2673800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3" name="Text 130"/>
          <p:cNvSpPr/>
          <p:nvPr/>
        </p:nvSpPr>
        <p:spPr>
          <a:xfrm>
            <a:off x="3594004" y="2673800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34" name="Text 131"/>
          <p:cNvSpPr/>
          <p:nvPr/>
        </p:nvSpPr>
        <p:spPr>
          <a:xfrm>
            <a:off x="3751166" y="2673800"/>
            <a:ext cx="721519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VULNERABILITY_STATUS</a:t>
            </a:r>
            <a:endParaRPr lang="en-US" sz="400" dirty="0"/>
          </a:p>
        </p:txBody>
      </p:sp>
      <p:sp>
        <p:nvSpPr>
          <p:cNvPr id="135" name="Text 132"/>
          <p:cNvSpPr/>
          <p:nvPr/>
        </p:nvSpPr>
        <p:spPr>
          <a:xfrm>
            <a:off x="4488759" y="2673800"/>
            <a:ext cx="19466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136" name="Shape 133"/>
          <p:cNvSpPr/>
          <p:nvPr/>
        </p:nvSpPr>
        <p:spPr>
          <a:xfrm>
            <a:off x="5681765" y="2652368"/>
            <a:ext cx="3158626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5681765" y="2652368"/>
            <a:ext cx="3158626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Indicator of customer vulnerability, hardship, disability support, or similar sensitive service-treatment category.</a:t>
            </a:r>
            <a:endParaRPr lang="en-US" sz="400" dirty="0"/>
          </a:p>
        </p:txBody>
      </p:sp>
      <p:sp>
        <p:nvSpPr>
          <p:cNvPr id="138" name="Shape 135"/>
          <p:cNvSpPr/>
          <p:nvPr/>
        </p:nvSpPr>
        <p:spPr>
          <a:xfrm>
            <a:off x="303609" y="2836432"/>
            <a:ext cx="1280517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46472" y="2863221"/>
            <a:ext cx="758940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sensitive_review_notes</a:t>
            </a:r>
            <a:endParaRPr lang="en-US" sz="400" dirty="0"/>
          </a:p>
        </p:txBody>
      </p:sp>
      <p:sp>
        <p:nvSpPr>
          <p:cNvPr id="140" name="Shape 137"/>
          <p:cNvSpPr/>
          <p:nvPr/>
        </p:nvSpPr>
        <p:spPr>
          <a:xfrm>
            <a:off x="1584127" y="2836432"/>
            <a:ext cx="1109765" cy="187635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626989" y="2852505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42" name="Text 139"/>
          <p:cNvSpPr/>
          <p:nvPr/>
        </p:nvSpPr>
        <p:spPr>
          <a:xfrm>
            <a:off x="1626989" y="2925784"/>
            <a:ext cx="482957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NVARCHAR(1000)</a:t>
            </a:r>
            <a:endParaRPr lang="en-US" sz="400" dirty="0"/>
          </a:p>
        </p:txBody>
      </p:sp>
      <p:sp>
        <p:nvSpPr>
          <p:cNvPr id="143" name="Shape 140"/>
          <p:cNvSpPr/>
          <p:nvPr/>
        </p:nvSpPr>
        <p:spPr>
          <a:xfrm>
            <a:off x="2693891" y="2832860"/>
            <a:ext cx="426839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2693891" y="2832860"/>
            <a:ext cx="426839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45" name="Shape 142"/>
          <p:cNvSpPr/>
          <p:nvPr/>
        </p:nvSpPr>
        <p:spPr>
          <a:xfrm>
            <a:off x="3547570" y="2832860"/>
            <a:ext cx="2134195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3594004" y="2854291"/>
            <a:ext cx="119658" cy="7341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7" name="Text 144"/>
          <p:cNvSpPr/>
          <p:nvPr/>
        </p:nvSpPr>
        <p:spPr>
          <a:xfrm>
            <a:off x="3594004" y="2854291"/>
            <a:ext cx="119658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PII</a:t>
            </a:r>
            <a:endParaRPr lang="en-US" sz="350" dirty="0"/>
          </a:p>
        </p:txBody>
      </p:sp>
      <p:sp>
        <p:nvSpPr>
          <p:cNvPr id="148" name="Text 145"/>
          <p:cNvSpPr/>
          <p:nvPr/>
        </p:nvSpPr>
        <p:spPr>
          <a:xfrm>
            <a:off x="3751166" y="2854291"/>
            <a:ext cx="421481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7C2D1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FREE_TEXT_PII</a:t>
            </a:r>
            <a:endParaRPr lang="en-US" sz="400" dirty="0"/>
          </a:p>
        </p:txBody>
      </p:sp>
      <p:sp>
        <p:nvSpPr>
          <p:cNvPr id="149" name="Text 146"/>
          <p:cNvSpPr/>
          <p:nvPr/>
        </p:nvSpPr>
        <p:spPr>
          <a:xfrm>
            <a:off x="4188721" y="2854291"/>
            <a:ext cx="19466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D4ED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</a:t>
            </a:r>
            <a:endParaRPr lang="en-US" sz="400" dirty="0"/>
          </a:p>
        </p:txBody>
      </p:sp>
      <p:sp>
        <p:nvSpPr>
          <p:cNvPr id="150" name="Shape 147"/>
          <p:cNvSpPr/>
          <p:nvPr/>
        </p:nvSpPr>
        <p:spPr>
          <a:xfrm>
            <a:off x="5681765" y="2832860"/>
            <a:ext cx="3158626" cy="184063"/>
          </a:xfrm>
          <a:prstGeom prst="rect">
            <a:avLst/>
          </a:prstGeom>
          <a:solidFill>
            <a:srgbClr val="FFF1D6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5681765" y="2832860"/>
            <a:ext cx="3158626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Free-text review notes that may contain identity, health, financial hardship, family, complaint, or adverse-action details.</a:t>
            </a:r>
            <a:endParaRPr lang="en-US" sz="400" dirty="0"/>
          </a:p>
        </p:txBody>
      </p:sp>
      <p:sp>
        <p:nvSpPr>
          <p:cNvPr id="152" name="Shape 149"/>
          <p:cNvSpPr/>
          <p:nvPr/>
        </p:nvSpPr>
        <p:spPr>
          <a:xfrm>
            <a:off x="303609" y="3016923"/>
            <a:ext cx="1280517" cy="18763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46472" y="3043712"/>
            <a:ext cx="620948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risk_model_version</a:t>
            </a:r>
            <a:endParaRPr lang="en-US" sz="400" dirty="0"/>
          </a:p>
        </p:txBody>
      </p:sp>
      <p:sp>
        <p:nvSpPr>
          <p:cNvPr id="154" name="Shape 151"/>
          <p:cNvSpPr/>
          <p:nvPr/>
        </p:nvSpPr>
        <p:spPr>
          <a:xfrm>
            <a:off x="1584127" y="3016923"/>
            <a:ext cx="1109765" cy="18763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626989" y="3032996"/>
            <a:ext cx="155377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400" dirty="0"/>
          </a:p>
        </p:txBody>
      </p:sp>
      <p:sp>
        <p:nvSpPr>
          <p:cNvPr id="156" name="Text 153"/>
          <p:cNvSpPr/>
          <p:nvPr/>
        </p:nvSpPr>
        <p:spPr>
          <a:xfrm>
            <a:off x="1626989" y="3106276"/>
            <a:ext cx="37948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VARCHAR(40)</a:t>
            </a:r>
            <a:endParaRPr lang="en-US" sz="400" dirty="0"/>
          </a:p>
        </p:txBody>
      </p:sp>
      <p:sp>
        <p:nvSpPr>
          <p:cNvPr id="157" name="Shape 154"/>
          <p:cNvSpPr/>
          <p:nvPr/>
        </p:nvSpPr>
        <p:spPr>
          <a:xfrm>
            <a:off x="2693891" y="3013351"/>
            <a:ext cx="426839" cy="18406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2693891" y="3013351"/>
            <a:ext cx="426839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400" dirty="0"/>
          </a:p>
        </p:txBody>
      </p:sp>
      <p:sp>
        <p:nvSpPr>
          <p:cNvPr id="159" name="Shape 156"/>
          <p:cNvSpPr/>
          <p:nvPr/>
        </p:nvSpPr>
        <p:spPr>
          <a:xfrm>
            <a:off x="3547570" y="3013351"/>
            <a:ext cx="2134195" cy="18406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3594004" y="3034782"/>
            <a:ext cx="262533" cy="73419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1" name="Text 158"/>
          <p:cNvSpPr/>
          <p:nvPr/>
        </p:nvSpPr>
        <p:spPr>
          <a:xfrm>
            <a:off x="3594004" y="3034782"/>
            <a:ext cx="262533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62" name="Shape 159"/>
          <p:cNvSpPr/>
          <p:nvPr/>
        </p:nvSpPr>
        <p:spPr>
          <a:xfrm>
            <a:off x="5681765" y="3013351"/>
            <a:ext cx="3158626" cy="184063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5681765" y="3013351"/>
            <a:ext cx="3158626" cy="184063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of the model, rule set, or policy engine that produced the risk profile.</a:t>
            </a:r>
            <a:endParaRPr lang="en-US" sz="400" dirty="0"/>
          </a:p>
        </p:txBody>
      </p:sp>
      <p:sp>
        <p:nvSpPr>
          <p:cNvPr id="164" name="Shape 161"/>
          <p:cNvSpPr/>
          <p:nvPr/>
        </p:nvSpPr>
        <p:spPr>
          <a:xfrm>
            <a:off x="303609" y="3197414"/>
            <a:ext cx="1280517" cy="18763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342900" y="3224203"/>
            <a:ext cx="689958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profile_generated_at</a:t>
            </a:r>
            <a:endParaRPr lang="en-US" sz="400" dirty="0"/>
          </a:p>
        </p:txBody>
      </p:sp>
      <p:sp>
        <p:nvSpPr>
          <p:cNvPr id="166" name="Shape 163"/>
          <p:cNvSpPr/>
          <p:nvPr/>
        </p:nvSpPr>
        <p:spPr>
          <a:xfrm>
            <a:off x="1581085" y="3197414"/>
            <a:ext cx="1110239" cy="187635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1623947" y="3213488"/>
            <a:ext cx="285750" cy="696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</a:t>
            </a:r>
            <a:endParaRPr lang="en-US" sz="400" dirty="0"/>
          </a:p>
        </p:txBody>
      </p:sp>
      <p:sp>
        <p:nvSpPr>
          <p:cNvPr id="168" name="Text 165"/>
          <p:cNvSpPr/>
          <p:nvPr/>
        </p:nvSpPr>
        <p:spPr>
          <a:xfrm>
            <a:off x="1623947" y="3286767"/>
            <a:ext cx="310474" cy="66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400" dirty="0"/>
          </a:p>
        </p:txBody>
      </p:sp>
      <p:sp>
        <p:nvSpPr>
          <p:cNvPr id="169" name="Shape 166"/>
          <p:cNvSpPr/>
          <p:nvPr/>
        </p:nvSpPr>
        <p:spPr>
          <a:xfrm>
            <a:off x="2691324" y="3193842"/>
            <a:ext cx="427006" cy="18049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0" name="Text 167"/>
          <p:cNvSpPr/>
          <p:nvPr/>
        </p:nvSpPr>
        <p:spPr>
          <a:xfrm>
            <a:off x="2691324" y="3193842"/>
            <a:ext cx="427006" cy="18049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400" dirty="0"/>
          </a:p>
        </p:txBody>
      </p:sp>
      <p:sp>
        <p:nvSpPr>
          <p:cNvPr id="171" name="Shape 168"/>
          <p:cNvSpPr/>
          <p:nvPr/>
        </p:nvSpPr>
        <p:spPr>
          <a:xfrm>
            <a:off x="3545337" y="3193842"/>
            <a:ext cx="2135088" cy="18049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3591771" y="3215274"/>
            <a:ext cx="262533" cy="73419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3" name="Text 170"/>
          <p:cNvSpPr/>
          <p:nvPr/>
        </p:nvSpPr>
        <p:spPr>
          <a:xfrm>
            <a:off x="3591771" y="3215274"/>
            <a:ext cx="262533" cy="73419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NON-PII</a:t>
            </a:r>
            <a:endParaRPr lang="en-US" sz="350" dirty="0"/>
          </a:p>
        </p:txBody>
      </p:sp>
      <p:sp>
        <p:nvSpPr>
          <p:cNvPr id="174" name="Shape 171"/>
          <p:cNvSpPr/>
          <p:nvPr/>
        </p:nvSpPr>
        <p:spPr>
          <a:xfrm>
            <a:off x="5680425" y="3193842"/>
            <a:ext cx="3159965" cy="180491"/>
          </a:xfrm>
          <a:prstGeom prst="rect">
            <a:avLst/>
          </a:prstGeom>
          <a:solidFill>
            <a:srgbClr val="F9FAFB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5680425" y="3193842"/>
            <a:ext cx="3159965" cy="180491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when the synthetic risk profile snapshot was generated.</a:t>
            </a:r>
            <a:endParaRPr lang="en-US" sz="400" dirty="0"/>
          </a:p>
        </p:txBody>
      </p:sp>
      <p:sp>
        <p:nvSpPr>
          <p:cNvPr id="176" name="Shape 173"/>
          <p:cNvSpPr/>
          <p:nvPr/>
        </p:nvSpPr>
        <p:spPr>
          <a:xfrm>
            <a:off x="300038" y="3449343"/>
            <a:ext cx="8543925" cy="257175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77" name="Shape 174"/>
          <p:cNvSpPr/>
          <p:nvPr/>
        </p:nvSpPr>
        <p:spPr>
          <a:xfrm>
            <a:off x="300038" y="3449343"/>
            <a:ext cx="85439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8" name="Text 175"/>
          <p:cNvSpPr/>
          <p:nvPr/>
        </p:nvSpPr>
        <p:spPr>
          <a:xfrm>
            <a:off x="300038" y="3449343"/>
            <a:ext cx="8543925" cy="257175"/>
          </a:xfrm>
          <a:prstGeom prst="rect">
            <a:avLst/>
          </a:prstGeom>
          <a:noFill/>
          <a:ln/>
        </p:spPr>
        <p:txBody>
          <a:bodyPr wrap="square" lIns="85090" tIns="59563" rIns="8509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Scanner validation focus:</a:t>
            </a:r>
            <a:r>
              <a:rPr lang="en-US" sz="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table tests whether PII tools recognize sensitive profiling attributes, not only direct identifiers. PEP, sanctions, risk, credit eligibility, vulnerability, and free-text review notes should be treated as high-risk personal-data </a:t>
            </a:r>
            <a:r>
              <a:rPr lang="en-US" sz="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 when linked to a customer.</a:t>
            </a:r>
            <a:endParaRPr lang="en-US" sz="500" dirty="0"/>
          </a:p>
        </p:txBody>
      </p:sp>
      <p:sp>
        <p:nvSpPr>
          <p:cNvPr id="179" name="Text 176"/>
          <p:cNvSpPr/>
          <p:nvPr/>
        </p:nvSpPr>
        <p:spPr>
          <a:xfrm>
            <a:off x="300038" y="3770812"/>
            <a:ext cx="1878806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rows are highlighted in amber for scanner validation.</a:t>
            </a:r>
            <a:endParaRPr lang="en-US" sz="500" dirty="0"/>
          </a:p>
        </p:txBody>
      </p:sp>
      <p:sp>
        <p:nvSpPr>
          <p:cNvPr id="180" name="Text 177"/>
          <p:cNvSpPr/>
          <p:nvPr/>
        </p:nvSpPr>
        <p:spPr>
          <a:xfrm>
            <a:off x="7688461" y="3770812"/>
            <a:ext cx="11555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ODCS 3.x-style schema catalogue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2026-05-09T05:23:37Z</dcterms:created>
  <dcterms:modified xsi:type="dcterms:W3CDTF">2026-05-09T05:23:37Z</dcterms:modified>
</cp:coreProperties>
</file>